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70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022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nibingi/week6_Pre-capston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108960" cy="457200"/>
          </a:xfrm>
          <a:prstGeom prst="rect">
            <a:avLst/>
          </a:prstGeom>
          <a:solidFill>
            <a:srgbClr val="CADCFC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2788920" cy="457200"/>
          </a:xfrm>
          <a:prstGeom prst="rect">
            <a:avLst/>
          </a:prstGeom>
          <a:solidFill>
            <a:srgbClr val="CADCFC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2743200"/>
            <a:ext cx="2468880" cy="457200"/>
          </a:xfrm>
          <a:prstGeom prst="rect">
            <a:avLst/>
          </a:prstGeom>
          <a:solidFill>
            <a:srgbClr val="CADCFC">
              <a:alpha val="3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3611880"/>
            <a:ext cx="2148840" cy="457200"/>
          </a:xfrm>
          <a:prstGeom prst="rect">
            <a:avLst/>
          </a:prstGeom>
          <a:solidFill>
            <a:srgbClr val="CADCFC">
              <a:alpha val="4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4480560"/>
            <a:ext cx="1828800" cy="457200"/>
          </a:xfrm>
          <a:prstGeom prst="rect">
            <a:avLst/>
          </a:prstGeom>
          <a:solidFill>
            <a:srgbClr val="CADCFC">
              <a:alpha val="5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5394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574243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automation reference system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PRE-CAPSTONE BUILD BRIEF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783080"/>
            <a:ext cx="7040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Automation</a:t>
            </a:r>
            <a:endParaRPr lang="en-US" sz="42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63440" y="3429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· Day 6 — Gate 6 / Benchmark 4 (Pre-Capstone Review)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Project-Team Reference · Framework structure, dynamic-XPath locators, disciplined secret-data handling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4526280"/>
            <a:ext cx="6903720" cy="1600200"/>
          </a:xfrm>
          <a:prstGeom prst="rect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4681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4956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 Prasad Bingi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046720" y="46817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9560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dirty="0" err="1">
                <a:hlinkClick r:id="rId3"/>
              </a:rPr>
              <a:t>Manibingi</a:t>
            </a:r>
            <a:r>
              <a:rPr lang="en-IN" sz="1400" dirty="0">
                <a:hlinkClick r:id="rId3"/>
              </a:rPr>
              <a:t>/week6_Pre-capstone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 · WHY THIS BRIEF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gate scores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01568" cy="21488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49808" y="1901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450592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structure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999232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first — layering must be visible and clean before anything else is judged.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78808" y="1737360"/>
            <a:ext cx="3401568" cy="21488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79976" y="1901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79976" y="2450592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scenarios, correct layers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379976" y="2999232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with dynamic XPath across UI, API, DB and a security negative.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08976" y="1737360"/>
            <a:ext cx="3401568" cy="21488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10144" y="190195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10144" y="2450592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test data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10144" y="2999232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per-test with builders; never shared fixtures.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3401568" cy="21488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9808" y="42793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9808" y="4828032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data sourced safely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" y="5376672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exposed in repo, features, logs, reports or the demo.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78808" y="4114800"/>
            <a:ext cx="3401568" cy="21488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79976" y="42793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379976" y="4828032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79976" y="5376672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history and categories — an executive-readable trend view.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08976" y="4114800"/>
            <a:ext cx="3401568" cy="21488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10144" y="427939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010144" y="4828032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Rehearsed 10-minute demo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010144" y="5376672"/>
            <a:ext cx="29992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never shows a secret, start to finish.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Under Test (ShopKart) is provided and running — the team builds the automation, not the app.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 · THE SYSTEM UNDER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 — checkout reference service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 e-commerce checkout service: a REST API plus a small web UI, backed by PostgreSQL / MySQL. The same orders/checkout domain used across the programme, so Week-6 hardening carries into the Week-7 capstone.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6492240" cy="7772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2880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51760" y="28803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pages · dynamic XPath ($x())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6492240" cy="7772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37947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Bearer-token auth on cart/order routes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6492240" cy="77724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4709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47091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Testcontainers per test class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60920" y="1508760"/>
            <a:ext cx="4251960" cy="1965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8952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589520" y="196596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8080:8080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ghcr.io/ust-sdet/shopkart:stable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89520" y="27889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schema included on container start.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60920" y="3657600"/>
            <a:ext cx="4251960" cy="14173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589520" y="3822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RULE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41148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paise (integer)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0" y="44348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₹499.00  =  49900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Dynamic-XPath standard (§2.3): relative, anchored on stable attributes or visible text, and templated so one expression serves many rows. Avoid absolute or index-based paths.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§2.1 – 2.2 · DOMAIN &amp; API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 and REST surface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5394960" cy="3621024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· email (unique) · password_hash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 (PK) · name · price_paise ·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· customer_id · status (OPEN → ORDERED)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cart_items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cart_id · sku · 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· customer_id · cart_id · status · total_paise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 (SELECTED)</a:t>
            </a:r>
            <a:endParaRPr lang="en-US" sz="11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394960" cy="364845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&amp;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/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/api/auth/login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token  ·  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/api/carts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OPEN  ·  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/api/carts/{id}/items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 ·  404 / 409 out-of-stock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PLACED  ·  409 empty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/api/orders/{id}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 ·  403 not owner  ·  404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/api/orders/{id}/cancel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CANCELLED  ·  403 / 409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missing/invalid token → 401. A valid token used on another customer's object → 403 — the object-level authorization case that must be tested (never hardcode the password; see §6).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§3 · FRAMEWORK STRUCTURE — REVIEWED FIRST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configuration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52160" y="1600200"/>
            <a:ext cx="5577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AppConfig, Env — local / ci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478024"/>
            <a:ext cx="10607040" cy="749808"/>
          </a:xfrm>
          <a:prstGeom prst="rect">
            <a:avLst/>
          </a:prstGeom>
          <a:solidFill>
            <a:srgbClr val="2A3A80">
              <a:alpha val="9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05840" y="2478024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api/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46120" y="2478024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clients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80760" y="2478024"/>
            <a:ext cx="5120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CartClient, OrderClient, AuthClient (REST Assured)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3355848"/>
            <a:ext cx="10149840" cy="74980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34440" y="335584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ui/pages + locators/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335584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objects + Xp locators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09360" y="3355848"/>
            <a:ext cx="4663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Selenide $x() · dynamic XPath in one place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234440" y="4233672"/>
            <a:ext cx="9692640" cy="749808"/>
          </a:xfrm>
          <a:prstGeom prst="rect">
            <a:avLst/>
          </a:prstGeom>
          <a:solidFill>
            <a:srgbClr val="2A3A80">
              <a:alpha val="9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63040" y="423367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data/builders + secret/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703320" y="423367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builders &amp; secrets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4233672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Per-test data; Secrets resolves off-repo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463040" y="5111496"/>
            <a:ext cx="9235440" cy="7498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691640" y="511149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support/ + stepdefs/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931920" y="511149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classes &amp; thin glue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0" y="5111496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BaseApiTest, BaseUiTest, Hooks · steps hold no logic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external, API and UI layers are separated, locators live in one place, data builders sit apart from tests, step definitions are thin glue with no logic.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 ·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six scenarios (test matrix)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96849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returns matching products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+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totals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= Σ(qty × price), in paise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+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 E2E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→ search → add → cart → checkout → PLACED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→ API → 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200; another customer 403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· 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rules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PLACED→CANCELLED; again→409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stock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qty &gt; stock → 409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6B72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 six exercise every Week-6 skill and every layer — UI, API, database and a security negative — which is what the gate checks. Everything should not be pushed through the UI.</a:t>
            </a:r>
            <a:endParaRPr lang="en-US" sz="1200" dirty="0"/>
          </a:p>
        </p:txBody>
      </p:sp>
      <p:sp>
        <p:nvSpPr>
          <p:cNvPr id="4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· THE FLAGSHIP E2E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fact, verified where it lives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Checkout: login → search → add → cart → checkout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3063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PLACED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confirmation screen displays status “PLACED”.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33088" y="338328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566160" cy="3063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order &amp; total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/api/orders/{id} returns PLACED and the matching totalPaise (e.g. 99800).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82128" y="3383280"/>
            <a:ext cx="146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046720" y="2194560"/>
            <a:ext cx="3566160" cy="3063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A43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21040" y="24688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210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exactly one row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0" y="40233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orders table has exactly one PLACED row for the customer.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feature files name the persona ("alice") — never her password. The step resolves the secret via Secrets at run time.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§6 · SECRET &amp; SENSITIVE TEST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it, then source it off-repo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30936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lives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catalogue, SKUs, prices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Flyway seed (V2), committed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email / customer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files &amp; seed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store / env — never in Git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tokens, bearer tokens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Issued at runtime via AuthClient; never printed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/ UPI test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 store; masked in logs &amp;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00200"/>
            <a:ext cx="4526280" cy="3291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7315200" y="1755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315200" y="2139696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543800" y="20848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 Git — .gitignore secrets.local.properties; scan commits (gitleaks).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0" y="2852928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543800" y="279806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everywhere — logs, console, Allure attachments, screenshots show ****.</a:t>
            </a:r>
            <a:endParaRPr lang="en-US" sz="1050" dirty="0"/>
          </a:p>
        </p:txBody>
      </p:sp>
      <p:sp>
        <p:nvSpPr>
          <p:cNvPr id="4" name="Shape 8"/>
          <p:cNvSpPr/>
          <p:nvPr/>
        </p:nvSpPr>
        <p:spPr>
          <a:xfrm>
            <a:off x="7315200" y="356616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543800" y="351129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test accounts, rotated; never reuse a real user's credentials.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15200" y="427939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543800" y="422452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stay secret-free — reference the persona; the step resolves it.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48640" y="5074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resolver, sourced off-repo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440680"/>
            <a:ext cx="11064240" cy="105156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77240" y="54864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Secrets.get(key)  resolves in order:   env var   →   CI secret store   →   git-ignored secrets.local.properties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2F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Callers must not log the return value — used only where the secret is consumed.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 ·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— with redaction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645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categories.json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failures: Product defect (assertion), Test defect (broken locator / 500), Flaky (passed on retry).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1645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1828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86600" y="22402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the previous report's history/ in CI so trend and retry widgets populate.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5394960" cy="1645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view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 answers in one glance: pass-rate trend, flaky rate, risk by area.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394960" cy="1645920"/>
          </a:xfrm>
          <a:prstGeom prst="rect">
            <a:avLst/>
          </a:prstGeom>
          <a:solidFill>
            <a:srgbClr val="F4F7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4652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703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attachments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86600" y="41148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Authorization, tokens and passwords before request/response logs are attached — never a raw log with a bearer token.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 · THE 10-MINUTE DEMO DRY-RUN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Rehearsed sequence, secret-free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84048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Reviewer looks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tour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§3: layers, Xp locators, builders, base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separation; structure right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suite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./gradlew test — Testcontainers spins Postgres, all green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real; runs from cold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E2E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3 UI→API→DB, one order asserted three ways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fact proven where it lives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Allure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Trend, categories, a triaged flaky, executive overview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Insight; secrets redacted in logs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 4: another customer gets 403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boundary 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sentence: what's solid, the biggest capstone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 self-assessment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and screenshots of the demo will be shared and archived — where a secret would be visible, hide it at the source before recording.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4937760"/>
            <a:ext cx="2011680" cy="320040"/>
          </a:xfrm>
          <a:prstGeom prst="rect">
            <a:avLst/>
          </a:prstGeom>
          <a:solidFill>
            <a:srgbClr val="CADCF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834640" y="4937760"/>
            <a:ext cx="1874520" cy="320040"/>
          </a:xfrm>
          <a:prstGeom prst="rect">
            <a:avLst/>
          </a:prstGeom>
          <a:solidFill>
            <a:srgbClr val="CADCFC">
              <a:alpha val="2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20640" y="4937760"/>
            <a:ext cx="1737360" cy="320040"/>
          </a:xfrm>
          <a:prstGeom prst="rect">
            <a:avLst/>
          </a:prstGeom>
          <a:solidFill>
            <a:srgbClr val="CADCFC">
              <a:alpha val="3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06640" y="4937760"/>
            <a:ext cx="1600200" cy="320040"/>
          </a:xfrm>
          <a:prstGeom prst="rect">
            <a:avLst/>
          </a:prstGeom>
          <a:solidFill>
            <a:srgbClr val="CADCFC">
              <a:alpha val="3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692640" y="4937760"/>
            <a:ext cx="1463040" cy="320040"/>
          </a:xfrm>
          <a:prstGeom prst="rect">
            <a:avLst/>
          </a:prstGeom>
          <a:solidFill>
            <a:srgbClr val="CADCFC">
              <a:alpha val="4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4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ShopKart Automation Framework  ·  Pre-Capstone Gate 6 / Benchmark 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1377</Words>
  <Application>Microsoft Office PowerPoint</Application>
  <PresentationFormat>Widescreen</PresentationFormat>
  <Paragraphs>254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 Prasad Bingi(UST,IN)</cp:lastModifiedBy>
  <cp:revision>3</cp:revision>
  <dcterms:created xsi:type="dcterms:W3CDTF">2026-07-12T12:28:25Z</dcterms:created>
  <dcterms:modified xsi:type="dcterms:W3CDTF">2026-07-12T12:49:54Z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2026-07-12T12:47:10Z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b7af8b32-5a5e-4b89-8ecf-5fa51e6bb8bd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