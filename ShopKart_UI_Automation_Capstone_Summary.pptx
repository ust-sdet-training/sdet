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1" d="100"/>
          <a:sy n="41" d="100"/>
        </p:scale>
        <p:origin x="280" y="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91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444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214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536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77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4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116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562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796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329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090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94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ustinPhilip-973/Gate6_Repo_DressRehearsa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AB17F6-592B-45CB-96F6-705C9825A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9301" y="802298"/>
            <a:ext cx="4511838" cy="5116985"/>
          </a:xfrm>
        </p:spPr>
        <p:txBody>
          <a:bodyPr anchor="ctr">
            <a:normAutofit/>
          </a:bodyPr>
          <a:lstStyle/>
          <a:p>
            <a:r>
              <a:rPr lang="en-IN" sz="5000"/>
              <a:t>ShopKart UI Automation Capstone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1264" y="802298"/>
            <a:ext cx="2550880" cy="5116985"/>
          </a:xfrm>
        </p:spPr>
        <p:txBody>
          <a:bodyPr anchor="ctr">
            <a:normAutofit/>
          </a:bodyPr>
          <a:lstStyle/>
          <a:p>
            <a:pPr algn="r"/>
            <a:r>
              <a:rPr lang="en-IN" sz="1400"/>
              <a:t>Week 6 progress summary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9284E7-0823-472D-9963-18D89DFEB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760590"/>
            <a:ext cx="0" cy="320040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216D9FD-860F-4F5C-8D9B-CE7002071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988" y="977028"/>
            <a:ext cx="2500057" cy="5237503"/>
          </a:xfrm>
        </p:spPr>
        <p:txBody>
          <a:bodyPr anchor="ctr">
            <a:normAutofit/>
          </a:bodyPr>
          <a:lstStyle/>
          <a:p>
            <a:r>
              <a:rPr lang="en-IN"/>
              <a:t>Project Objective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074069-7026-466C-B495-20FB9578C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494" y="0"/>
            <a:ext cx="5653506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685D80-4D5A-471F-9215-651424F47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340" y="0"/>
            <a:ext cx="1234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965" y="977029"/>
            <a:ext cx="4071592" cy="5237503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US" sz="2200">
                <a:solidFill>
                  <a:schemeClr val="bg1"/>
                </a:solidFill>
              </a:rPr>
              <a:t>Automate retail purchase journey using Java, Selenide, Cucumber, JUnit 5.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16D9FD-860F-4F5C-8D9B-CE7002071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988" y="977028"/>
            <a:ext cx="2500057" cy="5237503"/>
          </a:xfrm>
        </p:spPr>
        <p:txBody>
          <a:bodyPr anchor="ctr">
            <a:normAutofit/>
          </a:bodyPr>
          <a:lstStyle/>
          <a:p>
            <a:r>
              <a:t>Tech Stack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074069-7026-466C-B495-20FB9578C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494" y="0"/>
            <a:ext cx="5653506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685D80-4D5A-471F-9215-651424F47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340" y="0"/>
            <a:ext cx="1234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965" y="977029"/>
            <a:ext cx="4071592" cy="5237503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Java</a:t>
            </a:r>
          </a:p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Gradle</a:t>
            </a:r>
          </a:p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Selenide</a:t>
            </a:r>
          </a:p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Cucumber</a:t>
            </a:r>
          </a:p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JUnit 5</a:t>
            </a:r>
          </a:p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PicoContainer</a:t>
            </a:r>
          </a:p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Allure</a:t>
            </a:r>
          </a:p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Extent 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16D9FD-860F-4F5C-8D9B-CE7002071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988" y="977028"/>
            <a:ext cx="2500057" cy="5237503"/>
          </a:xfrm>
        </p:spPr>
        <p:txBody>
          <a:bodyPr anchor="ctr">
            <a:normAutofit/>
          </a:bodyPr>
          <a:lstStyle/>
          <a:p>
            <a:r>
              <a:rPr lang="en-IN" sz="2700"/>
              <a:t>Framework Structure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074069-7026-466C-B495-20FB9578C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494" y="0"/>
            <a:ext cx="5653506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685D80-4D5A-471F-9215-651424F47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340" y="0"/>
            <a:ext cx="1234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965" y="977029"/>
            <a:ext cx="4071592" cy="5237503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features/</a:t>
            </a:r>
          </a:p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stepdefs/</a:t>
            </a:r>
          </a:p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pages/</a:t>
            </a:r>
          </a:p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components/</a:t>
            </a:r>
          </a:p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support(WorldContext)</a:t>
            </a:r>
          </a:p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16D9FD-860F-4F5C-8D9B-CE7002071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988" y="977028"/>
            <a:ext cx="2500057" cy="5237503"/>
          </a:xfrm>
        </p:spPr>
        <p:txBody>
          <a:bodyPr anchor="ctr">
            <a:normAutofit/>
          </a:bodyPr>
          <a:lstStyle/>
          <a:p>
            <a:r>
              <a:t>BDD Scenarios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074069-7026-466C-B495-20FB9578C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494" y="0"/>
            <a:ext cx="5653506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685D80-4D5A-471F-9215-651424F47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340" y="0"/>
            <a:ext cx="1234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965" y="977029"/>
            <a:ext cx="4071592" cy="5237503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it-IT" sz="2200">
                <a:solidFill>
                  <a:schemeClr val="bg1"/>
                </a:solidFill>
              </a:rPr>
              <a:t>Scenario 1: Product Search</a:t>
            </a:r>
          </a:p>
          <a:p>
            <a:pPr>
              <a:defRPr sz="2200"/>
            </a:pPr>
            <a:r>
              <a:rPr lang="it-IT" sz="2200">
                <a:solidFill>
                  <a:schemeClr val="bg1"/>
                </a:solidFill>
              </a:rPr>
              <a:t>Scenario 3: Checkout E2E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16D9FD-860F-4F5C-8D9B-CE7002071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988" y="977028"/>
            <a:ext cx="2500057" cy="5237503"/>
          </a:xfrm>
        </p:spPr>
        <p:txBody>
          <a:bodyPr anchor="ctr">
            <a:normAutofit/>
          </a:bodyPr>
          <a:lstStyle/>
          <a:p>
            <a:r>
              <a:t>Page Object 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074069-7026-466C-B495-20FB9578C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494" y="0"/>
            <a:ext cx="5653506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685D80-4D5A-471F-9215-651424F47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340" y="0"/>
            <a:ext cx="1234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965" y="977029"/>
            <a:ext cx="4071592" cy="5237503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Separate page classes encapsulate locators and actions.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16D9FD-860F-4F5C-8D9B-CE7002071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988" y="977028"/>
            <a:ext cx="2500057" cy="5237503"/>
          </a:xfrm>
        </p:spPr>
        <p:txBody>
          <a:bodyPr anchor="ctr">
            <a:normAutofit/>
          </a:bodyPr>
          <a:lstStyle/>
          <a:p>
            <a:r>
              <a:rPr lang="en-IN" sz="2000"/>
              <a:t>WorldContext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074069-7026-466C-B495-20FB9578C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494" y="0"/>
            <a:ext cx="5653506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685D80-4D5A-471F-9215-651424F47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340" y="0"/>
            <a:ext cx="1234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965" y="977029"/>
            <a:ext cx="4071592" cy="5237503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US" sz="2200">
                <a:solidFill>
                  <a:schemeClr val="bg1"/>
                </a:solidFill>
              </a:rPr>
              <a:t>Shared objects across step definitions using PicoContainer DI.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16D9FD-860F-4F5C-8D9B-CE7002071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988" y="977028"/>
            <a:ext cx="2500057" cy="5237503"/>
          </a:xfrm>
        </p:spPr>
        <p:txBody>
          <a:bodyPr anchor="ctr">
            <a:normAutofit/>
          </a:bodyPr>
          <a:lstStyle/>
          <a:p>
            <a:r>
              <a:t>Scenario 1 Flow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074069-7026-466C-B495-20FB9578C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494" y="0"/>
            <a:ext cx="5653506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685D80-4D5A-471F-9215-651424F47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340" y="0"/>
            <a:ext cx="1234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965" y="977029"/>
            <a:ext cx="4071592" cy="5237503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US" sz="2200">
                <a:solidFill>
                  <a:schemeClr val="bg1"/>
                </a:solidFill>
              </a:rPr>
              <a:t>Open Catalog → Search → Validate matching product.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16D9FD-860F-4F5C-8D9B-CE7002071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988" y="977028"/>
            <a:ext cx="2500057" cy="5237503"/>
          </a:xfrm>
        </p:spPr>
        <p:txBody>
          <a:bodyPr anchor="ctr">
            <a:normAutofit/>
          </a:bodyPr>
          <a:lstStyle/>
          <a:p>
            <a:r>
              <a:t>Scenario 3 Flow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074069-7026-466C-B495-20FB9578C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494" y="0"/>
            <a:ext cx="5653506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685D80-4D5A-471F-9215-651424F47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340" y="0"/>
            <a:ext cx="1234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965" y="977029"/>
            <a:ext cx="4071592" cy="5237503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Open Catalog → Login → Search → Add to Cart → Checkout → Verify PLACED.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16D9FD-860F-4F5C-8D9B-CE7002071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988" y="977028"/>
            <a:ext cx="2500057" cy="5237503"/>
          </a:xfrm>
        </p:spPr>
        <p:txBody>
          <a:bodyPr anchor="ctr">
            <a:normAutofit/>
          </a:bodyPr>
          <a:lstStyle/>
          <a:p>
            <a:r>
              <a:rPr lang="en-IN" sz="2500"/>
              <a:t>Reusable Components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074069-7026-466C-B495-20FB9578C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494" y="0"/>
            <a:ext cx="5653506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685D80-4D5A-471F-9215-651424F47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340" y="0"/>
            <a:ext cx="1234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965" y="977029"/>
            <a:ext cx="4071592" cy="5237503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Header</a:t>
            </a:r>
          </a:p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ProductCard</a:t>
            </a:r>
          </a:p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BasePage utilities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16D9FD-860F-4F5C-8D9B-CE7002071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988" y="977028"/>
            <a:ext cx="2500057" cy="5237503"/>
          </a:xfrm>
        </p:spPr>
        <p:txBody>
          <a:bodyPr anchor="ctr">
            <a:normAutofit/>
          </a:bodyPr>
          <a:lstStyle/>
          <a:p>
            <a:r>
              <a:t>Execution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074069-7026-466C-B495-20FB9578C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494" y="0"/>
            <a:ext cx="5653506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685D80-4D5A-471F-9215-651424F47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340" y="0"/>
            <a:ext cx="1234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965" y="977029"/>
            <a:ext cx="4071592" cy="5237503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US" sz="2200">
                <a:solidFill>
                  <a:schemeClr val="bg1"/>
                </a:solidFill>
              </a:rPr>
              <a:t>Gradle task: cucumberSmoke</a:t>
            </a:r>
          </a:p>
          <a:p>
            <a:pPr>
              <a:defRPr sz="2200"/>
            </a:pPr>
            <a:r>
              <a:rPr lang="en-US" sz="2200">
                <a:solidFill>
                  <a:schemeClr val="bg1"/>
                </a:solidFill>
              </a:rPr>
              <a:t>Tag based execution (@smoke, @e2e)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16D9FD-860F-4F5C-8D9B-CE7002071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988" y="977028"/>
            <a:ext cx="2500057" cy="5237503"/>
          </a:xfrm>
        </p:spPr>
        <p:txBody>
          <a:bodyPr anchor="ctr">
            <a:normAutofit/>
          </a:bodyPr>
          <a:lstStyle/>
          <a:p>
            <a:r>
              <a:t>Reporting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074069-7026-466C-B495-20FB9578C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494" y="0"/>
            <a:ext cx="5653506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685D80-4D5A-471F-9215-651424F47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340" y="0"/>
            <a:ext cx="1234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965" y="977029"/>
            <a:ext cx="4071592" cy="5237503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Allure results</a:t>
            </a:r>
          </a:p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Extent Reports</a:t>
            </a:r>
          </a:p>
          <a:p>
            <a:pPr>
              <a:defRPr sz="2200"/>
            </a:pPr>
            <a:r>
              <a:rPr lang="en-IN" sz="2200">
                <a:solidFill>
                  <a:schemeClr val="bg1"/>
                </a:solidFill>
              </a:rPr>
              <a:t>Screenshots on failure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16D9FD-860F-4F5C-8D9B-CE7002071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988" y="977028"/>
            <a:ext cx="2500057" cy="5237503"/>
          </a:xfrm>
        </p:spPr>
        <p:txBody>
          <a:bodyPr anchor="ctr">
            <a:normAutofit/>
          </a:bodyPr>
          <a:lstStyle/>
          <a:p>
            <a:r>
              <a:t>Issue Faced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074069-7026-466C-B495-20FB9578C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494" y="0"/>
            <a:ext cx="5653506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685D80-4D5A-471F-9215-651424F47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340" y="0"/>
            <a:ext cx="1234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965" y="977029"/>
            <a:ext cx="4071592" cy="5237503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US" sz="2200">
                <a:solidFill>
                  <a:schemeClr val="bg1"/>
                </a:solidFill>
              </a:rPr>
              <a:t>Login failed because login page wasn't opened before entering credentials.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16D9FD-860F-4F5C-8D9B-CE7002071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988" y="977028"/>
            <a:ext cx="2500057" cy="5237503"/>
          </a:xfrm>
        </p:spPr>
        <p:txBody>
          <a:bodyPr anchor="ctr">
            <a:normAutofit/>
          </a:bodyPr>
          <a:lstStyle/>
          <a:p>
            <a:r>
              <a:t>Fix Applied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074069-7026-466C-B495-20FB9578C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494" y="0"/>
            <a:ext cx="5653506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685D80-4D5A-471F-9215-651424F47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340" y="0"/>
            <a:ext cx="1234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965" y="977029"/>
            <a:ext cx="4071592" cy="5237503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US" sz="2200">
                <a:solidFill>
                  <a:schemeClr val="bg1"/>
                </a:solidFill>
              </a:rPr>
              <a:t>Navigate Catalog → Sign In before login. Tests passed consistently.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9E5E629-7060-41F9-8B50-02B2E85F7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091" y="1268898"/>
            <a:ext cx="2581384" cy="4361688"/>
          </a:xfrm>
        </p:spPr>
        <p:txBody>
          <a:bodyPr anchor="ctr">
            <a:normAutofit/>
          </a:bodyPr>
          <a:lstStyle/>
          <a:p>
            <a:r>
              <a:t>Next Steps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0A74D93-ED7F-4633-8594-99D9FA43D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52253" y="676656"/>
            <a:ext cx="5209146" cy="5546173"/>
            <a:chOff x="4603005" y="1286439"/>
            <a:chExt cx="6292376" cy="428948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8493448-FE74-4227-AC61-AF38A22278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03005" y="1286439"/>
              <a:ext cx="6292376" cy="428948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BDA5412-7A0F-451B-86FE-5B4B38E05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02049" y="1490915"/>
              <a:ext cx="5894288" cy="3880536"/>
            </a:xfrm>
            <a:prstGeom prst="rect">
              <a:avLst/>
            </a:prstGeom>
            <a:solidFill>
              <a:schemeClr val="bg1">
                <a:alpha val="98000"/>
              </a:schemeClr>
            </a:soli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1598E19-BACC-4AD6-8E51-F08B186A0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8822" y="1104306"/>
            <a:ext cx="4636008" cy="4690872"/>
          </a:xfrm>
          <a:prstGeom prst="rect">
            <a:avLst/>
          </a:prstGeom>
          <a:solidFill>
            <a:schemeClr val="tx2"/>
          </a:solidFill>
          <a:ln w="6350">
            <a:solidFill>
              <a:schemeClr val="bg2"/>
            </a:solidFill>
          </a:ln>
          <a:effectLst>
            <a:innerShdw blurRad="114300">
              <a:prstClr val="black">
                <a:alpha val="78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2266" y="1268898"/>
            <a:ext cx="4389120" cy="4361688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US" sz="2200">
                <a:solidFill>
                  <a:schemeClr val="bg1"/>
                </a:solidFill>
              </a:rPr>
              <a:t>Integrate API validation and DB verification after UI completion.</a:t>
            </a:r>
          </a:p>
          <a:p>
            <a:pPr>
              <a:defRPr sz="2200"/>
            </a:pPr>
            <a:endParaRPr lang="en-US" sz="2200">
              <a:solidFill>
                <a:schemeClr val="bg1"/>
              </a:solidFill>
            </a:endParaRPr>
          </a:p>
          <a:p>
            <a:pPr>
              <a:defRPr sz="2200"/>
            </a:pPr>
            <a:endParaRPr lang="en-US" sz="2200">
              <a:solidFill>
                <a:schemeClr val="bg1"/>
              </a:solidFill>
            </a:endParaRPr>
          </a:p>
          <a:p>
            <a:pPr>
              <a:defRPr sz="2200"/>
            </a:pPr>
            <a:endParaRPr lang="en-US" sz="2200">
              <a:solidFill>
                <a:schemeClr val="bg1"/>
              </a:solidFill>
            </a:endParaRPr>
          </a:p>
          <a:p>
            <a:pPr>
              <a:defRPr sz="2200"/>
            </a:pPr>
            <a:r>
              <a:rPr lang="en-US" sz="2200">
                <a:solidFill>
                  <a:schemeClr val="bg1"/>
                </a:solidFill>
              </a:rPr>
              <a:t>Current Work Available at: </a:t>
            </a:r>
            <a:r>
              <a:rPr lang="en-US" sz="2200">
                <a:solidFill>
                  <a:schemeClr val="bg1"/>
                </a:solidFill>
                <a:hlinkClick r:id="rId2"/>
              </a:rPr>
              <a:t>justinPhilip-973/Gate6_Repo_DressRehearsal</a:t>
            </a:r>
            <a:endParaRPr lang="en-US" sz="2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194</Words>
  <Application>Microsoft Office PowerPoint</Application>
  <PresentationFormat>On-screen Show (4:3)</PresentationFormat>
  <Paragraphs>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Gallery</vt:lpstr>
      <vt:lpstr>ShopKart UI Automation Capstone</vt:lpstr>
      <vt:lpstr>Project Objective</vt:lpstr>
      <vt:lpstr>Tech Stack</vt:lpstr>
      <vt:lpstr>Framework Structure</vt:lpstr>
      <vt:lpstr>BDD Scenarios</vt:lpstr>
      <vt:lpstr>Page Object Model</vt:lpstr>
      <vt:lpstr>WorldContext</vt:lpstr>
      <vt:lpstr>Scenario 1 Flow</vt:lpstr>
      <vt:lpstr>Scenario 3 Flow</vt:lpstr>
      <vt:lpstr>Reusable Components</vt:lpstr>
      <vt:lpstr>Execution</vt:lpstr>
      <vt:lpstr>Reporting</vt:lpstr>
      <vt:lpstr>Issue Faced</vt:lpstr>
      <vt:lpstr>Fix Applied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Justin Philip(UST,IN)</cp:lastModifiedBy>
  <cp:revision>2</cp:revision>
  <dcterms:created xsi:type="dcterms:W3CDTF">2013-01-27T09:14:16Z</dcterms:created>
  <dcterms:modified xsi:type="dcterms:W3CDTF">2026-07-12T11:51:23Z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2026-07-12T11:51:23Z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2b6985c5-2d66-455b-96c1-db060894a22b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