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 id="258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hopKart Automation: Selenide, REST Assured, and Allure Reporting" id="{D4F41D43-9B7E-482A-87B4-ACF23BF8E1BE}">
          <p14:sldIdLst>
            <p14:sldId id="2561"/>
          </p14:sldIdLst>
        </p14:section>
        <p14:section name="Introduction and Context" id="{BA7E6A09-566C-4741-9CA7-B4C5897E7D8A}">
          <p14:sldIdLst>
            <p14:sldId id="2562"/>
            <p14:sldId id="2563"/>
          </p14:sldIdLst>
        </p14:section>
        <p14:section name="Technology Stack" id="{84828E1F-7C5E-48E9-8C76-2C44FC3379A5}">
          <p14:sldIdLst>
            <p14:sldId id="2564"/>
            <p14:sldId id="2565"/>
          </p14:sldIdLst>
        </p14:section>
        <p14:section name="UI Automation with Selenide" id="{9147D8FD-490D-494D-856A-5410EF4B06BE}">
          <p14:sldIdLst>
            <p14:sldId id="2566"/>
            <p14:sldId id="2567"/>
            <p14:sldId id="2568"/>
          </p14:sldIdLst>
        </p14:section>
        <p14:section name="Synchronization Challenges and Solutions" id="{650B7E2B-882B-41C2-A263-9BD48C6C812B}">
          <p14:sldIdLst>
            <p14:sldId id="2569"/>
            <p14:sldId id="2570"/>
            <p14:sldId id="2571"/>
          </p14:sldIdLst>
        </p14:section>
        <p14:section name="API Automation with REST Assured" id="{19DAEDE3-9ED7-46D3-B736-936F4F3532D6}">
          <p14:sldIdLst>
            <p14:sldId id="2572"/>
            <p14:sldId id="2573"/>
            <p14:sldId id="2574"/>
          </p14:sldIdLst>
        </p14:section>
        <p14:section name="Allure Reporting" id="{D61D0F00-3C83-4E14-8F5C-5654C44F6A5C}">
          <p14:sldIdLst>
            <p14:sldId id="2575"/>
            <p14:sldId id="2576"/>
          </p14:sldIdLst>
        </p14:section>
        <p14:section name="CI/CD and Publishing Strategy" id="{B98D0BEC-9246-41FB-8068-9AA21BCFA690}">
          <p14:sldIdLst>
            <p14:sldId id="2577"/>
            <p14:sldId id="2578"/>
          </p14:sldIdLst>
        </p14:section>
        <p14:section name="Live Report and Repository" id="{8B4C849A-CB3D-44E3-BA3B-51E985B376E4}">
          <p14:sldIdLst>
            <p14:sldId id="2579"/>
            <p14:sldId id="2580"/>
          </p14:sldIdLst>
        </p14:section>
        <p14:section name="Key Learnings and Conclusion" id="{E2104C33-865E-4CD7-8D39-861688E4CE2A}">
          <p14:sldIdLst>
            <p14:sldId id="2581"/>
            <p14:sldId id="25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8FA199-2C30-4CB3-9591-8A10C577FD6D}" type="datetimeFigureOut">
              <a:t>7/12/2026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D102A4-2351-4718-82B6-A884184E271C}" type="slidenum">
              <a:t>‹#›</a:t>
            </a:fld>
            <a:endParaRPr lang="en-US"/>
          </a:p>
        </p:txBody>
      </p:sp>
    </p:spTree>
    <p:extLst>
      <p:ext uri="{BB962C8B-B14F-4D97-AF65-F5344CB8AC3E}">
        <p14:creationId xmlns:p14="http://schemas.microsoft.com/office/powerpoint/2010/main" val="25573728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1544F3C-082F-47CC-B3A4-1FA7A6536DCF}" type="slidenum">
              <a:t>1</a:t>
            </a:fld>
            <a:endParaRPr lang="en-US"/>
          </a:p>
        </p:txBody>
      </p:sp>
    </p:spTree>
    <p:extLst>
      <p:ext uri="{BB962C8B-B14F-4D97-AF65-F5344CB8AC3E}">
        <p14:creationId xmlns:p14="http://schemas.microsoft.com/office/powerpoint/2010/main" val="1618091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ShopKart Automation Framework Overview</a:t>
            </a:r>
          </a:p>
        </p:txBody>
      </p:sp>
      <p:sp>
        <p:nvSpPr>
          <p:cNvPr id="4" name="Slide Number Placeholder 3"/>
          <p:cNvSpPr>
            <a:spLocks noGrp="1"/>
          </p:cNvSpPr>
          <p:nvPr>
            <p:ph type="sldNum" sz="quarter" idx="5"/>
          </p:nvPr>
        </p:nvSpPr>
        <p:spPr/>
        <p:txBody>
          <a:bodyPr/>
          <a:lstStyle/>
          <a:p>
            <a:fld id="{21544F3C-082F-47CC-B3A4-1FA7A6536DCF}" type="slidenum">
              <a:t>2</a:t>
            </a:fld>
            <a:endParaRPr lang="en-US"/>
          </a:p>
        </p:txBody>
      </p:sp>
    </p:spTree>
    <p:extLst>
      <p:ext uri="{BB962C8B-B14F-4D97-AF65-F5344CB8AC3E}">
        <p14:creationId xmlns:p14="http://schemas.microsoft.com/office/powerpoint/2010/main" val="2078424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provides a comprehensive overview of the ShopKart automation framework built using a combination of UI and API testing technologies. The goal of the framework is to validate end-to-end business flows through the web interface using Selenide, as well as core backend functionality through REST APIs using REST Assured. A strong emphasis is placed on maintainability through the Page Object Model, reliability through explicit synchronization strategies, and visibility through rich Allure reporting. The framework is designed not only to validate correctness but also to serve as a reference-quality automation implementation that demonstrates best practices in modern test engineering. Over the course of this session, we walk through the key problems encountered, how they were diagnosed, and how they were resolved in a production-grade manner.</a:t>
            </a:r>
          </a:p>
        </p:txBody>
      </p:sp>
      <p:sp>
        <p:nvSpPr>
          <p:cNvPr id="4" name="Slide Number Placeholder 3"/>
          <p:cNvSpPr>
            <a:spLocks noGrp="1"/>
          </p:cNvSpPr>
          <p:nvPr>
            <p:ph type="sldNum" sz="quarter" idx="5"/>
          </p:nvPr>
        </p:nvSpPr>
        <p:spPr/>
        <p:txBody>
          <a:bodyPr/>
          <a:lstStyle/>
          <a:p>
            <a:fld id="{21544F3C-082F-47CC-B3A4-1FA7A6536DCF}" type="slidenum">
              <a:t>3</a:t>
            </a:fld>
            <a:endParaRPr lang="en-US"/>
          </a:p>
        </p:txBody>
      </p:sp>
    </p:spTree>
    <p:extLst>
      <p:ext uri="{BB962C8B-B14F-4D97-AF65-F5344CB8AC3E}">
        <p14:creationId xmlns:p14="http://schemas.microsoft.com/office/powerpoint/2010/main" val="4059000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Tools and Libraries</a:t>
            </a:r>
          </a:p>
        </p:txBody>
      </p:sp>
      <p:sp>
        <p:nvSpPr>
          <p:cNvPr id="4" name="Slide Number Placeholder 3"/>
          <p:cNvSpPr>
            <a:spLocks noGrp="1"/>
          </p:cNvSpPr>
          <p:nvPr>
            <p:ph type="sldNum" sz="quarter" idx="5"/>
          </p:nvPr>
        </p:nvSpPr>
        <p:spPr/>
        <p:txBody>
          <a:bodyPr/>
          <a:lstStyle/>
          <a:p>
            <a:fld id="{21544F3C-082F-47CC-B3A4-1FA7A6536DCF}" type="slidenum">
              <a:t>4</a:t>
            </a:fld>
            <a:endParaRPr lang="en-US"/>
          </a:p>
        </p:txBody>
      </p:sp>
    </p:spTree>
    <p:extLst>
      <p:ext uri="{BB962C8B-B14F-4D97-AF65-F5344CB8AC3E}">
        <p14:creationId xmlns:p14="http://schemas.microsoft.com/office/powerpoint/2010/main" val="3678453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ShopKart automation framework is built on Java 22 and managed using Gradle as the build tool. JUnit 5 is used as the test execution engine, providing modern annotations, lifecycle hooks, and integration with both UI and API tests. Selenide is used for browser-based automation on top of Selenium WebDriver, offering concise syntax and built-in waits. REST Assured is integrated for API testing, enabling expressive validation of HTTP requests and responses. Allure is used as the reporting solution to capture execution results, steps, attachments, and trends. GitHub Actions orchestrates continuous integration, while GitHub Pages is used to publish the generated Allure reports for easy stakeholder access.</a:t>
            </a:r>
          </a:p>
        </p:txBody>
      </p:sp>
      <p:sp>
        <p:nvSpPr>
          <p:cNvPr id="4" name="Slide Number Placeholder 3"/>
          <p:cNvSpPr>
            <a:spLocks noGrp="1"/>
          </p:cNvSpPr>
          <p:nvPr>
            <p:ph type="sldNum" sz="quarter" idx="5"/>
          </p:nvPr>
        </p:nvSpPr>
        <p:spPr/>
        <p:txBody>
          <a:bodyPr/>
          <a:lstStyle/>
          <a:p>
            <a:fld id="{21544F3C-082F-47CC-B3A4-1FA7A6536DCF}" type="slidenum">
              <a:t>5</a:t>
            </a:fld>
            <a:endParaRPr lang="en-US"/>
          </a:p>
        </p:txBody>
      </p:sp>
    </p:spTree>
    <p:extLst>
      <p:ext uri="{BB962C8B-B14F-4D97-AF65-F5344CB8AC3E}">
        <p14:creationId xmlns:p14="http://schemas.microsoft.com/office/powerpoint/2010/main" val="6846404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End-to-End UI Workflow, Page Object Model Design</a:t>
            </a:r>
          </a:p>
        </p:txBody>
      </p:sp>
      <p:sp>
        <p:nvSpPr>
          <p:cNvPr id="4" name="Slide Number Placeholder 3"/>
          <p:cNvSpPr>
            <a:spLocks noGrp="1"/>
          </p:cNvSpPr>
          <p:nvPr>
            <p:ph type="sldNum" sz="quarter" idx="5"/>
          </p:nvPr>
        </p:nvSpPr>
        <p:spPr/>
        <p:txBody>
          <a:bodyPr/>
          <a:lstStyle/>
          <a:p>
            <a:fld id="{21544F3C-082F-47CC-B3A4-1FA7A6536DCF}" type="slidenum">
              <a:t>6</a:t>
            </a:fld>
            <a:endParaRPr lang="en-US"/>
          </a:p>
        </p:txBody>
      </p:sp>
    </p:spTree>
    <p:extLst>
      <p:ext uri="{BB962C8B-B14F-4D97-AF65-F5344CB8AC3E}">
        <p14:creationId xmlns:p14="http://schemas.microsoft.com/office/powerpoint/2010/main" val="303770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UI automation layer validates the primary ShopKart user journey through the browser. This includes logging in with valid credentials, searching for a product, adding the product to the cart, reviewing the cart contents, proceeding to checkout, entering shipping details, and finally placing an order. Each of these steps is automated using Selenide with a focus on readability and stability. The tests are written to reflect real user behavior and are resilient to asynchronous UI updates. Assertions are placed at meaningful checkpoints to ensure the application state aligns with business expectations at each stage of the flow.</a:t>
            </a:r>
          </a:p>
        </p:txBody>
      </p:sp>
      <p:sp>
        <p:nvSpPr>
          <p:cNvPr id="4" name="Slide Number Placeholder 3"/>
          <p:cNvSpPr>
            <a:spLocks noGrp="1"/>
          </p:cNvSpPr>
          <p:nvPr>
            <p:ph type="sldNum" sz="quarter" idx="5"/>
          </p:nvPr>
        </p:nvSpPr>
        <p:spPr/>
        <p:txBody>
          <a:bodyPr/>
          <a:lstStyle/>
          <a:p>
            <a:fld id="{21544F3C-082F-47CC-B3A4-1FA7A6536DCF}" type="slidenum">
              <a:t>7</a:t>
            </a:fld>
            <a:endParaRPr lang="en-US"/>
          </a:p>
        </p:txBody>
      </p:sp>
    </p:spTree>
    <p:extLst>
      <p:ext uri="{BB962C8B-B14F-4D97-AF65-F5344CB8AC3E}">
        <p14:creationId xmlns:p14="http://schemas.microsoft.com/office/powerpoint/2010/main" val="2025395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ensure maintainability and clarity, the framework adopts the Page Object Model. Separate page classes such as LoginPage, CatalogPage, CartPage, CheckoutPage, and OrdersPage encapsulate UI locators and interactions. Tests interact only with these page-level abstractions rather than directly with selectors. This approach reduces duplication, improves readability, and isolates changes when the UI evolves. Verification methods such as verifyLoaded or verifyOrderConfirmed centralize assertions within page classes, reinforcing the principle that tests describe workflows while pages describe behavior.</a:t>
            </a:r>
          </a:p>
        </p:txBody>
      </p:sp>
      <p:sp>
        <p:nvSpPr>
          <p:cNvPr id="4" name="Slide Number Placeholder 3"/>
          <p:cNvSpPr>
            <a:spLocks noGrp="1"/>
          </p:cNvSpPr>
          <p:nvPr>
            <p:ph type="sldNum" sz="quarter" idx="5"/>
          </p:nvPr>
        </p:nvSpPr>
        <p:spPr/>
        <p:txBody>
          <a:bodyPr/>
          <a:lstStyle/>
          <a:p>
            <a:fld id="{21544F3C-082F-47CC-B3A4-1FA7A6536DCF}" type="slidenum">
              <a:t>8</a:t>
            </a:fld>
            <a:endParaRPr lang="en-US"/>
          </a:p>
        </p:txBody>
      </p:sp>
    </p:spTree>
    <p:extLst>
      <p:ext uri="{BB962C8B-B14F-4D97-AF65-F5344CB8AC3E}">
        <p14:creationId xmlns:p14="http://schemas.microsoft.com/office/powerpoint/2010/main" val="266543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Asynchronous Cart Loading Issue, Robust Synchronization Strategy</a:t>
            </a:r>
          </a:p>
        </p:txBody>
      </p:sp>
      <p:sp>
        <p:nvSpPr>
          <p:cNvPr id="4" name="Slide Number Placeholder 3"/>
          <p:cNvSpPr>
            <a:spLocks noGrp="1"/>
          </p:cNvSpPr>
          <p:nvPr>
            <p:ph type="sldNum" sz="quarter" idx="5"/>
          </p:nvPr>
        </p:nvSpPr>
        <p:spPr/>
        <p:txBody>
          <a:bodyPr/>
          <a:lstStyle/>
          <a:p>
            <a:fld id="{21544F3C-082F-47CC-B3A4-1FA7A6536DCF}" type="slidenum">
              <a:t>9</a:t>
            </a:fld>
            <a:endParaRPr lang="en-US"/>
          </a:p>
        </p:txBody>
      </p:sp>
    </p:spTree>
    <p:extLst>
      <p:ext uri="{BB962C8B-B14F-4D97-AF65-F5344CB8AC3E}">
        <p14:creationId xmlns:p14="http://schemas.microsoft.com/office/powerpoint/2010/main" val="1439259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key challenge encountered during UI automation was the asynchronous loading behavior of the Cart page. When the cart was opened immediately after adding a product, it initially displayed an empty state before later populating with item rows. Early implementations verified only the presence of the page heading, which caused tests to advance before the cart data was fully loaded. This resulted in flaky failures downstream, particularly during checkout. The issue highlighted the importance of synchronizing on business data rather than static page elements.</a:t>
            </a:r>
          </a:p>
        </p:txBody>
      </p:sp>
      <p:sp>
        <p:nvSpPr>
          <p:cNvPr id="4" name="Slide Number Placeholder 3"/>
          <p:cNvSpPr>
            <a:spLocks noGrp="1"/>
          </p:cNvSpPr>
          <p:nvPr>
            <p:ph type="sldNum" sz="quarter" idx="5"/>
          </p:nvPr>
        </p:nvSpPr>
        <p:spPr/>
        <p:txBody>
          <a:bodyPr/>
          <a:lstStyle/>
          <a:p>
            <a:fld id="{21544F3C-082F-47CC-B3A4-1FA7A6536DCF}" type="slidenum">
              <a:t>10</a:t>
            </a:fld>
            <a:endParaRPr lang="en-US"/>
          </a:p>
        </p:txBody>
      </p:sp>
    </p:spTree>
    <p:extLst>
      <p:ext uri="{BB962C8B-B14F-4D97-AF65-F5344CB8AC3E}">
        <p14:creationId xmlns:p14="http://schemas.microsoft.com/office/powerpoint/2010/main" val="3234362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solution involved waiting explicitly for cart item rows to be present using Selenide collection conditions such as sizeGreaterThan(0). By synchronizing on the actual data that signifies a loaded cart, the tests became stable and deterministic without relying on Thread.sleep or arbitrary delays. This pattern was applied consistently across the framework: waiting for product cards to appear in the catalog, cart rows to load in the cart, and form fields to become visible on the checkout page. This approach represents a best practice for handling asynchronous UIs in automated tests.</a:t>
            </a:r>
          </a:p>
        </p:txBody>
      </p:sp>
      <p:sp>
        <p:nvSpPr>
          <p:cNvPr id="4" name="Slide Number Placeholder 3"/>
          <p:cNvSpPr>
            <a:spLocks noGrp="1"/>
          </p:cNvSpPr>
          <p:nvPr>
            <p:ph type="sldNum" sz="quarter" idx="5"/>
          </p:nvPr>
        </p:nvSpPr>
        <p:spPr/>
        <p:txBody>
          <a:bodyPr/>
          <a:lstStyle/>
          <a:p>
            <a:fld id="{21544F3C-082F-47CC-B3A4-1FA7A6536DCF}" type="slidenum">
              <a:t>11</a:t>
            </a:fld>
            <a:endParaRPr lang="en-US"/>
          </a:p>
        </p:txBody>
      </p:sp>
    </p:spTree>
    <p:extLst>
      <p:ext uri="{BB962C8B-B14F-4D97-AF65-F5344CB8AC3E}">
        <p14:creationId xmlns:p14="http://schemas.microsoft.com/office/powerpoint/2010/main" val="3549846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Authentication API Test, Product Search API Test</a:t>
            </a:r>
          </a:p>
        </p:txBody>
      </p:sp>
      <p:sp>
        <p:nvSpPr>
          <p:cNvPr id="4" name="Slide Number Placeholder 3"/>
          <p:cNvSpPr>
            <a:spLocks noGrp="1"/>
          </p:cNvSpPr>
          <p:nvPr>
            <p:ph type="sldNum" sz="quarter" idx="5"/>
          </p:nvPr>
        </p:nvSpPr>
        <p:spPr/>
        <p:txBody>
          <a:bodyPr/>
          <a:lstStyle/>
          <a:p>
            <a:fld id="{21544F3C-082F-47CC-B3A4-1FA7A6536DCF}" type="slidenum">
              <a:t>12</a:t>
            </a:fld>
            <a:endParaRPr lang="en-US"/>
          </a:p>
        </p:txBody>
      </p:sp>
    </p:spTree>
    <p:extLst>
      <p:ext uri="{BB962C8B-B14F-4D97-AF65-F5344CB8AC3E}">
        <p14:creationId xmlns:p14="http://schemas.microsoft.com/office/powerpoint/2010/main" val="918154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first REST Assured test validates the authentication endpoint used by the ShopKart application. A POST request is sent to the login API with user credentials in JSON format. The response is validated to ensure a successful HTTP status code is returned, along with a non-null authentication token and correct customer details such as ID, persona, email, and display name. This test verifies that backend authentication works independently of the UI and can be used as a foundation for authenticated API workflows.</a:t>
            </a:r>
          </a:p>
        </p:txBody>
      </p:sp>
      <p:sp>
        <p:nvSpPr>
          <p:cNvPr id="4" name="Slide Number Placeholder 3"/>
          <p:cNvSpPr>
            <a:spLocks noGrp="1"/>
          </p:cNvSpPr>
          <p:nvPr>
            <p:ph type="sldNum" sz="quarter" idx="5"/>
          </p:nvPr>
        </p:nvSpPr>
        <p:spPr/>
        <p:txBody>
          <a:bodyPr/>
          <a:lstStyle/>
          <a:p>
            <a:fld id="{21544F3C-082F-47CC-B3A4-1FA7A6536DCF}" type="slidenum">
              <a:t>13</a:t>
            </a:fld>
            <a:endParaRPr lang="en-US"/>
          </a:p>
        </p:txBody>
      </p:sp>
    </p:spTree>
    <p:extLst>
      <p:ext uri="{BB962C8B-B14F-4D97-AF65-F5344CB8AC3E}">
        <p14:creationId xmlns:p14="http://schemas.microsoft.com/office/powerpoint/2010/main" val="2316150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Another REST Assured test focuses on product search functionality. A GET request is sent to the products endpoint with a query parameter specifying a product keyword. The response is expected to be a JSON array containing matching products. Assertions validate that the array contains the expected number of items and that each item’s attributes such as SKU, name, category, price, stock, and image key match expected values. This test demonstrates parameterized requests, JSON array validation, and alignment between UI-visible data and backend responses.</a:t>
            </a:r>
          </a:p>
        </p:txBody>
      </p:sp>
      <p:sp>
        <p:nvSpPr>
          <p:cNvPr id="4" name="Slide Number Placeholder 3"/>
          <p:cNvSpPr>
            <a:spLocks noGrp="1"/>
          </p:cNvSpPr>
          <p:nvPr>
            <p:ph type="sldNum" sz="quarter" idx="5"/>
          </p:nvPr>
        </p:nvSpPr>
        <p:spPr/>
        <p:txBody>
          <a:bodyPr/>
          <a:lstStyle/>
          <a:p>
            <a:fld id="{21544F3C-082F-47CC-B3A4-1FA7A6536DCF}" type="slidenum">
              <a:t>14</a:t>
            </a:fld>
            <a:endParaRPr lang="en-US"/>
          </a:p>
        </p:txBody>
      </p:sp>
    </p:spTree>
    <p:extLst>
      <p:ext uri="{BB962C8B-B14F-4D97-AF65-F5344CB8AC3E}">
        <p14:creationId xmlns:p14="http://schemas.microsoft.com/office/powerpoint/2010/main" val="1732964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Allure Results and Report Generation</a:t>
            </a:r>
          </a:p>
        </p:txBody>
      </p:sp>
      <p:sp>
        <p:nvSpPr>
          <p:cNvPr id="4" name="Slide Number Placeholder 3"/>
          <p:cNvSpPr>
            <a:spLocks noGrp="1"/>
          </p:cNvSpPr>
          <p:nvPr>
            <p:ph type="sldNum" sz="quarter" idx="5"/>
          </p:nvPr>
        </p:nvSpPr>
        <p:spPr/>
        <p:txBody>
          <a:bodyPr/>
          <a:lstStyle/>
          <a:p>
            <a:fld id="{21544F3C-082F-47CC-B3A4-1FA7A6536DCF}" type="slidenum">
              <a:t>15</a:t>
            </a:fld>
            <a:endParaRPr lang="en-US"/>
          </a:p>
        </p:txBody>
      </p:sp>
    </p:spTree>
    <p:extLst>
      <p:ext uri="{BB962C8B-B14F-4D97-AF65-F5344CB8AC3E}">
        <p14:creationId xmlns:p14="http://schemas.microsoft.com/office/powerpoint/2010/main" val="2694851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Allure is used to provide rich, actionable reporting for both UI and API tests. During execution, tests generate JSON result files in the allure-results directory, capturing statuses, steps, error traces, and metadata. These results are later transformed into an interactive HTML report. The report provides multiple perspectives such as Overview, Suites, Behaviors, and History, allowing engineers and stakeholders to understand quality trends over time. Attachments and steps make failures easy to diagnose.</a:t>
            </a:r>
          </a:p>
        </p:txBody>
      </p:sp>
      <p:sp>
        <p:nvSpPr>
          <p:cNvPr id="4" name="Slide Number Placeholder 3"/>
          <p:cNvSpPr>
            <a:spLocks noGrp="1"/>
          </p:cNvSpPr>
          <p:nvPr>
            <p:ph type="sldNum" sz="quarter" idx="5"/>
          </p:nvPr>
        </p:nvSpPr>
        <p:spPr/>
        <p:txBody>
          <a:bodyPr/>
          <a:lstStyle/>
          <a:p>
            <a:fld id="{21544F3C-082F-47CC-B3A4-1FA7A6536DCF}" type="slidenum">
              <a:t>16</a:t>
            </a:fld>
            <a:endParaRPr lang="en-US"/>
          </a:p>
        </p:txBody>
      </p:sp>
    </p:spTree>
    <p:extLst>
      <p:ext uri="{BB962C8B-B14F-4D97-AF65-F5344CB8AC3E}">
        <p14:creationId xmlns:p14="http://schemas.microsoft.com/office/powerpoint/2010/main" val="2596833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GitHub Actions and GitHub Pages</a:t>
            </a:r>
          </a:p>
        </p:txBody>
      </p:sp>
      <p:sp>
        <p:nvSpPr>
          <p:cNvPr id="4" name="Slide Number Placeholder 3"/>
          <p:cNvSpPr>
            <a:spLocks noGrp="1"/>
          </p:cNvSpPr>
          <p:nvPr>
            <p:ph type="sldNum" sz="quarter" idx="5"/>
          </p:nvPr>
        </p:nvSpPr>
        <p:spPr/>
        <p:txBody>
          <a:bodyPr/>
          <a:lstStyle/>
          <a:p>
            <a:fld id="{21544F3C-082F-47CC-B3A4-1FA7A6536DCF}" type="slidenum">
              <a:t>17</a:t>
            </a:fld>
            <a:endParaRPr lang="en-US"/>
          </a:p>
        </p:txBody>
      </p:sp>
    </p:spTree>
    <p:extLst>
      <p:ext uri="{BB962C8B-B14F-4D97-AF65-F5344CB8AC3E}">
        <p14:creationId xmlns:p14="http://schemas.microsoft.com/office/powerpoint/2010/main" val="3510272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automation framework integrates with GitHub Actions to publish Allure reports automatically. In this setup, tests are run locally, and the generated allure-results are committed or copied into the repository. A simplified GitHub Actions workflow then generates the Allure report from these results and deploys it to the gh-pages branch using GitHub Pages. This allows anyone with repository access to view execution reports without installing Allure locally. Historical reports are preserved, enabling trend analysis.</a:t>
            </a:r>
          </a:p>
        </p:txBody>
      </p:sp>
      <p:sp>
        <p:nvSpPr>
          <p:cNvPr id="4" name="Slide Number Placeholder 3"/>
          <p:cNvSpPr>
            <a:spLocks noGrp="1"/>
          </p:cNvSpPr>
          <p:nvPr>
            <p:ph type="sldNum" sz="quarter" idx="5"/>
          </p:nvPr>
        </p:nvSpPr>
        <p:spPr/>
        <p:txBody>
          <a:bodyPr/>
          <a:lstStyle/>
          <a:p>
            <a:fld id="{21544F3C-082F-47CC-B3A4-1FA7A6536DCF}" type="slidenum">
              <a:t>18</a:t>
            </a:fld>
            <a:endParaRPr lang="en-US"/>
          </a:p>
        </p:txBody>
      </p:sp>
    </p:spTree>
    <p:extLst>
      <p:ext uri="{BB962C8B-B14F-4D97-AF65-F5344CB8AC3E}">
        <p14:creationId xmlns:p14="http://schemas.microsoft.com/office/powerpoint/2010/main" val="871833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Accessing the ShopKart Allure Report</a:t>
            </a:r>
          </a:p>
        </p:txBody>
      </p:sp>
      <p:sp>
        <p:nvSpPr>
          <p:cNvPr id="4" name="Slide Number Placeholder 3"/>
          <p:cNvSpPr>
            <a:spLocks noGrp="1"/>
          </p:cNvSpPr>
          <p:nvPr>
            <p:ph type="sldNum" sz="quarter" idx="5"/>
          </p:nvPr>
        </p:nvSpPr>
        <p:spPr/>
        <p:txBody>
          <a:bodyPr/>
          <a:lstStyle/>
          <a:p>
            <a:fld id="{21544F3C-082F-47CC-B3A4-1FA7A6536DCF}" type="slidenum">
              <a:t>19</a:t>
            </a:fld>
            <a:endParaRPr lang="en-US"/>
          </a:p>
        </p:txBody>
      </p:sp>
    </p:spTree>
    <p:extLst>
      <p:ext uri="{BB962C8B-B14F-4D97-AF65-F5344CB8AC3E}">
        <p14:creationId xmlns:p14="http://schemas.microsoft.com/office/powerpoint/2010/main" val="4065115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complete automation framework, including UI tests, API tests, and reporting configuration, is available in the public GitHub repository. Users can also access the published Allure report hosted via GitHub Pages, which demonstrates real execution results, categories, and history. This publicly accessible report serves as a single source of truth for test execution outcomes and is ideal for demos, reviews, and audits.</a:t>
            </a:r>
          </a:p>
        </p:txBody>
      </p:sp>
      <p:sp>
        <p:nvSpPr>
          <p:cNvPr id="4" name="Slide Number Placeholder 3"/>
          <p:cNvSpPr>
            <a:spLocks noGrp="1"/>
          </p:cNvSpPr>
          <p:nvPr>
            <p:ph type="sldNum" sz="quarter" idx="5"/>
          </p:nvPr>
        </p:nvSpPr>
        <p:spPr/>
        <p:txBody>
          <a:bodyPr/>
          <a:lstStyle/>
          <a:p>
            <a:fld id="{21544F3C-082F-47CC-B3A4-1FA7A6536DCF}" type="slidenum">
              <a:t>20</a:t>
            </a:fld>
            <a:endParaRPr lang="en-US"/>
          </a:p>
        </p:txBody>
      </p:sp>
    </p:spTree>
    <p:extLst>
      <p:ext uri="{BB962C8B-B14F-4D97-AF65-F5344CB8AC3E}">
        <p14:creationId xmlns:p14="http://schemas.microsoft.com/office/powerpoint/2010/main" val="31660888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Lessons Learned and Best Practices</a:t>
            </a:r>
          </a:p>
        </p:txBody>
      </p:sp>
      <p:sp>
        <p:nvSpPr>
          <p:cNvPr id="4" name="Slide Number Placeholder 3"/>
          <p:cNvSpPr>
            <a:spLocks noGrp="1"/>
          </p:cNvSpPr>
          <p:nvPr>
            <p:ph type="sldNum" sz="quarter" idx="5"/>
          </p:nvPr>
        </p:nvSpPr>
        <p:spPr/>
        <p:txBody>
          <a:bodyPr/>
          <a:lstStyle/>
          <a:p>
            <a:fld id="{21544F3C-082F-47CC-B3A4-1FA7A6536DCF}" type="slidenum">
              <a:t>21</a:t>
            </a:fld>
            <a:endParaRPr lang="en-US"/>
          </a:p>
        </p:txBody>
      </p:sp>
    </p:spTree>
    <p:extLst>
      <p:ext uri="{BB962C8B-B14F-4D97-AF65-F5344CB8AC3E}">
        <p14:creationId xmlns:p14="http://schemas.microsoft.com/office/powerpoint/2010/main" val="2055458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project reinforced several important testing principles. Robust synchronization based on business conditions is superior to static delays. Page Object Model design leads to cleaner, more maintainable tests. Combining UI and API tests provides broader coverage and faster feedback. Finally, integrating Allure reporting with CI and GitHub Pages dramatically improves visibility and accessibility of test results. Together, these practices form a solid foundation for scalable, production-ready automation frameworks.</a:t>
            </a:r>
          </a:p>
        </p:txBody>
      </p:sp>
      <p:sp>
        <p:nvSpPr>
          <p:cNvPr id="4" name="Slide Number Placeholder 3"/>
          <p:cNvSpPr>
            <a:spLocks noGrp="1"/>
          </p:cNvSpPr>
          <p:nvPr>
            <p:ph type="sldNum" sz="quarter" idx="5"/>
          </p:nvPr>
        </p:nvSpPr>
        <p:spPr/>
        <p:txBody>
          <a:bodyPr/>
          <a:lstStyle/>
          <a:p>
            <a:fld id="{21544F3C-082F-47CC-B3A4-1FA7A6536DCF}" type="slidenum">
              <a:t>22</a:t>
            </a:fld>
            <a:endParaRPr lang="en-US"/>
          </a:p>
        </p:txBody>
      </p:sp>
    </p:spTree>
    <p:extLst>
      <p:ext uri="{BB962C8B-B14F-4D97-AF65-F5344CB8AC3E}">
        <p14:creationId xmlns:p14="http://schemas.microsoft.com/office/powerpoint/2010/main" val="337318977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7/12/2026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380513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8169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86758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7/12/2026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2237186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4925424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19330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520137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29649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7/12/2026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0469993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7/12/2026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47841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7/12/2026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19934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460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8568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4614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51682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64977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721206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133352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7/12/2026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760312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7/12/2026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4985644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7/12/2026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84334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7/12/2026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551274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7/12/2026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120859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9928985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03248099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7/12/2026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8807567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134191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56179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426415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431288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258746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7/12/2026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854433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73356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7/12/2026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9440137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7/12/2026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589345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7/12/2026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997669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7/12/2026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416176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7/12/2026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257965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7/12/2026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8451924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7/12/2026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49148779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7/12/2026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7917910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7/12/2026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26617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7/12/2026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223904972"/>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7/12/2026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617332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7/12/2026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345265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7/12/2026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717408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7/12/2026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297542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7/12/2026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849817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7/12/2026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12833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4746137"/>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7/12/2026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978537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7/12/2026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87380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3.xml"/><Relationship Id="rId4" Type="http://schemas.openxmlformats.org/officeDocument/2006/relationships/hyperlink" Target="https://github.com/georgebibu-UST/shopkart_automation"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2.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F7B4-AD26-320D-CA22-68243CEBB93B}"/>
              </a:ext>
            </a:extLst>
          </p:cNvPr>
          <p:cNvSpPr>
            <a:spLocks noGrp="1"/>
          </p:cNvSpPr>
          <p:nvPr>
            <p:ph type="ctrTitle"/>
          </p:nvPr>
        </p:nvSpPr>
        <p:spPr>
          <a:xfrm>
            <a:off x="457200" y="457200"/>
            <a:ext cx="4025153" cy="3739896"/>
          </a:xfrm>
        </p:spPr>
        <p:txBody>
          <a:bodyPr anchor="t">
            <a:normAutofit/>
          </a:bodyPr>
          <a:lstStyle/>
          <a:p>
            <a:r>
              <a:rPr lang="en-US"/>
              <a:t>ShopKart Automation: Selenide, REST Assured, and Allure Reporting</a:t>
            </a:r>
          </a:p>
        </p:txBody>
      </p:sp>
      <p:sp>
        <p:nvSpPr>
          <p:cNvPr id="3" name="Subtitle 2">
            <a:extLst>
              <a:ext uri="{FF2B5EF4-FFF2-40B4-BE49-F238E27FC236}">
                <a16:creationId xmlns:a16="http://schemas.microsoft.com/office/drawing/2014/main" id="{068F3DF4-C520-83F0-168B-3811848C3465}"/>
              </a:ext>
            </a:extLst>
          </p:cNvPr>
          <p:cNvSpPr>
            <a:spLocks noGrp="1"/>
          </p:cNvSpPr>
          <p:nvPr>
            <p:ph type="subTitle" idx="1"/>
          </p:nvPr>
        </p:nvSpPr>
        <p:spPr>
          <a:xfrm>
            <a:off x="457200" y="5332780"/>
            <a:ext cx="4025153" cy="1016813"/>
          </a:xfrm>
        </p:spPr>
        <p:txBody>
          <a:bodyPr anchor="ctr">
            <a:normAutofit/>
          </a:bodyPr>
          <a:lstStyle/>
          <a:p>
            <a:r>
              <a:rPr lang="en-US" sz="1900"/>
              <a:t>Modern tools enhancing automated testing and reporting efficiency</a:t>
            </a:r>
          </a:p>
        </p:txBody>
      </p:sp>
      <p:pic>
        <p:nvPicPr>
          <p:cNvPr id="4" name="Picture 3" descr="Conceptual image representing mosaic media interface and the digital software. A wall of screens curves away from view, shimmering with an assortment of random graphics, animations and simple icon images.">
            <a:extLst>
              <a:ext uri="{FF2B5EF4-FFF2-40B4-BE49-F238E27FC236}">
                <a16:creationId xmlns:a16="http://schemas.microsoft.com/office/drawing/2014/main" id="{1872C967-DC52-4C48-8B6A-F91CB800A2B7}"/>
              </a:ext>
            </a:extLst>
          </p:cNvPr>
          <p:cNvPicPr>
            <a:picLocks noChangeAspect="1"/>
          </p:cNvPicPr>
          <p:nvPr/>
        </p:nvPicPr>
        <p:blipFill>
          <a:blip r:embed="rId3"/>
          <a:srcRect l="11338" r="10328"/>
          <a:stretch>
            <a:fillRect/>
          </a:stretch>
        </p:blipFill>
        <p:spPr>
          <a:xfrm>
            <a:off x="5029201" y="10"/>
            <a:ext cx="7162800" cy="6857990"/>
          </a:xfrm>
          <a:prstGeom prst="rect">
            <a:avLst/>
          </a:prstGeom>
        </p:spPr>
      </p:pic>
    </p:spTree>
    <p:extLst>
      <p:ext uri="{BB962C8B-B14F-4D97-AF65-F5344CB8AC3E}">
        <p14:creationId xmlns:p14="http://schemas.microsoft.com/office/powerpoint/2010/main" val="146865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BF5F-6D15-DAF7-802E-A7AFA1A378D4}"/>
              </a:ext>
            </a:extLst>
          </p:cNvPr>
          <p:cNvSpPr>
            <a:spLocks noGrp="1"/>
          </p:cNvSpPr>
          <p:nvPr>
            <p:ph type="ctrTitle"/>
          </p:nvPr>
        </p:nvSpPr>
        <p:spPr>
          <a:xfrm>
            <a:off x="457197" y="3507830"/>
            <a:ext cx="7772400" cy="2944368"/>
          </a:xfrm>
        </p:spPr>
        <p:txBody>
          <a:bodyPr anchor="b">
            <a:normAutofit/>
          </a:bodyPr>
          <a:lstStyle/>
          <a:p>
            <a:r>
              <a:rPr lang="en-US"/>
              <a:t>Introduction and Context</a:t>
            </a:r>
          </a:p>
        </p:txBody>
      </p:sp>
    </p:spTree>
    <p:extLst>
      <p:ext uri="{BB962C8B-B14F-4D97-AF65-F5344CB8AC3E}">
        <p14:creationId xmlns:p14="http://schemas.microsoft.com/office/powerpoint/2010/main" val="5456334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0D632-F71F-20D6-536C-C5CD17A48A26}"/>
              </a:ext>
            </a:extLst>
          </p:cNvPr>
          <p:cNvSpPr>
            <a:spLocks noGrp="1"/>
          </p:cNvSpPr>
          <p:nvPr>
            <p:ph type="title"/>
          </p:nvPr>
        </p:nvSpPr>
        <p:spPr>
          <a:xfrm>
            <a:off x="457200" y="457200"/>
            <a:ext cx="4380272" cy="1453896"/>
          </a:xfrm>
        </p:spPr>
        <p:txBody>
          <a:bodyPr anchor="t">
            <a:normAutofit/>
          </a:bodyPr>
          <a:lstStyle/>
          <a:p>
            <a:r>
              <a:rPr lang="en-US"/>
              <a:t>ShopKart Automation Framework Overview</a:t>
            </a:r>
          </a:p>
        </p:txBody>
      </p:sp>
      <p:pic>
        <p:nvPicPr>
          <p:cNvPr id="5" name="Content Placeholder 4" descr="Female drawing flow chart">
            <a:extLst>
              <a:ext uri="{FF2B5EF4-FFF2-40B4-BE49-F238E27FC236}">
                <a16:creationId xmlns:a16="http://schemas.microsoft.com/office/drawing/2014/main" id="{D1E297D9-AF5A-419B-86BC-DA5359D1701E}"/>
              </a:ext>
            </a:extLst>
          </p:cNvPr>
          <p:cNvPicPr>
            <a:picLocks noGrp="1" noChangeAspect="1"/>
          </p:cNvPicPr>
          <p:nvPr>
            <p:ph type="pic" sz="quarter" idx="13"/>
          </p:nvPr>
        </p:nvPicPr>
        <p:blipFill>
          <a:blip r:embed="rId3"/>
          <a:srcRect l="8761" r="13126" b="2"/>
          <a:stretch>
            <a:fillRect/>
          </a:stretch>
        </p:blipFill>
        <p:spPr>
          <a:xfrm>
            <a:off x="20" y="2175642"/>
            <a:ext cx="5584186" cy="4682358"/>
          </a:xfrm>
        </p:spPr>
      </p:pic>
      <p:sp>
        <p:nvSpPr>
          <p:cNvPr id="4" name="Content Placeholder 3">
            <a:extLst>
              <a:ext uri="{FF2B5EF4-FFF2-40B4-BE49-F238E27FC236}">
                <a16:creationId xmlns:a16="http://schemas.microsoft.com/office/drawing/2014/main" id="{7905008E-5DBC-7E7A-FBE4-D831D55C6C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lvl="0" indent="0">
              <a:spcBef>
                <a:spcPts val="2500"/>
              </a:spcBef>
              <a:buFont typeface="Arial" panose="020B0604020202020204" pitchFamily="34" charset="0"/>
              <a:buNone/>
            </a:pPr>
            <a:r>
              <a:rPr lang="en-US" b="1"/>
              <a:t>UI and API Testing Technologies</a:t>
            </a:r>
          </a:p>
          <a:p>
            <a:pPr marL="0" lvl="1" indent="0">
              <a:buFont typeface="Arial" panose="020B0604020202020204" pitchFamily="34" charset="0"/>
              <a:buNone/>
            </a:pPr>
            <a:r>
              <a:rPr lang="en-US"/>
              <a:t>The framework integrates Selenide for UI testing and REST Assured for validating backend REST APIs.</a:t>
            </a:r>
          </a:p>
          <a:p>
            <a:pPr marL="0" lvl="0" indent="0">
              <a:spcBef>
                <a:spcPts val="2500"/>
              </a:spcBef>
              <a:buFont typeface="Arial" panose="020B0604020202020204" pitchFamily="34" charset="0"/>
              <a:buNone/>
            </a:pPr>
            <a:r>
              <a:rPr lang="en-US" b="1"/>
              <a:t>Maintainability with Page Object Model</a:t>
            </a:r>
          </a:p>
          <a:p>
            <a:pPr marL="0" lvl="1" indent="0">
              <a:buFont typeface="Arial" panose="020B0604020202020204" pitchFamily="34" charset="0"/>
              <a:buNone/>
            </a:pPr>
            <a:r>
              <a:rPr lang="en-US"/>
              <a:t>Maintainability is ensured by applying the Page Object Model design pattern for clear test structure.</a:t>
            </a:r>
          </a:p>
          <a:p>
            <a:pPr marL="0" lvl="0" indent="0">
              <a:spcBef>
                <a:spcPts val="2500"/>
              </a:spcBef>
              <a:buFont typeface="Arial" panose="020B0604020202020204" pitchFamily="34" charset="0"/>
              <a:buNone/>
            </a:pPr>
            <a:r>
              <a:rPr lang="en-US" b="1"/>
              <a:t>Reliability and Synchronization</a:t>
            </a:r>
          </a:p>
          <a:p>
            <a:pPr marL="0" lvl="1" indent="0">
              <a:buFont typeface="Arial" panose="020B0604020202020204" pitchFamily="34" charset="0"/>
              <a:buNone/>
            </a:pPr>
            <a:r>
              <a:rPr lang="en-US"/>
              <a:t>Explicit synchronization strategies are used to enhance test reliability and reduce flaky results.</a:t>
            </a:r>
          </a:p>
          <a:p>
            <a:pPr marL="0" lvl="0" indent="0">
              <a:spcBef>
                <a:spcPts val="2500"/>
              </a:spcBef>
              <a:buFont typeface="Arial" panose="020B0604020202020204" pitchFamily="34" charset="0"/>
              <a:buNone/>
            </a:pPr>
            <a:r>
              <a:rPr lang="en-US" b="1"/>
              <a:t>Visibility through Rich Reporting</a:t>
            </a:r>
          </a:p>
          <a:p>
            <a:pPr marL="0" lvl="1" indent="0">
              <a:buFont typeface="Arial" panose="020B0604020202020204" pitchFamily="34" charset="0"/>
              <a:buNone/>
            </a:pPr>
            <a:r>
              <a:rPr lang="en-US"/>
              <a:t>Rich Allure reporting provides comprehensive visibility into test execution and results.</a:t>
            </a:r>
          </a:p>
        </p:txBody>
      </p:sp>
    </p:spTree>
    <p:extLst>
      <p:ext uri="{BB962C8B-B14F-4D97-AF65-F5344CB8AC3E}">
        <p14:creationId xmlns:p14="http://schemas.microsoft.com/office/powerpoint/2010/main" val="26307307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0F6A-38DE-0CD1-02A4-70C0F9D70DEF}"/>
              </a:ext>
            </a:extLst>
          </p:cNvPr>
          <p:cNvSpPr>
            <a:spLocks noGrp="1"/>
          </p:cNvSpPr>
          <p:nvPr>
            <p:ph type="ctrTitle"/>
          </p:nvPr>
        </p:nvSpPr>
        <p:spPr>
          <a:xfrm>
            <a:off x="457197" y="3507830"/>
            <a:ext cx="7772400" cy="2944368"/>
          </a:xfrm>
        </p:spPr>
        <p:txBody>
          <a:bodyPr anchor="b">
            <a:normAutofit/>
          </a:bodyPr>
          <a:lstStyle/>
          <a:p>
            <a:r>
              <a:rPr lang="en-US"/>
              <a:t>Technology Stack</a:t>
            </a:r>
          </a:p>
        </p:txBody>
      </p:sp>
    </p:spTree>
    <p:extLst>
      <p:ext uri="{BB962C8B-B14F-4D97-AF65-F5344CB8AC3E}">
        <p14:creationId xmlns:p14="http://schemas.microsoft.com/office/powerpoint/2010/main" val="20995736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C9FB1-9CA5-9334-947A-7F3B27BF84D6}"/>
              </a:ext>
            </a:extLst>
          </p:cNvPr>
          <p:cNvSpPr>
            <a:spLocks noGrp="1"/>
          </p:cNvSpPr>
          <p:nvPr>
            <p:ph type="title"/>
          </p:nvPr>
        </p:nvSpPr>
        <p:spPr>
          <a:xfrm>
            <a:off x="457199" y="457200"/>
            <a:ext cx="4482573" cy="1453896"/>
          </a:xfrm>
        </p:spPr>
        <p:txBody>
          <a:bodyPr anchor="t">
            <a:normAutofit/>
          </a:bodyPr>
          <a:lstStyle/>
          <a:p>
            <a:r>
              <a:rPr lang="en-US"/>
              <a:t>Core Tools and Libraries</a:t>
            </a:r>
          </a:p>
        </p:txBody>
      </p:sp>
      <p:pic>
        <p:nvPicPr>
          <p:cNvPr id="5" name="Content Placeholder 4" descr="Biomedical engineering robot in a lab">
            <a:extLst>
              <a:ext uri="{FF2B5EF4-FFF2-40B4-BE49-F238E27FC236}">
                <a16:creationId xmlns:a16="http://schemas.microsoft.com/office/drawing/2014/main" id="{66365F7B-729B-4A5E-9165-85EED0FB5577}"/>
              </a:ext>
            </a:extLst>
          </p:cNvPr>
          <p:cNvPicPr>
            <a:picLocks noGrp="1" noChangeAspect="1"/>
          </p:cNvPicPr>
          <p:nvPr>
            <p:ph type="pic" sz="quarter" idx="13"/>
          </p:nvPr>
        </p:nvPicPr>
        <p:blipFill>
          <a:blip r:embed="rId3"/>
          <a:srcRect l="4467" r="24651"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E24AA9BA-6975-31BC-F8CC-5367DB6FE63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lvl="0" indent="0">
              <a:spcBef>
                <a:spcPts val="2500"/>
              </a:spcBef>
              <a:buFont typeface="Arial" panose="020B0604020202020204" pitchFamily="34" charset="0"/>
              <a:buNone/>
            </a:pPr>
            <a:r>
              <a:rPr lang="en-US" b="1"/>
              <a:t>Programming and Build Tools</a:t>
            </a:r>
          </a:p>
          <a:p>
            <a:pPr marL="0" lvl="1" indent="0">
              <a:buFont typeface="Arial" panose="020B0604020202020204" pitchFamily="34" charset="0"/>
              <a:buNone/>
            </a:pPr>
            <a:r>
              <a:rPr lang="en-US"/>
              <a:t>The framework is developed using Java 22 and managed with Gradle, ensuring efficient build automation and dependency management.</a:t>
            </a:r>
          </a:p>
          <a:p>
            <a:pPr marL="0" lvl="0" indent="0">
              <a:spcBef>
                <a:spcPts val="2500"/>
              </a:spcBef>
              <a:buFont typeface="Arial" panose="020B0604020202020204" pitchFamily="34" charset="0"/>
              <a:buNone/>
            </a:pPr>
            <a:r>
              <a:rPr lang="en-US" b="1"/>
              <a:t>Testing Frameworks</a:t>
            </a:r>
          </a:p>
          <a:p>
            <a:pPr marL="0" lvl="1" indent="0">
              <a:buFont typeface="Arial" panose="020B0604020202020204" pitchFamily="34" charset="0"/>
              <a:buNone/>
            </a:pPr>
            <a:r>
              <a:rPr lang="en-US"/>
              <a:t>JUnit 5 executes tests with modern features, while Selenide simplifies browser automation on Selenium WebDriver.</a:t>
            </a:r>
          </a:p>
          <a:p>
            <a:pPr marL="0" lvl="0" indent="0">
              <a:spcBef>
                <a:spcPts val="2500"/>
              </a:spcBef>
              <a:buFont typeface="Arial" panose="020B0604020202020204" pitchFamily="34" charset="0"/>
              <a:buNone/>
            </a:pPr>
            <a:r>
              <a:rPr lang="en-US" b="1"/>
              <a:t>API Testing and Reporting</a:t>
            </a:r>
          </a:p>
          <a:p>
            <a:pPr marL="0" lvl="1" indent="0">
              <a:buFont typeface="Arial" panose="020B0604020202020204" pitchFamily="34" charset="0"/>
              <a:buNone/>
            </a:pPr>
            <a:r>
              <a:rPr lang="en-US"/>
              <a:t>REST Assured enables expressive API validation, and Allure generates detailed reports with execution steps and trends.</a:t>
            </a:r>
          </a:p>
          <a:p>
            <a:pPr marL="0" lvl="0" indent="0">
              <a:spcBef>
                <a:spcPts val="2500"/>
              </a:spcBef>
              <a:buFont typeface="Arial" panose="020B0604020202020204" pitchFamily="34" charset="0"/>
              <a:buNone/>
            </a:pPr>
            <a:r>
              <a:rPr lang="en-US" b="1"/>
              <a:t>Continuous Integration and Publishing</a:t>
            </a:r>
          </a:p>
          <a:p>
            <a:pPr marL="0" lvl="1" indent="0">
              <a:buFont typeface="Arial" panose="020B0604020202020204" pitchFamily="34" charset="0"/>
              <a:buNone/>
            </a:pPr>
            <a:r>
              <a:rPr lang="en-US"/>
              <a:t>GitHub Actions automates CI pipelines, while GitHub Pages hosts Allure reports for stakeholder access.</a:t>
            </a:r>
          </a:p>
        </p:txBody>
      </p:sp>
    </p:spTree>
    <p:extLst>
      <p:ext uri="{BB962C8B-B14F-4D97-AF65-F5344CB8AC3E}">
        <p14:creationId xmlns:p14="http://schemas.microsoft.com/office/powerpoint/2010/main" val="3592412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E6F2E-E328-626A-3E96-891053F8AC27}"/>
              </a:ext>
            </a:extLst>
          </p:cNvPr>
          <p:cNvSpPr>
            <a:spLocks noGrp="1"/>
          </p:cNvSpPr>
          <p:nvPr>
            <p:ph type="ctrTitle"/>
          </p:nvPr>
        </p:nvSpPr>
        <p:spPr>
          <a:xfrm>
            <a:off x="457197" y="3507830"/>
            <a:ext cx="7772400" cy="2944368"/>
          </a:xfrm>
        </p:spPr>
        <p:txBody>
          <a:bodyPr anchor="b">
            <a:normAutofit/>
          </a:bodyPr>
          <a:lstStyle/>
          <a:p>
            <a:r>
              <a:rPr lang="en-US"/>
              <a:t>UI Automation with Selenide</a:t>
            </a:r>
          </a:p>
        </p:txBody>
      </p:sp>
    </p:spTree>
    <p:extLst>
      <p:ext uri="{BB962C8B-B14F-4D97-AF65-F5344CB8AC3E}">
        <p14:creationId xmlns:p14="http://schemas.microsoft.com/office/powerpoint/2010/main" val="4002256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8F2DD-B14B-80A4-4114-BF6A60412890}"/>
              </a:ext>
            </a:extLst>
          </p:cNvPr>
          <p:cNvSpPr>
            <a:spLocks noGrp="1"/>
          </p:cNvSpPr>
          <p:nvPr>
            <p:ph type="title"/>
          </p:nvPr>
        </p:nvSpPr>
        <p:spPr>
          <a:xfrm>
            <a:off x="457200" y="438912"/>
            <a:ext cx="6249032" cy="987552"/>
          </a:xfrm>
        </p:spPr>
        <p:txBody>
          <a:bodyPr anchor="b">
            <a:normAutofit/>
          </a:bodyPr>
          <a:lstStyle/>
          <a:p>
            <a:r>
              <a:rPr lang="en-US"/>
              <a:t>End-to-End UI Workflow</a:t>
            </a:r>
          </a:p>
        </p:txBody>
      </p:sp>
      <p:sp>
        <p:nvSpPr>
          <p:cNvPr id="4" name="Content Placeholder 3">
            <a:extLst>
              <a:ext uri="{FF2B5EF4-FFF2-40B4-BE49-F238E27FC236}">
                <a16:creationId xmlns:a16="http://schemas.microsoft.com/office/drawing/2014/main" id="{47D58AEB-1372-1134-5865-B95424C02A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2031143"/>
            <a:ext cx="6249032" cy="4203402"/>
          </a:xfrm>
        </p:spPr>
        <p:txBody>
          <a:bodyPr>
            <a:normAutofit/>
          </a:bodyPr>
          <a:lstStyle/>
          <a:p>
            <a:pPr marL="0" lvl="0" indent="0">
              <a:spcBef>
                <a:spcPts val="2500"/>
              </a:spcBef>
              <a:buFont typeface="Arial" panose="020B0604020202020204" pitchFamily="34" charset="0"/>
              <a:buNone/>
            </a:pPr>
            <a:r>
              <a:rPr lang="en-US" b="1"/>
              <a:t>Primary User Journey</a:t>
            </a:r>
          </a:p>
          <a:p>
            <a:pPr marL="0" lvl="1" indent="0">
              <a:buFont typeface="Arial" panose="020B0604020202020204" pitchFamily="34" charset="0"/>
              <a:buNone/>
            </a:pPr>
            <a:r>
              <a:rPr lang="en-US"/>
              <a:t>Automation covers login, product search, cart management, checkout, and order placement mimicking real user behavior.</a:t>
            </a:r>
          </a:p>
          <a:p>
            <a:pPr marL="0" lvl="0" indent="0">
              <a:spcBef>
                <a:spcPts val="2500"/>
              </a:spcBef>
              <a:buFont typeface="Arial" panose="020B0604020202020204" pitchFamily="34" charset="0"/>
              <a:buNone/>
            </a:pPr>
            <a:r>
              <a:rPr lang="en-US" b="1"/>
              <a:t>Automation with Selenide</a:t>
            </a:r>
          </a:p>
          <a:p>
            <a:pPr marL="0" lvl="1" indent="0">
              <a:buFont typeface="Arial" panose="020B0604020202020204" pitchFamily="34" charset="0"/>
              <a:buNone/>
            </a:pPr>
            <a:r>
              <a:rPr lang="en-US"/>
              <a:t>Selenide framework ensures readable, stable tests resilient to asynchronous UI updates.</a:t>
            </a:r>
          </a:p>
          <a:p>
            <a:pPr marL="0" lvl="0" indent="0">
              <a:spcBef>
                <a:spcPts val="2500"/>
              </a:spcBef>
              <a:buFont typeface="Arial" panose="020B0604020202020204" pitchFamily="34" charset="0"/>
              <a:buNone/>
            </a:pPr>
            <a:r>
              <a:rPr lang="en-US" b="1"/>
              <a:t>Assertions and Validation</a:t>
            </a:r>
          </a:p>
          <a:p>
            <a:pPr marL="0" lvl="1" indent="0">
              <a:buFont typeface="Arial" panose="020B0604020202020204" pitchFamily="34" charset="0"/>
              <a:buNone/>
            </a:pPr>
            <a:r>
              <a:rPr lang="en-US"/>
              <a:t>Meaningful assertions verify the application state aligns with business expectations at each flow stage.</a:t>
            </a:r>
          </a:p>
        </p:txBody>
      </p:sp>
      <p:pic>
        <p:nvPicPr>
          <p:cNvPr id="5" name="Content Placeholder 4" descr="Currency converter app on smart phone screen, home interior. Hand holding phone, desktop shot.">
            <a:extLst>
              <a:ext uri="{FF2B5EF4-FFF2-40B4-BE49-F238E27FC236}">
                <a16:creationId xmlns:a16="http://schemas.microsoft.com/office/drawing/2014/main" id="{8F471FC1-55B1-488A-8BBC-515A5427CD8E}"/>
              </a:ext>
            </a:extLst>
          </p:cNvPr>
          <p:cNvPicPr>
            <a:picLocks noGrp="1" noChangeAspect="1"/>
          </p:cNvPicPr>
          <p:nvPr>
            <p:ph type="pic" sz="quarter" idx="13"/>
          </p:nvPr>
        </p:nvPicPr>
        <p:blipFill>
          <a:blip r:embed="rId3"/>
          <a:srcRect l="27905" r="25458" b="-1"/>
          <a:stretch>
            <a:fillRect/>
          </a:stretch>
        </p:blipFill>
        <p:spPr>
          <a:xfrm>
            <a:off x="7400544" y="10"/>
            <a:ext cx="4791456" cy="6857990"/>
          </a:xfrm>
        </p:spPr>
      </p:pic>
    </p:spTree>
    <p:extLst>
      <p:ext uri="{BB962C8B-B14F-4D97-AF65-F5344CB8AC3E}">
        <p14:creationId xmlns:p14="http://schemas.microsoft.com/office/powerpoint/2010/main" val="35824404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63D1D-794A-8298-5BD0-D20BE92B7785}"/>
              </a:ext>
            </a:extLst>
          </p:cNvPr>
          <p:cNvSpPr>
            <a:spLocks noGrp="1"/>
          </p:cNvSpPr>
          <p:nvPr>
            <p:ph type="title"/>
          </p:nvPr>
        </p:nvSpPr>
        <p:spPr>
          <a:xfrm>
            <a:off x="7242526" y="457200"/>
            <a:ext cx="4437283" cy="1410020"/>
          </a:xfrm>
        </p:spPr>
        <p:txBody>
          <a:bodyPr anchor="b">
            <a:normAutofit/>
          </a:bodyPr>
          <a:lstStyle/>
          <a:p>
            <a:r>
              <a:rPr lang="en-US"/>
              <a:t>Page Object Model Design</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DE64B52B-AAD0-46C3-B701-DB4AACEE2309}"/>
              </a:ext>
            </a:extLst>
          </p:cNvPr>
          <p:cNvPicPr>
            <a:picLocks noGrp="1" noChangeAspect="1"/>
          </p:cNvPicPr>
          <p:nvPr>
            <p:ph type="pic" sz="quarter" idx="13"/>
          </p:nvPr>
        </p:nvPicPr>
        <p:blipFill>
          <a:blip r:embed="rId3"/>
          <a:srcRect l="10403" r="24179" b="-1"/>
          <a:stretch>
            <a:fillRect/>
          </a:stretch>
        </p:blipFill>
        <p:spPr>
          <a:xfrm>
            <a:off x="20" y="10"/>
            <a:ext cx="6721048" cy="6857990"/>
          </a:xfrm>
        </p:spPr>
      </p:pic>
      <p:sp>
        <p:nvSpPr>
          <p:cNvPr id="4" name="Content Placeholder 3">
            <a:extLst>
              <a:ext uri="{FF2B5EF4-FFF2-40B4-BE49-F238E27FC236}">
                <a16:creationId xmlns:a16="http://schemas.microsoft.com/office/drawing/2014/main" id="{2D97B549-1FB3-3FD0-D61A-62975D8A4F8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lvl="0" indent="0">
              <a:spcBef>
                <a:spcPts val="2500"/>
              </a:spcBef>
              <a:buFont typeface="Arial" panose="020B0604020202020204" pitchFamily="34" charset="0"/>
              <a:buNone/>
            </a:pPr>
            <a:r>
              <a:rPr lang="en-US" b="1"/>
              <a:t>Page Object Model Structure</a:t>
            </a:r>
          </a:p>
          <a:p>
            <a:pPr marL="0" lvl="1" indent="0">
              <a:buFont typeface="Arial" panose="020B0604020202020204" pitchFamily="34" charset="0"/>
              <a:buNone/>
            </a:pPr>
            <a:r>
              <a:rPr lang="en-US"/>
              <a:t>The framework uses page classes to encapsulate UI locators and interactions for modular design.</a:t>
            </a:r>
          </a:p>
          <a:p>
            <a:pPr marL="0" lvl="0" indent="0">
              <a:spcBef>
                <a:spcPts val="2500"/>
              </a:spcBef>
              <a:buFont typeface="Arial" panose="020B0604020202020204" pitchFamily="34" charset="0"/>
              <a:buNone/>
            </a:pPr>
            <a:r>
              <a:rPr lang="en-US" b="1"/>
              <a:t>Test Interaction Abstraction</a:t>
            </a:r>
          </a:p>
          <a:p>
            <a:pPr marL="0" lvl="1" indent="0">
              <a:buFont typeface="Arial" panose="020B0604020202020204" pitchFamily="34" charset="0"/>
              <a:buNone/>
            </a:pPr>
            <a:r>
              <a:rPr lang="en-US"/>
              <a:t>Tests interact only with page-level abstractions, avoiding direct selector usage to improve clarity.</a:t>
            </a:r>
          </a:p>
          <a:p>
            <a:pPr marL="0" lvl="0" indent="0">
              <a:spcBef>
                <a:spcPts val="2500"/>
              </a:spcBef>
              <a:buFont typeface="Arial" panose="020B0604020202020204" pitchFamily="34" charset="0"/>
              <a:buNone/>
            </a:pPr>
            <a:r>
              <a:rPr lang="en-US" b="1"/>
              <a:t>Centralized Verification Methods</a:t>
            </a:r>
          </a:p>
          <a:p>
            <a:pPr marL="0" lvl="1" indent="0">
              <a:buFont typeface="Arial" panose="020B0604020202020204" pitchFamily="34" charset="0"/>
              <a:buNone/>
            </a:pPr>
            <a:r>
              <a:rPr lang="en-US"/>
              <a:t>Verification methods in page classes centralize assertions, ensuring clear workflow and behavior separation.</a:t>
            </a:r>
          </a:p>
        </p:txBody>
      </p:sp>
    </p:spTree>
    <p:extLst>
      <p:ext uri="{BB962C8B-B14F-4D97-AF65-F5344CB8AC3E}">
        <p14:creationId xmlns:p14="http://schemas.microsoft.com/office/powerpoint/2010/main" val="24225380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60B68-FED5-6637-E3D0-474BFCEB619C}"/>
              </a:ext>
            </a:extLst>
          </p:cNvPr>
          <p:cNvSpPr>
            <a:spLocks noGrp="1"/>
          </p:cNvSpPr>
          <p:nvPr>
            <p:ph type="ctrTitle"/>
          </p:nvPr>
        </p:nvSpPr>
        <p:spPr>
          <a:xfrm>
            <a:off x="457197" y="3507830"/>
            <a:ext cx="7772400" cy="2944368"/>
          </a:xfrm>
        </p:spPr>
        <p:txBody>
          <a:bodyPr anchor="b">
            <a:normAutofit/>
          </a:bodyPr>
          <a:lstStyle/>
          <a:p>
            <a:r>
              <a:rPr lang="en-US" sz="6800"/>
              <a:t>Synchronization Challenges and Solutions</a:t>
            </a:r>
          </a:p>
        </p:txBody>
      </p:sp>
    </p:spTree>
    <p:extLst>
      <p:ext uri="{BB962C8B-B14F-4D97-AF65-F5344CB8AC3E}">
        <p14:creationId xmlns:p14="http://schemas.microsoft.com/office/powerpoint/2010/main" val="34022868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FF715-D032-2C66-8C39-A890133C6556}"/>
              </a:ext>
            </a:extLst>
          </p:cNvPr>
          <p:cNvSpPr>
            <a:spLocks noGrp="1"/>
          </p:cNvSpPr>
          <p:nvPr>
            <p:ph type="title"/>
          </p:nvPr>
        </p:nvSpPr>
        <p:spPr>
          <a:xfrm>
            <a:off x="7242526" y="457200"/>
            <a:ext cx="4437283" cy="1410020"/>
          </a:xfrm>
        </p:spPr>
        <p:txBody>
          <a:bodyPr anchor="b">
            <a:normAutofit/>
          </a:bodyPr>
          <a:lstStyle/>
          <a:p>
            <a:r>
              <a:rPr lang="en-US"/>
              <a:t>Asynchronous Cart Loading Issue</a:t>
            </a:r>
          </a:p>
        </p:txBody>
      </p:sp>
      <p:pic>
        <p:nvPicPr>
          <p:cNvPr id="5" name="Content Placeholder 4" descr="Digital Marketing">
            <a:extLst>
              <a:ext uri="{FF2B5EF4-FFF2-40B4-BE49-F238E27FC236}">
                <a16:creationId xmlns:a16="http://schemas.microsoft.com/office/drawing/2014/main" id="{BE630A0A-3ED3-4F8C-85CC-36A32BC668B8}"/>
              </a:ext>
            </a:extLst>
          </p:cNvPr>
          <p:cNvPicPr>
            <a:picLocks noGrp="1" noChangeAspect="1"/>
          </p:cNvPicPr>
          <p:nvPr>
            <p:ph type="pic" sz="quarter" idx="13"/>
          </p:nvPr>
        </p:nvPicPr>
        <p:blipFill>
          <a:blip r:embed="rId3"/>
          <a:srcRect r="26498"/>
          <a:stretch>
            <a:fillRect/>
          </a:stretch>
        </p:blipFill>
        <p:spPr>
          <a:xfrm>
            <a:off x="20" y="10"/>
            <a:ext cx="6721048" cy="6857990"/>
          </a:xfrm>
        </p:spPr>
      </p:pic>
      <p:sp>
        <p:nvSpPr>
          <p:cNvPr id="4" name="Content Placeholder 3">
            <a:extLst>
              <a:ext uri="{FF2B5EF4-FFF2-40B4-BE49-F238E27FC236}">
                <a16:creationId xmlns:a16="http://schemas.microsoft.com/office/drawing/2014/main" id="{559B37AF-A003-84D3-21D5-DE1E32B3B0C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lvl="0" indent="0">
              <a:spcBef>
                <a:spcPts val="2500"/>
              </a:spcBef>
              <a:buFont typeface="Arial" panose="020B0604020202020204" pitchFamily="34" charset="0"/>
              <a:buNone/>
            </a:pPr>
            <a:r>
              <a:rPr lang="en-US" b="1"/>
              <a:t>Asynchronous Loading Behavior</a:t>
            </a:r>
          </a:p>
          <a:p>
            <a:pPr marL="0" lvl="1" indent="0">
              <a:buFont typeface="Arial" panose="020B0604020202020204" pitchFamily="34" charset="0"/>
              <a:buNone/>
            </a:pPr>
            <a:r>
              <a:rPr lang="en-US"/>
              <a:t>The cart page initially shows an empty state before loading item rows asynchronously after product addition.</a:t>
            </a:r>
          </a:p>
          <a:p>
            <a:pPr marL="0" lvl="0" indent="0">
              <a:spcBef>
                <a:spcPts val="2500"/>
              </a:spcBef>
              <a:buFont typeface="Arial" panose="020B0604020202020204" pitchFamily="34" charset="0"/>
              <a:buNone/>
            </a:pPr>
            <a:r>
              <a:rPr lang="en-US" b="1"/>
              <a:t>Early Verification Flaw</a:t>
            </a:r>
          </a:p>
          <a:p>
            <a:pPr marL="0" lvl="1" indent="0">
              <a:buFont typeface="Arial" panose="020B0604020202020204" pitchFamily="34" charset="0"/>
              <a:buNone/>
            </a:pPr>
            <a:r>
              <a:rPr lang="en-US"/>
              <a:t>Checking only page headings caused tests to proceed before cart data was fully loaded, causing test flakiness.</a:t>
            </a:r>
          </a:p>
          <a:p>
            <a:pPr marL="0" lvl="0" indent="0">
              <a:spcBef>
                <a:spcPts val="2500"/>
              </a:spcBef>
              <a:buFont typeface="Arial" panose="020B0604020202020204" pitchFamily="34" charset="0"/>
              <a:buNone/>
            </a:pPr>
            <a:r>
              <a:rPr lang="en-US" b="1"/>
              <a:t>Synchronization on Business Data</a:t>
            </a:r>
          </a:p>
          <a:p>
            <a:pPr marL="0" lvl="1" indent="0">
              <a:buFont typeface="Arial" panose="020B0604020202020204" pitchFamily="34" charset="0"/>
              <a:buNone/>
            </a:pPr>
            <a:r>
              <a:rPr lang="en-US"/>
              <a:t>Synchronizing tests on actual cart data rather than static elements is critical to avoid flaky failures during checkout.</a:t>
            </a:r>
          </a:p>
        </p:txBody>
      </p:sp>
    </p:spTree>
    <p:extLst>
      <p:ext uri="{BB962C8B-B14F-4D97-AF65-F5344CB8AC3E}">
        <p14:creationId xmlns:p14="http://schemas.microsoft.com/office/powerpoint/2010/main" val="16689173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0D40F-EB76-5448-1304-23EA8A44E0FB}"/>
              </a:ext>
            </a:extLst>
          </p:cNvPr>
          <p:cNvSpPr>
            <a:spLocks noGrp="1"/>
          </p:cNvSpPr>
          <p:nvPr>
            <p:ph type="title"/>
          </p:nvPr>
        </p:nvSpPr>
        <p:spPr>
          <a:xfrm>
            <a:off x="457200" y="457200"/>
            <a:ext cx="4380272" cy="1453896"/>
          </a:xfrm>
        </p:spPr>
        <p:txBody>
          <a:bodyPr anchor="t">
            <a:normAutofit/>
          </a:bodyPr>
          <a:lstStyle/>
          <a:p>
            <a:r>
              <a:rPr lang="en-US"/>
              <a:t>Robust Synchronization Strategy</a:t>
            </a:r>
          </a:p>
        </p:txBody>
      </p:sp>
      <p:pic>
        <p:nvPicPr>
          <p:cNvPr id="5" name="Content Placeholder 4" descr="dry sea cucumber on black plate">
            <a:extLst>
              <a:ext uri="{FF2B5EF4-FFF2-40B4-BE49-F238E27FC236}">
                <a16:creationId xmlns:a16="http://schemas.microsoft.com/office/drawing/2014/main" id="{016EF735-EC2D-4D7D-8616-55EA739959D3}"/>
              </a:ext>
            </a:extLst>
          </p:cNvPr>
          <p:cNvPicPr>
            <a:picLocks noGrp="1" noChangeAspect="1"/>
          </p:cNvPicPr>
          <p:nvPr>
            <p:ph type="pic" sz="quarter" idx="13"/>
          </p:nvPr>
        </p:nvPicPr>
        <p:blipFill>
          <a:blip r:embed="rId3"/>
          <a:srcRect l="4442" r="11479"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87A702E4-7807-677F-0C8B-97956027C85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lvl="0" indent="0">
              <a:spcBef>
                <a:spcPts val="2500"/>
              </a:spcBef>
              <a:buFont typeface="Arial" panose="020B0604020202020204" pitchFamily="34" charset="0"/>
              <a:buNone/>
            </a:pPr>
            <a:r>
              <a:rPr lang="en-US" b="1"/>
              <a:t>Explicit Waiting Using Conditions</a:t>
            </a:r>
          </a:p>
          <a:p>
            <a:pPr marL="0" lvl="1" indent="0">
              <a:buFont typeface="Arial" panose="020B0604020202020204" pitchFamily="34" charset="0"/>
              <a:buNone/>
            </a:pPr>
            <a:r>
              <a:rPr lang="en-US"/>
              <a:t>Waiting explicitly for UI elements like cart item rows using conditions improves test stability and accuracy.</a:t>
            </a:r>
          </a:p>
          <a:p>
            <a:pPr marL="0" lvl="0" indent="0">
              <a:spcBef>
                <a:spcPts val="2500"/>
              </a:spcBef>
              <a:buFont typeface="Arial" panose="020B0604020202020204" pitchFamily="34" charset="0"/>
              <a:buNone/>
            </a:pPr>
            <a:r>
              <a:rPr lang="en-US" b="1"/>
              <a:t>Avoiding Arbitrary Delays</a:t>
            </a:r>
          </a:p>
          <a:p>
            <a:pPr marL="0" lvl="1" indent="0">
              <a:buFont typeface="Arial" panose="020B0604020202020204" pitchFamily="34" charset="0"/>
              <a:buNone/>
            </a:pPr>
            <a:r>
              <a:rPr lang="en-US"/>
              <a:t>Synchronizing on actual UI data prevents unreliable waits like Thread.sleep and arbitrary delays in tests.</a:t>
            </a:r>
          </a:p>
          <a:p>
            <a:pPr marL="0" lvl="0" indent="0">
              <a:spcBef>
                <a:spcPts val="2500"/>
              </a:spcBef>
              <a:buFont typeface="Arial" panose="020B0604020202020204" pitchFamily="34" charset="0"/>
              <a:buNone/>
            </a:pPr>
            <a:r>
              <a:rPr lang="en-US" b="1"/>
              <a:t>Consistent Synchronization Pattern</a:t>
            </a:r>
          </a:p>
          <a:p>
            <a:pPr marL="0" lvl="1" indent="0">
              <a:buFont typeface="Arial" panose="020B0604020202020204" pitchFamily="34" charset="0"/>
              <a:buNone/>
            </a:pPr>
            <a:r>
              <a:rPr lang="en-US"/>
              <a:t>Applying this synchronization approach consistently across catalog, cart, and checkout ensures deterministic test outcomes.</a:t>
            </a:r>
          </a:p>
          <a:p>
            <a:pPr marL="0" lvl="0" indent="0">
              <a:spcBef>
                <a:spcPts val="2500"/>
              </a:spcBef>
              <a:buFont typeface="Arial" panose="020B0604020202020204" pitchFamily="34" charset="0"/>
              <a:buNone/>
            </a:pPr>
            <a:r>
              <a:rPr lang="en-US" b="1"/>
              <a:t>Best Practice for Async UIs</a:t>
            </a:r>
          </a:p>
          <a:p>
            <a:pPr marL="0" lvl="1" indent="0">
              <a:buFont typeface="Arial" panose="020B0604020202020204" pitchFamily="34" charset="0"/>
              <a:buNone/>
            </a:pPr>
            <a:r>
              <a:rPr lang="en-US"/>
              <a:t>This strategy exemplifies best practices for handling asynchronous user interfaces in automated testing frameworks.</a:t>
            </a:r>
          </a:p>
        </p:txBody>
      </p:sp>
    </p:spTree>
    <p:extLst>
      <p:ext uri="{BB962C8B-B14F-4D97-AF65-F5344CB8AC3E}">
        <p14:creationId xmlns:p14="http://schemas.microsoft.com/office/powerpoint/2010/main" val="1676538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3E2E3-B805-A5F9-C758-6F2ED9762F08}"/>
              </a:ext>
            </a:extLst>
          </p:cNvPr>
          <p:cNvSpPr>
            <a:spLocks noGrp="1"/>
          </p:cNvSpPr>
          <p:nvPr>
            <p:ph type="ctrTitle"/>
          </p:nvPr>
        </p:nvSpPr>
        <p:spPr>
          <a:xfrm>
            <a:off x="457197" y="3507830"/>
            <a:ext cx="7772400" cy="2944368"/>
          </a:xfrm>
        </p:spPr>
        <p:txBody>
          <a:bodyPr anchor="b">
            <a:normAutofit/>
          </a:bodyPr>
          <a:lstStyle/>
          <a:p>
            <a:r>
              <a:rPr lang="en-US" sz="7400"/>
              <a:t>API Automation with REST Assured</a:t>
            </a:r>
          </a:p>
        </p:txBody>
      </p:sp>
    </p:spTree>
    <p:extLst>
      <p:ext uri="{BB962C8B-B14F-4D97-AF65-F5344CB8AC3E}">
        <p14:creationId xmlns:p14="http://schemas.microsoft.com/office/powerpoint/2010/main" val="33697294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2270-05C8-14D1-6B20-44A99A98D315}"/>
              </a:ext>
            </a:extLst>
          </p:cNvPr>
          <p:cNvSpPr>
            <a:spLocks noGrp="1"/>
          </p:cNvSpPr>
          <p:nvPr>
            <p:ph type="title"/>
          </p:nvPr>
        </p:nvSpPr>
        <p:spPr>
          <a:xfrm>
            <a:off x="7242526" y="457200"/>
            <a:ext cx="4437283" cy="1410020"/>
          </a:xfrm>
        </p:spPr>
        <p:txBody>
          <a:bodyPr anchor="b">
            <a:normAutofit/>
          </a:bodyPr>
          <a:lstStyle/>
          <a:p>
            <a:r>
              <a:rPr lang="en-US"/>
              <a:t>Authentication API Test</a:t>
            </a:r>
          </a:p>
        </p:txBody>
      </p:sp>
      <p:pic>
        <p:nvPicPr>
          <p:cNvPr id="5" name="Content Placeholder 4" descr="4K Resolution">
            <a:extLst>
              <a:ext uri="{FF2B5EF4-FFF2-40B4-BE49-F238E27FC236}">
                <a16:creationId xmlns:a16="http://schemas.microsoft.com/office/drawing/2014/main" id="{CCA6BEDD-B566-416E-BA6C-93A42177D62F}"/>
              </a:ext>
            </a:extLst>
          </p:cNvPr>
          <p:cNvPicPr>
            <a:picLocks noGrp="1" noChangeAspect="1"/>
          </p:cNvPicPr>
          <p:nvPr>
            <p:ph type="pic" sz="quarter" idx="13"/>
          </p:nvPr>
        </p:nvPicPr>
        <p:blipFill>
          <a:blip r:embed="rId3"/>
          <a:srcRect l="23005" r="21868"/>
          <a:stretch>
            <a:fillRect/>
          </a:stretch>
        </p:blipFill>
        <p:spPr>
          <a:xfrm>
            <a:off x="20" y="10"/>
            <a:ext cx="6721048" cy="6857990"/>
          </a:xfrm>
        </p:spPr>
      </p:pic>
      <p:sp>
        <p:nvSpPr>
          <p:cNvPr id="4" name="Content Placeholder 3">
            <a:extLst>
              <a:ext uri="{FF2B5EF4-FFF2-40B4-BE49-F238E27FC236}">
                <a16:creationId xmlns:a16="http://schemas.microsoft.com/office/drawing/2014/main" id="{2B1D373B-C98A-0EB0-C159-302DE6E502B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lvl="0" indent="0">
              <a:spcBef>
                <a:spcPts val="2500"/>
              </a:spcBef>
              <a:buFont typeface="Arial" panose="020B0604020202020204" pitchFamily="34" charset="0"/>
              <a:buNone/>
            </a:pPr>
            <a:r>
              <a:rPr lang="en-US" b="1"/>
              <a:t>REST Assured Authentication Test</a:t>
            </a:r>
          </a:p>
          <a:p>
            <a:pPr marL="0" lvl="1" indent="0">
              <a:buFont typeface="Arial" panose="020B0604020202020204" pitchFamily="34" charset="0"/>
              <a:buNone/>
            </a:pPr>
            <a:r>
              <a:rPr lang="en-US"/>
              <a:t>Validates the authentication endpoint by sending a POST request with user credentials in JSON format.</a:t>
            </a:r>
          </a:p>
          <a:p>
            <a:pPr marL="0" lvl="0" indent="0">
              <a:spcBef>
                <a:spcPts val="2500"/>
              </a:spcBef>
              <a:buFont typeface="Arial" panose="020B0604020202020204" pitchFamily="34" charset="0"/>
              <a:buNone/>
            </a:pPr>
            <a:r>
              <a:rPr lang="en-US" b="1"/>
              <a:t>Response Validation</a:t>
            </a:r>
          </a:p>
          <a:p>
            <a:pPr marL="0" lvl="1" indent="0">
              <a:buFont typeface="Arial" panose="020B0604020202020204" pitchFamily="34" charset="0"/>
              <a:buNone/>
            </a:pPr>
            <a:r>
              <a:rPr lang="en-US"/>
              <a:t>Ensures successful HTTP status and valid authentication token with correct customer details in the response.</a:t>
            </a:r>
          </a:p>
          <a:p>
            <a:pPr marL="0" lvl="0" indent="0">
              <a:spcBef>
                <a:spcPts val="2500"/>
              </a:spcBef>
              <a:buFont typeface="Arial" panose="020B0604020202020204" pitchFamily="34" charset="0"/>
              <a:buNone/>
            </a:pPr>
            <a:r>
              <a:rPr lang="en-US" b="1"/>
              <a:t>Backend Authentication Verification</a:t>
            </a:r>
          </a:p>
          <a:p>
            <a:pPr marL="0" lvl="1" indent="0">
              <a:buFont typeface="Arial" panose="020B0604020202020204" pitchFamily="34" charset="0"/>
              <a:buNone/>
            </a:pPr>
            <a:r>
              <a:rPr lang="en-US"/>
              <a:t>Confirms backend authentication works independently of UI and supports authenticated API workflows.</a:t>
            </a:r>
          </a:p>
        </p:txBody>
      </p:sp>
    </p:spTree>
    <p:extLst>
      <p:ext uri="{BB962C8B-B14F-4D97-AF65-F5344CB8AC3E}">
        <p14:creationId xmlns:p14="http://schemas.microsoft.com/office/powerpoint/2010/main" val="755196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B305A-2140-41E2-38BD-1DCAC2F05C1F}"/>
              </a:ext>
            </a:extLst>
          </p:cNvPr>
          <p:cNvSpPr>
            <a:spLocks noGrp="1"/>
          </p:cNvSpPr>
          <p:nvPr>
            <p:ph type="title"/>
          </p:nvPr>
        </p:nvSpPr>
        <p:spPr>
          <a:xfrm>
            <a:off x="4541264" y="320040"/>
            <a:ext cx="7062472" cy="1105348"/>
          </a:xfrm>
        </p:spPr>
        <p:txBody>
          <a:bodyPr anchor="b">
            <a:normAutofit/>
          </a:bodyPr>
          <a:lstStyle/>
          <a:p>
            <a:r>
              <a:rPr lang="en-US"/>
              <a:t>Product Search API Test</a:t>
            </a:r>
          </a:p>
        </p:txBody>
      </p:sp>
      <p:pic>
        <p:nvPicPr>
          <p:cNvPr id="5" name="Content Placeholder 4" descr="3d illustration">
            <a:extLst>
              <a:ext uri="{FF2B5EF4-FFF2-40B4-BE49-F238E27FC236}">
                <a16:creationId xmlns:a16="http://schemas.microsoft.com/office/drawing/2014/main" id="{8B8B5945-FCF5-4F77-8757-3903AC1F8319}"/>
              </a:ext>
            </a:extLst>
          </p:cNvPr>
          <p:cNvPicPr>
            <a:picLocks noGrp="1" noChangeAspect="1"/>
          </p:cNvPicPr>
          <p:nvPr>
            <p:ph type="pic" sz="quarter" idx="13"/>
          </p:nvPr>
        </p:nvPicPr>
        <p:blipFill>
          <a:blip r:embed="rId3"/>
          <a:srcRect l="13585" r="27799"/>
          <a:stretch>
            <a:fillRect/>
          </a:stretch>
        </p:blipFill>
        <p:spPr>
          <a:xfrm>
            <a:off x="20" y="1"/>
            <a:ext cx="4019910" cy="6858000"/>
          </a:xfrm>
        </p:spPr>
      </p:pic>
      <p:sp>
        <p:nvSpPr>
          <p:cNvPr id="4" name="Content Placeholder 3">
            <a:extLst>
              <a:ext uri="{FF2B5EF4-FFF2-40B4-BE49-F238E27FC236}">
                <a16:creationId xmlns:a16="http://schemas.microsoft.com/office/drawing/2014/main" id="{EA2FF00E-BC83-734C-2D09-D284EE2D5CD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lvl="0" indent="0">
              <a:spcBef>
                <a:spcPts val="2500"/>
              </a:spcBef>
              <a:buFont typeface="Arial" panose="020B0604020202020204" pitchFamily="34" charset="0"/>
              <a:buNone/>
            </a:pPr>
            <a:r>
              <a:rPr lang="en-US" b="1"/>
              <a:t>API Request and Parameterization</a:t>
            </a:r>
          </a:p>
          <a:p>
            <a:pPr marL="0" lvl="1" indent="0">
              <a:buFont typeface="Arial" panose="020B0604020202020204" pitchFamily="34" charset="0"/>
              <a:buNone/>
            </a:pPr>
            <a:r>
              <a:rPr lang="en-US"/>
              <a:t>The test sends a parameterized GET request to the product search API endpoint with a specific product keyword.</a:t>
            </a:r>
          </a:p>
          <a:p>
            <a:pPr marL="0" lvl="0" indent="0">
              <a:spcBef>
                <a:spcPts val="2500"/>
              </a:spcBef>
              <a:buFont typeface="Arial" panose="020B0604020202020204" pitchFamily="34" charset="0"/>
              <a:buNone/>
            </a:pPr>
            <a:r>
              <a:rPr lang="en-US" b="1"/>
              <a:t>JSON Array Response Validation</a:t>
            </a:r>
          </a:p>
          <a:p>
            <a:pPr marL="0" lvl="1" indent="0">
              <a:buFont typeface="Arial" panose="020B0604020202020204" pitchFamily="34" charset="0"/>
              <a:buNone/>
            </a:pPr>
            <a:r>
              <a:rPr lang="en-US"/>
              <a:t>The response is validated as a JSON array containing products matching the query with expected item counts.</a:t>
            </a:r>
          </a:p>
          <a:p>
            <a:pPr marL="0" lvl="0" indent="0">
              <a:spcBef>
                <a:spcPts val="2500"/>
              </a:spcBef>
              <a:buFont typeface="Arial" panose="020B0604020202020204" pitchFamily="34" charset="0"/>
              <a:buNone/>
            </a:pPr>
            <a:r>
              <a:rPr lang="en-US" b="1"/>
              <a:t>Attribute Assertions</a:t>
            </a:r>
          </a:p>
          <a:p>
            <a:pPr marL="0" lvl="1" indent="0">
              <a:buFont typeface="Arial" panose="020B0604020202020204" pitchFamily="34" charset="0"/>
              <a:buNone/>
            </a:pPr>
            <a:r>
              <a:rPr lang="en-US"/>
              <a:t>Assertions check product attributes like SKU, name, category, price, stock, and image key for accuracy.</a:t>
            </a:r>
          </a:p>
          <a:p>
            <a:pPr marL="0" lvl="0" indent="0">
              <a:spcBef>
                <a:spcPts val="2500"/>
              </a:spcBef>
              <a:buFont typeface="Arial" panose="020B0604020202020204" pitchFamily="34" charset="0"/>
              <a:buNone/>
            </a:pPr>
            <a:r>
              <a:rPr lang="en-US" b="1"/>
              <a:t>UI and Backend Data Alignment</a:t>
            </a:r>
          </a:p>
          <a:p>
            <a:pPr marL="0" lvl="1" indent="0">
              <a:buFont typeface="Arial" panose="020B0604020202020204" pitchFamily="34" charset="0"/>
              <a:buNone/>
            </a:pPr>
            <a:r>
              <a:rPr lang="en-US"/>
              <a:t>The test verifies that backend API data corresponds correctly with the UI-visible product information.</a:t>
            </a:r>
          </a:p>
        </p:txBody>
      </p:sp>
    </p:spTree>
    <p:extLst>
      <p:ext uri="{BB962C8B-B14F-4D97-AF65-F5344CB8AC3E}">
        <p14:creationId xmlns:p14="http://schemas.microsoft.com/office/powerpoint/2010/main" val="4068524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841AA-1A38-F1CC-AF60-893B825E4641}"/>
              </a:ext>
            </a:extLst>
          </p:cNvPr>
          <p:cNvSpPr>
            <a:spLocks noGrp="1"/>
          </p:cNvSpPr>
          <p:nvPr>
            <p:ph type="ctrTitle"/>
          </p:nvPr>
        </p:nvSpPr>
        <p:spPr>
          <a:xfrm>
            <a:off x="457197" y="3507830"/>
            <a:ext cx="7772400" cy="2944368"/>
          </a:xfrm>
        </p:spPr>
        <p:txBody>
          <a:bodyPr anchor="b">
            <a:normAutofit/>
          </a:bodyPr>
          <a:lstStyle/>
          <a:p>
            <a:r>
              <a:rPr lang="en-US"/>
              <a:t>Allure Reporting</a:t>
            </a:r>
          </a:p>
        </p:txBody>
      </p:sp>
    </p:spTree>
    <p:extLst>
      <p:ext uri="{BB962C8B-B14F-4D97-AF65-F5344CB8AC3E}">
        <p14:creationId xmlns:p14="http://schemas.microsoft.com/office/powerpoint/2010/main" val="9936706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B2E5-C1D0-5A92-1373-55E649CA23C6}"/>
              </a:ext>
            </a:extLst>
          </p:cNvPr>
          <p:cNvSpPr>
            <a:spLocks noGrp="1"/>
          </p:cNvSpPr>
          <p:nvPr>
            <p:ph type="title"/>
          </p:nvPr>
        </p:nvSpPr>
        <p:spPr>
          <a:xfrm>
            <a:off x="4541264" y="320040"/>
            <a:ext cx="7062472" cy="1105348"/>
          </a:xfrm>
        </p:spPr>
        <p:txBody>
          <a:bodyPr anchor="b">
            <a:normAutofit/>
          </a:bodyPr>
          <a:lstStyle/>
          <a:p>
            <a:r>
              <a:rPr lang="en-US"/>
              <a:t>Allure Results and Report Generation</a:t>
            </a:r>
          </a:p>
        </p:txBody>
      </p:sp>
      <p:pic>
        <p:nvPicPr>
          <p:cNvPr id="5" name="Content Placeholder 4" descr="Credit score report">
            <a:extLst>
              <a:ext uri="{FF2B5EF4-FFF2-40B4-BE49-F238E27FC236}">
                <a16:creationId xmlns:a16="http://schemas.microsoft.com/office/drawing/2014/main" id="{3DE33FFB-B098-4728-9871-E6F43C541C9D}"/>
              </a:ext>
            </a:extLst>
          </p:cNvPr>
          <p:cNvPicPr>
            <a:picLocks noGrp="1" noChangeAspect="1"/>
          </p:cNvPicPr>
          <p:nvPr>
            <p:ph type="pic" sz="quarter" idx="13"/>
          </p:nvPr>
        </p:nvPicPr>
        <p:blipFill>
          <a:blip r:embed="rId3"/>
          <a:srcRect l="14913" r="26470"/>
          <a:stretch>
            <a:fillRect/>
          </a:stretch>
        </p:blipFill>
        <p:spPr>
          <a:xfrm>
            <a:off x="20" y="1"/>
            <a:ext cx="4019910" cy="6858000"/>
          </a:xfrm>
        </p:spPr>
      </p:pic>
      <p:sp>
        <p:nvSpPr>
          <p:cNvPr id="4" name="Content Placeholder 3">
            <a:extLst>
              <a:ext uri="{FF2B5EF4-FFF2-40B4-BE49-F238E27FC236}">
                <a16:creationId xmlns:a16="http://schemas.microsoft.com/office/drawing/2014/main" id="{45F39C99-AEDD-D053-8E07-069F4B83482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41264" y="1595300"/>
            <a:ext cx="7062472" cy="4768923"/>
          </a:xfrm>
        </p:spPr>
        <p:txBody>
          <a:bodyPr>
            <a:normAutofit/>
          </a:bodyPr>
          <a:lstStyle/>
          <a:p>
            <a:pPr marL="0" lvl="0" indent="0">
              <a:spcBef>
                <a:spcPts val="2500"/>
              </a:spcBef>
              <a:buFont typeface="Arial" panose="020B0604020202020204" pitchFamily="34" charset="0"/>
              <a:buNone/>
            </a:pPr>
            <a:r>
              <a:rPr lang="en-US" b="1"/>
              <a:t>Test Result Generation</a:t>
            </a:r>
          </a:p>
          <a:p>
            <a:pPr marL="0" lvl="1" indent="0">
              <a:buFont typeface="Arial" panose="020B0604020202020204" pitchFamily="34" charset="0"/>
              <a:buNone/>
            </a:pPr>
            <a:r>
              <a:rPr lang="en-US"/>
              <a:t>Tests produce JSON files capturing statuses, steps, error traces, and metadata during execution.</a:t>
            </a:r>
          </a:p>
          <a:p>
            <a:pPr marL="0" lvl="0" indent="0">
              <a:spcBef>
                <a:spcPts val="2500"/>
              </a:spcBef>
              <a:buFont typeface="Arial" panose="020B0604020202020204" pitchFamily="34" charset="0"/>
              <a:buNone/>
            </a:pPr>
            <a:r>
              <a:rPr lang="en-US" b="1"/>
              <a:t>Interactive HTML Reports</a:t>
            </a:r>
          </a:p>
          <a:p>
            <a:pPr marL="0" lvl="1" indent="0">
              <a:buFont typeface="Arial" panose="020B0604020202020204" pitchFamily="34" charset="0"/>
              <a:buNone/>
            </a:pPr>
            <a:r>
              <a:rPr lang="en-US"/>
              <a:t>JSON results are converted into interactive HTML reports for detailed analysis and visualization.</a:t>
            </a:r>
          </a:p>
          <a:p>
            <a:pPr marL="0" lvl="0" indent="0">
              <a:spcBef>
                <a:spcPts val="2500"/>
              </a:spcBef>
              <a:buFont typeface="Arial" panose="020B0604020202020204" pitchFamily="34" charset="0"/>
              <a:buNone/>
            </a:pPr>
            <a:r>
              <a:rPr lang="en-US" b="1"/>
              <a:t>Multiple Perspectives in Reporting</a:t>
            </a:r>
          </a:p>
          <a:p>
            <a:pPr marL="0" lvl="1" indent="0">
              <a:buFont typeface="Arial" panose="020B0604020202020204" pitchFamily="34" charset="0"/>
              <a:buNone/>
            </a:pPr>
            <a:r>
              <a:rPr lang="en-US"/>
              <a:t>Reports provide views like Overview, Suites, Behaviors, and History to reveal quality trends over time.</a:t>
            </a:r>
          </a:p>
          <a:p>
            <a:pPr marL="0" lvl="0" indent="0">
              <a:spcBef>
                <a:spcPts val="2500"/>
              </a:spcBef>
              <a:buFont typeface="Arial" panose="020B0604020202020204" pitchFamily="34" charset="0"/>
              <a:buNone/>
            </a:pPr>
            <a:r>
              <a:rPr lang="en-US" b="1"/>
              <a:t>Failure Diagnosis Features</a:t>
            </a:r>
          </a:p>
          <a:p>
            <a:pPr marL="0" lvl="1" indent="0">
              <a:buFont typeface="Arial" panose="020B0604020202020204" pitchFamily="34" charset="0"/>
              <a:buNone/>
            </a:pPr>
            <a:r>
              <a:rPr lang="en-US"/>
              <a:t>Attachments and step details in reports help engineers quickly identify and diagnose test failures.</a:t>
            </a:r>
          </a:p>
        </p:txBody>
      </p:sp>
    </p:spTree>
    <p:extLst>
      <p:ext uri="{BB962C8B-B14F-4D97-AF65-F5344CB8AC3E}">
        <p14:creationId xmlns:p14="http://schemas.microsoft.com/office/powerpoint/2010/main" val="645320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05BF-5152-8EAA-D980-A63F51B435A8}"/>
              </a:ext>
            </a:extLst>
          </p:cNvPr>
          <p:cNvSpPr>
            <a:spLocks noGrp="1"/>
          </p:cNvSpPr>
          <p:nvPr>
            <p:ph type="ctrTitle"/>
          </p:nvPr>
        </p:nvSpPr>
        <p:spPr>
          <a:xfrm>
            <a:off x="457197" y="3507830"/>
            <a:ext cx="7772400" cy="2944368"/>
          </a:xfrm>
        </p:spPr>
        <p:txBody>
          <a:bodyPr anchor="b">
            <a:normAutofit/>
          </a:bodyPr>
          <a:lstStyle/>
          <a:p>
            <a:r>
              <a:rPr lang="en-US" sz="6800"/>
              <a:t>CI/CD and Publishing Strategy</a:t>
            </a:r>
          </a:p>
        </p:txBody>
      </p:sp>
    </p:spTree>
    <p:extLst>
      <p:ext uri="{BB962C8B-B14F-4D97-AF65-F5344CB8AC3E}">
        <p14:creationId xmlns:p14="http://schemas.microsoft.com/office/powerpoint/2010/main" val="16649023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402B3-89D8-2EA9-C9DF-E827DCBC818A}"/>
              </a:ext>
            </a:extLst>
          </p:cNvPr>
          <p:cNvSpPr>
            <a:spLocks noGrp="1"/>
          </p:cNvSpPr>
          <p:nvPr>
            <p:ph type="title"/>
          </p:nvPr>
        </p:nvSpPr>
        <p:spPr>
          <a:xfrm>
            <a:off x="457200" y="457200"/>
            <a:ext cx="4380272" cy="1453896"/>
          </a:xfrm>
        </p:spPr>
        <p:txBody>
          <a:bodyPr anchor="t">
            <a:normAutofit/>
          </a:bodyPr>
          <a:lstStyle/>
          <a:p>
            <a:r>
              <a:rPr lang="en-US"/>
              <a:t>GitHub Actions and GitHub Pages</a:t>
            </a:r>
          </a:p>
        </p:txBody>
      </p:sp>
      <p:pic>
        <p:nvPicPr>
          <p:cNvPr id="5" name="Content Placeholder 4" descr="4K Resolution">
            <a:extLst>
              <a:ext uri="{FF2B5EF4-FFF2-40B4-BE49-F238E27FC236}">
                <a16:creationId xmlns:a16="http://schemas.microsoft.com/office/drawing/2014/main" id="{3460611F-6206-4F28-9EA1-5367CDF99FF2}"/>
              </a:ext>
            </a:extLst>
          </p:cNvPr>
          <p:cNvPicPr>
            <a:picLocks noGrp="1" noChangeAspect="1"/>
          </p:cNvPicPr>
          <p:nvPr>
            <p:ph type="pic" sz="quarter" idx="13"/>
          </p:nvPr>
        </p:nvPicPr>
        <p:blipFill>
          <a:blip r:embed="rId3"/>
          <a:srcRect l="16296" r="16618" b="-2"/>
          <a:stretch>
            <a:fillRect/>
          </a:stretch>
        </p:blipFill>
        <p:spPr>
          <a:xfrm>
            <a:off x="20" y="2175642"/>
            <a:ext cx="5584186" cy="4682358"/>
          </a:xfrm>
        </p:spPr>
      </p:pic>
      <p:sp>
        <p:nvSpPr>
          <p:cNvPr id="4" name="Content Placeholder 3">
            <a:extLst>
              <a:ext uri="{FF2B5EF4-FFF2-40B4-BE49-F238E27FC236}">
                <a16:creationId xmlns:a16="http://schemas.microsoft.com/office/drawing/2014/main" id="{1E36B633-7359-0A0E-A8CD-C51F7FAFB8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lvl="0" indent="0">
              <a:spcBef>
                <a:spcPts val="2500"/>
              </a:spcBef>
              <a:buFont typeface="Arial" panose="020B0604020202020204" pitchFamily="34" charset="0"/>
              <a:buNone/>
            </a:pPr>
            <a:r>
              <a:rPr lang="en-US" b="1"/>
              <a:t>Local Test Execution</a:t>
            </a:r>
          </a:p>
          <a:p>
            <a:pPr marL="0" lvl="1" indent="0">
              <a:buFont typeface="Arial" panose="020B0604020202020204" pitchFamily="34" charset="0"/>
              <a:buNone/>
            </a:pPr>
            <a:r>
              <a:rPr lang="en-US"/>
              <a:t>Tests are executed locally and the allure-results are committed to the repository for further processing.</a:t>
            </a:r>
          </a:p>
          <a:p>
            <a:pPr marL="0" lvl="0" indent="0">
              <a:spcBef>
                <a:spcPts val="2500"/>
              </a:spcBef>
              <a:buFont typeface="Arial" panose="020B0604020202020204" pitchFamily="34" charset="0"/>
              <a:buNone/>
            </a:pPr>
            <a:r>
              <a:rPr lang="en-US" b="1"/>
              <a:t>Automated Report Generation</a:t>
            </a:r>
          </a:p>
          <a:p>
            <a:pPr marL="0" lvl="1" indent="0">
              <a:buFont typeface="Arial" panose="020B0604020202020204" pitchFamily="34" charset="0"/>
              <a:buNone/>
            </a:pPr>
            <a:r>
              <a:rPr lang="en-US"/>
              <a:t>GitHub Actions workflow generates Allure reports automatically from committed test results.</a:t>
            </a:r>
          </a:p>
          <a:p>
            <a:pPr marL="0" lvl="0" indent="0">
              <a:spcBef>
                <a:spcPts val="2500"/>
              </a:spcBef>
              <a:buFont typeface="Arial" panose="020B0604020202020204" pitchFamily="34" charset="0"/>
              <a:buNone/>
            </a:pPr>
            <a:r>
              <a:rPr lang="en-US" b="1"/>
              <a:t>Deployment via GitHub Pages</a:t>
            </a:r>
          </a:p>
          <a:p>
            <a:pPr marL="0" lvl="1" indent="0">
              <a:buFont typeface="Arial" panose="020B0604020202020204" pitchFamily="34" charset="0"/>
              <a:buNone/>
            </a:pPr>
            <a:r>
              <a:rPr lang="en-US"/>
              <a:t>Generated reports are deployed to the gh-pages branch enabling easy web access for repository users.</a:t>
            </a:r>
          </a:p>
          <a:p>
            <a:pPr marL="0" lvl="0" indent="0">
              <a:spcBef>
                <a:spcPts val="2500"/>
              </a:spcBef>
              <a:buFont typeface="Arial" panose="020B0604020202020204" pitchFamily="34" charset="0"/>
              <a:buNone/>
            </a:pPr>
            <a:r>
              <a:rPr lang="en-US" b="1"/>
              <a:t>Historical Report Preservation</a:t>
            </a:r>
          </a:p>
          <a:p>
            <a:pPr marL="0" lvl="1" indent="0">
              <a:buFont typeface="Arial" panose="020B0604020202020204" pitchFamily="34" charset="0"/>
              <a:buNone/>
            </a:pPr>
            <a:r>
              <a:rPr lang="en-US"/>
              <a:t>Historical test reports are preserved for trend analysis and long-term monitoring of execution results.</a:t>
            </a:r>
          </a:p>
        </p:txBody>
      </p:sp>
    </p:spTree>
    <p:extLst>
      <p:ext uri="{BB962C8B-B14F-4D97-AF65-F5344CB8AC3E}">
        <p14:creationId xmlns:p14="http://schemas.microsoft.com/office/powerpoint/2010/main" val="1286515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C0C49-3CEA-41E3-6734-1E364421A722}"/>
              </a:ext>
            </a:extLst>
          </p:cNvPr>
          <p:cNvSpPr>
            <a:spLocks noGrp="1"/>
          </p:cNvSpPr>
          <p:nvPr>
            <p:ph type="ctrTitle"/>
          </p:nvPr>
        </p:nvSpPr>
        <p:spPr>
          <a:xfrm>
            <a:off x="457197" y="3507830"/>
            <a:ext cx="7772400" cy="2944368"/>
          </a:xfrm>
        </p:spPr>
        <p:txBody>
          <a:bodyPr anchor="b">
            <a:normAutofit/>
          </a:bodyPr>
          <a:lstStyle/>
          <a:p>
            <a:r>
              <a:rPr lang="en-US"/>
              <a:t>Live Report and Repository</a:t>
            </a:r>
          </a:p>
        </p:txBody>
      </p:sp>
    </p:spTree>
    <p:extLst>
      <p:ext uri="{BB962C8B-B14F-4D97-AF65-F5344CB8AC3E}">
        <p14:creationId xmlns:p14="http://schemas.microsoft.com/office/powerpoint/2010/main" val="10375951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5F292-ADBC-5679-33FB-E72767040D96}"/>
              </a:ext>
            </a:extLst>
          </p:cNvPr>
          <p:cNvSpPr>
            <a:spLocks noGrp="1"/>
          </p:cNvSpPr>
          <p:nvPr>
            <p:ph type="title"/>
          </p:nvPr>
        </p:nvSpPr>
        <p:spPr>
          <a:xfrm>
            <a:off x="7242526" y="457200"/>
            <a:ext cx="4437283" cy="1410020"/>
          </a:xfrm>
        </p:spPr>
        <p:txBody>
          <a:bodyPr anchor="b">
            <a:normAutofit/>
          </a:bodyPr>
          <a:lstStyle/>
          <a:p>
            <a:r>
              <a:rPr lang="en-US"/>
              <a:t>Accessing the ShopKart Allure Report</a:t>
            </a:r>
          </a:p>
        </p:txBody>
      </p:sp>
      <p:pic>
        <p:nvPicPr>
          <p:cNvPr id="5" name="Content Placeholder 4" descr="Shot of a computer with a graph on the screen in an empty laboratory">
            <a:extLst>
              <a:ext uri="{FF2B5EF4-FFF2-40B4-BE49-F238E27FC236}">
                <a16:creationId xmlns:a16="http://schemas.microsoft.com/office/drawing/2014/main" id="{65BE44DA-843C-41E1-9F9C-DB3C58744C94}"/>
              </a:ext>
            </a:extLst>
          </p:cNvPr>
          <p:cNvPicPr>
            <a:picLocks noGrp="1" noChangeAspect="1"/>
          </p:cNvPicPr>
          <p:nvPr>
            <p:ph type="pic" sz="quarter" idx="13"/>
          </p:nvPr>
        </p:nvPicPr>
        <p:blipFill>
          <a:blip r:embed="rId3"/>
          <a:srcRect l="16165" r="19644" b="2"/>
          <a:stretch>
            <a:fillRect/>
          </a:stretch>
        </p:blipFill>
        <p:spPr>
          <a:xfrm>
            <a:off x="20" y="10"/>
            <a:ext cx="6721048" cy="6857990"/>
          </a:xfrm>
        </p:spPr>
      </p:pic>
      <p:sp>
        <p:nvSpPr>
          <p:cNvPr id="4" name="Content Placeholder 3">
            <a:extLst>
              <a:ext uri="{FF2B5EF4-FFF2-40B4-BE49-F238E27FC236}">
                <a16:creationId xmlns:a16="http://schemas.microsoft.com/office/drawing/2014/main" id="{162C6474-E267-2A7F-BF06-145D1E8F444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242463" y="2034314"/>
            <a:ext cx="4437283" cy="4274411"/>
          </a:xfrm>
        </p:spPr>
        <p:txBody>
          <a:bodyPr>
            <a:normAutofit/>
          </a:bodyPr>
          <a:lstStyle/>
          <a:p>
            <a:pPr marL="0" lvl="0" indent="0">
              <a:spcBef>
                <a:spcPts val="2500"/>
              </a:spcBef>
              <a:buFont typeface="Arial" panose="020B0604020202020204" pitchFamily="34" charset="0"/>
              <a:buNone/>
            </a:pPr>
            <a:r>
              <a:rPr lang="en-US" b="1" dirty="0"/>
              <a:t>Automation Framework Overview</a:t>
            </a:r>
          </a:p>
          <a:p>
            <a:pPr marL="0" lvl="1" indent="0">
              <a:buNone/>
            </a:pPr>
            <a:r>
              <a:rPr lang="en-US" dirty="0"/>
              <a:t>The framework includes UI and API tests along with reporting configurations hosted publicly on GitHub at the </a:t>
            </a:r>
            <a:r>
              <a:rPr lang="en-US" dirty="0" err="1"/>
              <a:t>url</a:t>
            </a:r>
            <a:r>
              <a:rPr lang="en-US" dirty="0"/>
              <a:t> </a:t>
            </a:r>
            <a:r>
              <a:rPr lang="en-IN" dirty="0" err="1">
                <a:hlinkClick r:id="rId4"/>
              </a:rPr>
              <a:t>georgebibu</a:t>
            </a:r>
            <a:r>
              <a:rPr lang="en-IN" dirty="0">
                <a:hlinkClick r:id="rId4"/>
              </a:rPr>
              <a:t>-UST/</a:t>
            </a:r>
            <a:r>
              <a:rPr lang="en-IN" dirty="0" err="1">
                <a:hlinkClick r:id="rId4"/>
              </a:rPr>
              <a:t>shopkart_automation</a:t>
            </a:r>
            <a:r>
              <a:rPr lang="en-IN" dirty="0"/>
              <a:t> in the pages section, the report is hosted live </a:t>
            </a:r>
            <a:r>
              <a:rPr lang="en-IN"/>
              <a:t>using GitHub Pages.</a:t>
            </a:r>
            <a:endParaRPr lang="en-US" dirty="0"/>
          </a:p>
          <a:p>
            <a:pPr marL="0" lvl="0" indent="0">
              <a:spcBef>
                <a:spcPts val="2500"/>
              </a:spcBef>
              <a:buFont typeface="Arial" panose="020B0604020202020204" pitchFamily="34" charset="0"/>
              <a:buNone/>
            </a:pPr>
            <a:r>
              <a:rPr lang="en-US" b="1" dirty="0"/>
              <a:t>Allure Report Access</a:t>
            </a:r>
          </a:p>
          <a:p>
            <a:pPr marL="0" lvl="1" indent="0">
              <a:buFont typeface="Arial" panose="020B0604020202020204" pitchFamily="34" charset="0"/>
              <a:buNone/>
            </a:pPr>
            <a:r>
              <a:rPr lang="en-US" dirty="0"/>
              <a:t>Allure reports are published via GitHub Pages showing real execution results, categories, and test history.</a:t>
            </a:r>
          </a:p>
          <a:p>
            <a:pPr marL="0" lvl="0" indent="0">
              <a:spcBef>
                <a:spcPts val="2500"/>
              </a:spcBef>
              <a:buFont typeface="Arial" panose="020B0604020202020204" pitchFamily="34" charset="0"/>
              <a:buNone/>
            </a:pPr>
            <a:r>
              <a:rPr lang="en-US" b="1" dirty="0"/>
              <a:t>Use Cases of Report</a:t>
            </a:r>
          </a:p>
          <a:p>
            <a:pPr marL="0" lvl="1" indent="0">
              <a:buFont typeface="Arial" panose="020B0604020202020204" pitchFamily="34" charset="0"/>
              <a:buNone/>
            </a:pPr>
            <a:r>
              <a:rPr lang="en-US" dirty="0"/>
              <a:t>The report acts as a single source of truth for demos, reviews, and audits by showcasing test outcomes clearly.</a:t>
            </a:r>
          </a:p>
        </p:txBody>
      </p:sp>
    </p:spTree>
    <p:extLst>
      <p:ext uri="{BB962C8B-B14F-4D97-AF65-F5344CB8AC3E}">
        <p14:creationId xmlns:p14="http://schemas.microsoft.com/office/powerpoint/2010/main" val="9391965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3DE9-85B1-05BF-9EC7-82806C26C639}"/>
              </a:ext>
            </a:extLst>
          </p:cNvPr>
          <p:cNvSpPr>
            <a:spLocks noGrp="1"/>
          </p:cNvSpPr>
          <p:nvPr>
            <p:ph type="ctrTitle"/>
          </p:nvPr>
        </p:nvSpPr>
        <p:spPr>
          <a:xfrm>
            <a:off x="457197" y="3507830"/>
            <a:ext cx="7772400" cy="2944368"/>
          </a:xfrm>
        </p:spPr>
        <p:txBody>
          <a:bodyPr anchor="b">
            <a:normAutofit/>
          </a:bodyPr>
          <a:lstStyle/>
          <a:p>
            <a:r>
              <a:rPr lang="en-US"/>
              <a:t>Key Learnings and Conclusion</a:t>
            </a:r>
          </a:p>
        </p:txBody>
      </p:sp>
    </p:spTree>
    <p:extLst>
      <p:ext uri="{BB962C8B-B14F-4D97-AF65-F5344CB8AC3E}">
        <p14:creationId xmlns:p14="http://schemas.microsoft.com/office/powerpoint/2010/main" val="40052617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6DADD-373B-DDA0-F43F-9C466C740EE7}"/>
              </a:ext>
            </a:extLst>
          </p:cNvPr>
          <p:cNvSpPr>
            <a:spLocks noGrp="1"/>
          </p:cNvSpPr>
          <p:nvPr>
            <p:ph type="title"/>
          </p:nvPr>
        </p:nvSpPr>
        <p:spPr>
          <a:xfrm>
            <a:off x="457200" y="457200"/>
            <a:ext cx="4380272" cy="1453896"/>
          </a:xfrm>
        </p:spPr>
        <p:txBody>
          <a:bodyPr anchor="t">
            <a:normAutofit/>
          </a:bodyPr>
          <a:lstStyle/>
          <a:p>
            <a:r>
              <a:rPr lang="en-US"/>
              <a:t>Lessons Learned and Best Practices</a:t>
            </a:r>
          </a:p>
        </p:txBody>
      </p:sp>
      <p:pic>
        <p:nvPicPr>
          <p:cNvPr id="5" name="Content Placeholder 4" descr="Clock">
            <a:extLst>
              <a:ext uri="{FF2B5EF4-FFF2-40B4-BE49-F238E27FC236}">
                <a16:creationId xmlns:a16="http://schemas.microsoft.com/office/drawing/2014/main" id="{CBFBE8EA-1944-4B37-B8FB-DEEFB15DADC4}"/>
              </a:ext>
            </a:extLst>
          </p:cNvPr>
          <p:cNvPicPr>
            <a:picLocks noGrp="1" noChangeAspect="1"/>
          </p:cNvPicPr>
          <p:nvPr>
            <p:ph type="pic" sz="quarter" idx="13"/>
          </p:nvPr>
        </p:nvPicPr>
        <p:blipFill>
          <a:blip r:embed="rId3"/>
          <a:srcRect l="7101" r="3455" b="1"/>
          <a:stretch>
            <a:fillRect/>
          </a:stretch>
        </p:blipFill>
        <p:spPr>
          <a:xfrm>
            <a:off x="20" y="2175642"/>
            <a:ext cx="5584186" cy="4682358"/>
          </a:xfrm>
        </p:spPr>
      </p:pic>
      <p:sp>
        <p:nvSpPr>
          <p:cNvPr id="4" name="Content Placeholder 3">
            <a:extLst>
              <a:ext uri="{FF2B5EF4-FFF2-40B4-BE49-F238E27FC236}">
                <a16:creationId xmlns:a16="http://schemas.microsoft.com/office/drawing/2014/main" id="{0870F90C-CC29-CCCC-4244-F90BE6F73F1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lvl="0" indent="0">
              <a:spcBef>
                <a:spcPts val="2500"/>
              </a:spcBef>
              <a:buFont typeface="Arial" panose="020B0604020202020204" pitchFamily="34" charset="0"/>
              <a:buNone/>
            </a:pPr>
            <a:r>
              <a:rPr lang="en-US" b="1"/>
              <a:t>Effective Synchronization</a:t>
            </a:r>
          </a:p>
          <a:p>
            <a:pPr marL="0" lvl="1" indent="0">
              <a:buFont typeface="Arial" panose="020B0604020202020204" pitchFamily="34" charset="0"/>
              <a:buNone/>
            </a:pPr>
            <a:r>
              <a:rPr lang="en-US"/>
              <a:t>Robust synchronization using business conditions improves test reliability over static delays.</a:t>
            </a:r>
          </a:p>
          <a:p>
            <a:pPr marL="0" lvl="0" indent="0">
              <a:spcBef>
                <a:spcPts val="2500"/>
              </a:spcBef>
              <a:buFont typeface="Arial" panose="020B0604020202020204" pitchFamily="34" charset="0"/>
              <a:buNone/>
            </a:pPr>
            <a:r>
              <a:rPr lang="en-US" b="1"/>
              <a:t>Page Object Model Design</a:t>
            </a:r>
          </a:p>
          <a:p>
            <a:pPr marL="0" lvl="1" indent="0">
              <a:buFont typeface="Arial" panose="020B0604020202020204" pitchFamily="34" charset="0"/>
              <a:buNone/>
            </a:pPr>
            <a:r>
              <a:rPr lang="en-US"/>
              <a:t>Using Page Object Model leads to cleaner, maintainable and scalable automated tests.</a:t>
            </a:r>
          </a:p>
          <a:p>
            <a:pPr marL="0" lvl="0" indent="0">
              <a:spcBef>
                <a:spcPts val="2500"/>
              </a:spcBef>
              <a:buFont typeface="Arial" panose="020B0604020202020204" pitchFamily="34" charset="0"/>
              <a:buNone/>
            </a:pPr>
            <a:r>
              <a:rPr lang="en-US" b="1"/>
              <a:t>Combined UI and API Testing</a:t>
            </a:r>
          </a:p>
          <a:p>
            <a:pPr marL="0" lvl="1" indent="0">
              <a:buFont typeface="Arial" panose="020B0604020202020204" pitchFamily="34" charset="0"/>
              <a:buNone/>
            </a:pPr>
            <a:r>
              <a:rPr lang="en-US"/>
              <a:t>Combining UI and API tests delivers broader coverage and faster feedback cycles.</a:t>
            </a:r>
          </a:p>
          <a:p>
            <a:pPr marL="0" lvl="0" indent="0">
              <a:spcBef>
                <a:spcPts val="2500"/>
              </a:spcBef>
              <a:buFont typeface="Arial" panose="020B0604020202020204" pitchFamily="34" charset="0"/>
              <a:buNone/>
            </a:pPr>
            <a:r>
              <a:rPr lang="en-US" b="1"/>
              <a:t>Enhanced Reporting Integration</a:t>
            </a:r>
          </a:p>
          <a:p>
            <a:pPr marL="0" lvl="1" indent="0">
              <a:buFont typeface="Arial" panose="020B0604020202020204" pitchFamily="34" charset="0"/>
              <a:buNone/>
            </a:pPr>
            <a:r>
              <a:rPr lang="en-US"/>
              <a:t>Integrating Allure reports with CI and GitHub Pages improves test result visibility and accessibility.</a:t>
            </a:r>
          </a:p>
        </p:txBody>
      </p:sp>
    </p:spTree>
    <p:extLst>
      <p:ext uri="{BB962C8B-B14F-4D97-AF65-F5344CB8AC3E}">
        <p14:creationId xmlns:p14="http://schemas.microsoft.com/office/powerpoint/2010/main" val="37951007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2220</Words>
  <Application>Microsoft Office PowerPoint</Application>
  <PresentationFormat>Widescreen</PresentationFormat>
  <Paragraphs>153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Bierstadt</vt:lpstr>
      <vt:lpstr>Calibri</vt:lpstr>
      <vt:lpstr>Bevel</vt:lpstr>
      <vt:lpstr>ShopKart Automation: Selenide, REST Assured, and Allure Reporting</vt:lpstr>
      <vt:lpstr>Introduction and Context</vt:lpstr>
      <vt:lpstr>ShopKart Automation Framework Overview</vt:lpstr>
      <vt:lpstr>Technology Stack</vt:lpstr>
      <vt:lpstr>Core Tools and Libraries</vt:lpstr>
      <vt:lpstr>UI Automation with Selenide</vt:lpstr>
      <vt:lpstr>End-to-End UI Workflow</vt:lpstr>
      <vt:lpstr>Page Object Model Design</vt:lpstr>
      <vt:lpstr>Synchronization Challenges and Solutions</vt:lpstr>
      <vt:lpstr>Asynchronous Cart Loading Issue</vt:lpstr>
      <vt:lpstr>Robust Synchronization Strategy</vt:lpstr>
      <vt:lpstr>API Automation with REST Assured</vt:lpstr>
      <vt:lpstr>Authentication API Test</vt:lpstr>
      <vt:lpstr>Product Search API Test</vt:lpstr>
      <vt:lpstr>Allure Reporting</vt:lpstr>
      <vt:lpstr>Allure Results and Report Generation</vt:lpstr>
      <vt:lpstr>CI/CD and Publishing Strategy</vt:lpstr>
      <vt:lpstr>GitHub Actions and GitHub Pages</vt:lpstr>
      <vt:lpstr>Live Report and Repository</vt:lpstr>
      <vt:lpstr>Accessing the ShopKart Allure Report</vt:lpstr>
      <vt:lpstr>Key Learnings and Conclusion</vt:lpstr>
      <vt:lpstr>Lessons Learned and Best Practices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310918@ust.com</dc:creator>
  <cp:lastModifiedBy>George Bibu(UST,IN)</cp:lastModifiedBy>
  <cp:revision>1</cp:revision>
  <dcterms:modified xsi:type="dcterms:W3CDTF">2026-07-12T11:27:20Z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5ffddfa-74ad-4c1f-9757-a38a11902f1c_Enabled">
    <vt:lpwstr>true</vt:lpwstr>
  </property>
  <property fmtid="{D5CDD505-2E9C-101B-9397-08002B2CF9AE}" pid="3" name="MSIP_Label_15ffddfa-74ad-4c1f-9757-a38a11902f1c_SetDate">
    <vt:lpwstr>2026-07-12T11:22:18Z</vt:lpwstr>
  </property>
  <property fmtid="{D5CDD505-2E9C-101B-9397-08002B2CF9AE}" pid="4" name="MSIP_Label_15ffddfa-74ad-4c1f-9757-a38a11902f1c_Method">
    <vt:lpwstr>Standard</vt:lpwstr>
  </property>
  <property fmtid="{D5CDD505-2E9C-101B-9397-08002B2CF9AE}" pid="5" name="MSIP_Label_15ffddfa-74ad-4c1f-9757-a38a11902f1c_Name">
    <vt:lpwstr>UST Internal</vt:lpwstr>
  </property>
  <property fmtid="{D5CDD505-2E9C-101B-9397-08002B2CF9AE}" pid="6" name="MSIP_Label_15ffddfa-74ad-4c1f-9757-a38a11902f1c_SiteId">
    <vt:lpwstr>a4431f4b-c207-4733-9530-34c08a9b2b8d</vt:lpwstr>
  </property>
  <property fmtid="{D5CDD505-2E9C-101B-9397-08002B2CF9AE}" pid="7" name="MSIP_Label_15ffddfa-74ad-4c1f-9757-a38a11902f1c_ActionId">
    <vt:lpwstr>344944fc-0155-4729-be58-5aca6ee86b8c</vt:lpwstr>
  </property>
  <property fmtid="{D5CDD505-2E9C-101B-9397-08002B2CF9AE}" pid="8" name="MSIP_Label_15ffddfa-74ad-4c1f-9757-a38a11902f1c_ContentBits">
    <vt:lpwstr>0</vt:lpwstr>
  </property>
  <property fmtid="{D5CDD505-2E9C-101B-9397-08002B2CF9AE}" pid="9" name="MSIP_Label_15ffddfa-74ad-4c1f-9757-a38a11902f1c_Tag">
    <vt:lpwstr>10, 3, 0, 1</vt:lpwstr>
  </property>
</Properties>
</file>