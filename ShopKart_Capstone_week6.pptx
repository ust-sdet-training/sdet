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3392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7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8778240" y="822960"/>
            <a:ext cx="2377440" cy="2377440"/>
          </a:xfrm>
          <a:prstGeom prst="ellipse">
            <a:avLst/>
          </a:prstGeom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281160" y="1325880"/>
            <a:ext cx="1874520" cy="1874520"/>
          </a:xfrm>
          <a:prstGeom prst="ellipse">
            <a:avLst/>
          </a:prstGeom>
          <a:ln w="25400">
            <a:solidFill>
              <a:srgbClr val="3FA7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784080" y="1828800"/>
            <a:ext cx="1371600" cy="1371600"/>
          </a:xfrm>
          <a:prstGeom prst="ellipse">
            <a:avLst/>
          </a:prstGeom>
          <a:ln w="254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SDET PRE-CAPSTONE · PROGRESS REVIEW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ShopKart Test Automation Framework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8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BDD · REST Assured · Selenium — building the framework layer by layer</a:t>
            </a:r>
          </a:p>
          <a:p>
            <a:pPr marL="0" indent="0">
              <a:buNone/>
            </a:pPr>
            <a:endParaRPr lang="en-US" sz="1600" i="1" dirty="0">
              <a:solidFill>
                <a:srgbClr val="D8E9E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i="1" dirty="0">
              <a:solidFill>
                <a:srgbClr val="D8E9E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i="1" dirty="0">
              <a:solidFill>
                <a:srgbClr val="D8E9E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rgbClr val="D8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ATHULDEV U</a:t>
            </a:r>
          </a:p>
          <a:p>
            <a:pPr marL="0" indent="0">
              <a:buNone/>
            </a:pPr>
            <a:endParaRPr lang="en-US" sz="1600" i="1" dirty="0">
              <a:solidFill>
                <a:srgbClr val="D8E9E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i="1" dirty="0">
              <a:solidFill>
                <a:srgbClr val="D8E9E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5120640"/>
            <a:ext cx="1408176" cy="411480"/>
          </a:xfrm>
          <a:prstGeom prst="roundRect">
            <a:avLst>
              <a:gd name="adj" fmla="val 17778"/>
            </a:avLst>
          </a:prstGeom>
          <a:solidFill>
            <a:srgbClr val="0E3B5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512064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(Cucumber)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12848" y="5120640"/>
            <a:ext cx="1243584" cy="411480"/>
          </a:xfrm>
          <a:prstGeom prst="roundRect">
            <a:avLst>
              <a:gd name="adj" fmla="val 17778"/>
            </a:avLst>
          </a:prstGeom>
          <a:solidFill>
            <a:srgbClr val="0E3B5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212848" y="5120640"/>
            <a:ext cx="1243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21024" y="5120640"/>
            <a:ext cx="1161288" cy="411480"/>
          </a:xfrm>
          <a:prstGeom prst="roundRect">
            <a:avLst>
              <a:gd name="adj" fmla="val 17778"/>
            </a:avLst>
          </a:prstGeom>
          <a:solidFill>
            <a:srgbClr val="0E3B5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21024" y="5120640"/>
            <a:ext cx="1161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UI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46904" y="5120640"/>
            <a:ext cx="1408176" cy="411480"/>
          </a:xfrm>
          <a:prstGeom prst="roundRect">
            <a:avLst>
              <a:gd name="adj" fmla="val 17778"/>
            </a:avLst>
          </a:prstGeom>
          <a:solidFill>
            <a:srgbClr val="0E3B5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46904" y="512064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19672" y="512064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0E3B5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19672" y="51206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CI-Ready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for Week 6 · Day 6 Gate Review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8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3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framework, testing ShopKart two 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is a minimal e-commerce checkout service — a REST API plus a small web UI, backed by MySQL. The suite drives it through both front doors from a single shared codebase, described in plain-language Cucumber scenarios.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92240" y="1737360"/>
            <a:ext cx="502920" cy="502920"/>
          </a:xfrm>
          <a:prstGeom prst="ellipse">
            <a:avLst/>
          </a:prstGeom>
          <a:solidFill>
            <a:srgbClr val="D8E9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9224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78040" y="171907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78040" y="205740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clients call ShopKart's auth, cart, order and product endpoints directly — fast, no browser.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3154680"/>
            <a:ext cx="502920" cy="502920"/>
          </a:xfrm>
          <a:prstGeom prst="ellipse">
            <a:avLst/>
          </a:prstGeom>
          <a:solidFill>
            <a:srgbClr val="D8E9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9224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178040" y="31363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78040" y="347472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page objects drive the real storefront in a browser via dynamic, parameterized XPath.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4572000"/>
            <a:ext cx="502920" cy="502920"/>
          </a:xfrm>
          <a:prstGeom prst="ellipse">
            <a:avLst/>
          </a:prstGeom>
          <a:solidFill>
            <a:srgbClr val="D8E9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9224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78040" y="45537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Layer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78040" y="489204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feature files describe behavior in business language; step definitions translate it to code.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5577840" cy="2468880"/>
          </a:xfrm>
          <a:prstGeom prst="roundRect">
            <a:avLst>
              <a:gd name="adj" fmla="val 2222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24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under test — ShopKart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114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3172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4526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31720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http://localhost:8080/api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49377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31720" y="4937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 (Testcontainers, per-test)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5532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3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request travels through five layers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892808"/>
            <a:ext cx="502920" cy="502920"/>
          </a:xfrm>
          <a:prstGeom prst="ellipse">
            <a:avLst/>
          </a:prstGeom>
          <a:solidFill>
            <a:srgbClr val="0E3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Runner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43400" y="1810512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.feature files — human-readable scenarios run by the JUnit/Cucumber runner.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1792" y="24688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24328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77240" y="2734056"/>
            <a:ext cx="502920" cy="502920"/>
          </a:xfrm>
          <a:prstGeom prst="ellipse">
            <a:avLst/>
          </a:prstGeom>
          <a:solidFill>
            <a:srgbClr val="0E3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7240" y="27340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26700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Definitions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43400" y="2651760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AuthSteps, CartSteps, OrderSteps, ProductSteps map each Gherkin line to Java code — thin glue only.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1792" y="331012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65576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77240" y="3575304"/>
            <a:ext cx="502920" cy="502920"/>
          </a:xfrm>
          <a:prstGeom prst="ellipse">
            <a:avLst/>
          </a:prstGeom>
          <a:solidFill>
            <a:srgbClr val="0E3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240" y="35753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35112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&amp; Pages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43400" y="3493008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AuthClient / CartClient / OrderClient / ProductClient hit the API; page objects drive the UI.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1792" y="415137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306824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77240" y="4416552"/>
            <a:ext cx="502920" cy="502920"/>
          </a:xfrm>
          <a:prstGeom prst="ellipse">
            <a:avLst/>
          </a:prstGeom>
          <a:solidFill>
            <a:srgbClr val="0E3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77240" y="4416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54480" y="435254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 &amp; Locators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343400" y="4334256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CartBuilder / OrderBuilder assemble test data; the Xp class holds every dynamic XPath template.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1792" y="499262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148072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77240" y="5257800"/>
            <a:ext cx="502920" cy="502920"/>
          </a:xfrm>
          <a:prstGeom prst="ellipse">
            <a:avLst/>
          </a:prstGeom>
          <a:solidFill>
            <a:srgbClr val="0E3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7724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554480" y="51937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Resources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343400" y="5175504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AppConfig, Env, Hooks, Secrets + properties/Allure config wire everything to an environment.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 technology stack (Week 6)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0E3B5C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93852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/ Runtime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26771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(LTS)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0E3B5C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46520" y="193852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/ Runner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46520" y="226771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7 · JUnit Platform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99232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0E3B5C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31089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438144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2999232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0E3B5C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46520" y="31089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Testing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3438144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(dynamic XPath)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69664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0E3B5C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427939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Isolation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608576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 · MySQL · Flyway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4169664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0E3B5C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46520" y="427939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4608576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(primary) · Maven (variant)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340096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0E3B5C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7240" y="5449824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5779008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— history, categories, executive view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8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AM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3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of 6 scenarios automated end-to-end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brief scopes six scenarios across UI, API, DB and security layers. Product Search — the UI + API smoke scenario — is complete. The remaining five are scoped and next in the plan.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0E3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search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+ 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330098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3FA796"/>
          </a:solidFill>
          <a:ln w="12700">
            <a:solidFill>
              <a:srgbClr val="3FA7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017520" y="3300984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25112" y="251460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53712" y="26517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53712" y="29260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totals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53712" y="32918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DB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93992" y="330098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D72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793992" y="3300984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01584" y="251460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330184" y="26517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30184" y="29260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E2E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30184" y="32918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→ API → DB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570464" y="330098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D72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570464" y="3300984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77240" y="43434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617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access (403)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7240" y="4983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security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017520" y="499262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D72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017520" y="4992624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25112" y="420624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553712" y="43434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53712" y="4617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rules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53712" y="4983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93992" y="499262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D72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793992" y="4992624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101584" y="420624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330184" y="43434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30184" y="4617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stock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30184" y="4983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570464" y="499262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D72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10570464" y="4992624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3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1 — Product search, proved twice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fact — that search returns the right products — is proved from both sides: a customer sees it in the browser, and the API confirms the same data underneath.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0E3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path — Selenium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D8E9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99923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ShopKart home page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639312"/>
            <a:ext cx="365760" cy="365760"/>
          </a:xfrm>
          <a:prstGeom prst="ellipse">
            <a:avLst/>
          </a:prstGeom>
          <a:solidFill>
            <a:srgbClr val="D8E9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36393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62102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a product by name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261104"/>
            <a:ext cx="365760" cy="365760"/>
          </a:xfrm>
          <a:prstGeom prst="ellipse">
            <a:avLst/>
          </a:prstGeom>
          <a:solidFill>
            <a:srgbClr val="D8E9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42611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424281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card renders via dynamic XPath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82896"/>
            <a:ext cx="365760" cy="365760"/>
          </a:xfrm>
          <a:prstGeom prst="ellipse">
            <a:avLst/>
          </a:prstGeom>
          <a:solidFill>
            <a:srgbClr val="D8E9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48828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486460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product name &amp; price shown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237744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172200" y="237744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path — REST Assured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63640" y="3017520"/>
            <a:ext cx="365760" cy="365760"/>
          </a:xfrm>
          <a:prstGeom prst="ellipse">
            <a:avLst/>
          </a:prstGeom>
          <a:solidFill>
            <a:srgbClr val="D8E9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26364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299923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/api/products?q=&lt;term&gt;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3639312"/>
            <a:ext cx="365760" cy="365760"/>
          </a:xfrm>
          <a:prstGeom prst="ellipse">
            <a:avLst/>
          </a:prstGeom>
          <a:solidFill>
            <a:srgbClr val="D8E9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263640" y="36393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66560" y="362102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200 response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63640" y="4261104"/>
            <a:ext cx="365760" cy="365760"/>
          </a:xfrm>
          <a:prstGeom prst="ellipse">
            <a:avLst/>
          </a:prstGeom>
          <a:solidFill>
            <a:srgbClr val="D8E9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263640" y="42611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0" y="424281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sku, name, pricePaise, stock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63640" y="4882896"/>
            <a:ext cx="365760" cy="365760"/>
          </a:xfrm>
          <a:prstGeom prst="ellipse">
            <a:avLst/>
          </a:prstGeom>
          <a:solidFill>
            <a:srgbClr val="D8E9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263640" y="48828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66560" y="486460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against UI result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Behind the scenario: feature file + step logic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0E3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A7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features/product_search.feature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93776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chemeClr val="bg1"/>
                </a:solidFill>
              </a:rPr>
              <a:t>@smoke</a:t>
            </a:r>
            <a:br>
              <a:rPr lang="en-IN" sz="1100" dirty="0">
                <a:solidFill>
                  <a:schemeClr val="bg1"/>
                </a:solidFill>
              </a:rPr>
            </a:br>
            <a:r>
              <a:rPr lang="en-IN" sz="1100" dirty="0">
                <a:solidFill>
                  <a:schemeClr val="bg1"/>
                </a:solidFill>
              </a:rPr>
              <a:t>@ui</a:t>
            </a:r>
            <a:br>
              <a:rPr lang="en-IN" sz="1100" dirty="0">
                <a:solidFill>
                  <a:schemeClr val="bg1"/>
                </a:solidFill>
              </a:rPr>
            </a:br>
            <a:r>
              <a:rPr lang="en-IN" sz="1100" dirty="0">
                <a:solidFill>
                  <a:schemeClr val="bg1"/>
                </a:solidFill>
              </a:rPr>
              <a:t>@api</a:t>
            </a:r>
            <a:br>
              <a:rPr lang="en-IN" sz="1100" dirty="0">
                <a:solidFill>
                  <a:schemeClr val="bg1"/>
                </a:solidFill>
              </a:rPr>
            </a:br>
            <a:r>
              <a:rPr lang="en-IN" sz="1100" dirty="0">
                <a:solidFill>
                  <a:schemeClr val="bg1"/>
                </a:solidFill>
              </a:rPr>
              <a:t>Feature: Product Search</a:t>
            </a:r>
            <a:br>
              <a:rPr lang="en-IN" sz="1100" dirty="0">
                <a:solidFill>
                  <a:schemeClr val="bg1"/>
                </a:solidFill>
              </a:rPr>
            </a:br>
            <a:br>
              <a:rPr lang="en-IN" sz="1100" dirty="0">
                <a:solidFill>
                  <a:schemeClr val="bg1"/>
                </a:solidFill>
              </a:rPr>
            </a:br>
            <a:r>
              <a:rPr lang="en-IN" sz="1100" dirty="0">
                <a:solidFill>
                  <a:schemeClr val="bg1"/>
                </a:solidFill>
              </a:rPr>
              <a:t>  Scenario: Verify product search</a:t>
            </a:r>
            <a:br>
              <a:rPr lang="en-IN" sz="1100" dirty="0">
                <a:solidFill>
                  <a:schemeClr val="bg1"/>
                </a:solidFill>
              </a:rPr>
            </a:br>
            <a:r>
              <a:rPr lang="en-IN" sz="1100" dirty="0">
                <a:solidFill>
                  <a:schemeClr val="bg1"/>
                </a:solidFill>
              </a:rPr>
              <a:t>    Given user is on the homepage</a:t>
            </a:r>
            <a:br>
              <a:rPr lang="en-IN" sz="1100" dirty="0">
                <a:solidFill>
                  <a:schemeClr val="bg1"/>
                </a:solidFill>
              </a:rPr>
            </a:br>
            <a:r>
              <a:rPr lang="en-IN" sz="1100" dirty="0">
                <a:solidFill>
                  <a:schemeClr val="bg1"/>
                </a:solidFill>
              </a:rPr>
              <a:t>    When user searches for "Bottle"</a:t>
            </a:r>
            <a:br>
              <a:rPr lang="en-IN" sz="1100" dirty="0">
                <a:solidFill>
                  <a:schemeClr val="bg1"/>
                </a:solidFill>
              </a:rPr>
            </a:br>
            <a:r>
              <a:rPr lang="en-IN" sz="1100" dirty="0">
                <a:solidFill>
                  <a:schemeClr val="bg1"/>
                </a:solidFill>
              </a:rPr>
              <a:t>    Then product "Bottle" should be displayed</a:t>
            </a:r>
            <a:br>
              <a:rPr lang="en-IN" sz="1100" dirty="0">
                <a:solidFill>
                  <a:schemeClr val="bg1"/>
                </a:solidFill>
              </a:rPr>
            </a:br>
            <a:r>
              <a:rPr lang="en-IN" sz="1100" dirty="0">
                <a:solidFill>
                  <a:schemeClr val="bg1"/>
                </a:solidFill>
              </a:rPr>
              <a:t>    And Product API should return "Bottle"</a:t>
            </a:r>
            <a:br>
              <a:rPr lang="en-IN" sz="1100" dirty="0">
                <a:solidFill>
                  <a:schemeClr val="bg1"/>
                </a:solidFill>
              </a:rPr>
            </a:b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0E3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4652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A7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stepdefs/ProductSearchSteps.java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46520" y="2286000"/>
            <a:ext cx="493776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900" dirty="0">
                <a:solidFill>
                  <a:schemeClr val="bg1"/>
                </a:solidFill>
              </a:rPr>
              <a:t>@Given("user is on the homepage")</a:t>
            </a:r>
            <a:br>
              <a:rPr lang="en-IN" sz="900" dirty="0">
                <a:solidFill>
                  <a:schemeClr val="bg1"/>
                </a:solidFill>
              </a:rPr>
            </a:br>
            <a:r>
              <a:rPr lang="en-IN" sz="900" dirty="0">
                <a:solidFill>
                  <a:schemeClr val="bg1"/>
                </a:solidFill>
              </a:rPr>
              <a:t>public void open()</a:t>
            </a:r>
            <a:br>
              <a:rPr lang="en-IN" sz="900" dirty="0">
                <a:solidFill>
                  <a:schemeClr val="bg1"/>
                </a:solidFill>
              </a:rPr>
            </a:br>
            <a:r>
              <a:rPr lang="en-IN" sz="900" dirty="0">
                <a:solidFill>
                  <a:schemeClr val="bg1"/>
                </a:solidFill>
              </a:rPr>
              <a:t>{</a:t>
            </a:r>
            <a:br>
              <a:rPr lang="en-IN" sz="900" dirty="0">
                <a:solidFill>
                  <a:schemeClr val="bg1"/>
                </a:solidFill>
              </a:rPr>
            </a:br>
            <a:r>
              <a:rPr lang="en-IN" sz="900" dirty="0">
                <a:solidFill>
                  <a:schemeClr val="bg1"/>
                </a:solidFill>
              </a:rPr>
              <a:t>    </a:t>
            </a:r>
            <a:r>
              <a:rPr lang="en-IN" sz="900" dirty="0" err="1">
                <a:solidFill>
                  <a:schemeClr val="bg1"/>
                </a:solidFill>
              </a:rPr>
              <a:t>this.world.searchpage</a:t>
            </a:r>
            <a:r>
              <a:rPr lang="en-IN" sz="900" dirty="0">
                <a:solidFill>
                  <a:schemeClr val="bg1"/>
                </a:solidFill>
              </a:rPr>
              <a:t>=new </a:t>
            </a:r>
            <a:r>
              <a:rPr lang="en-IN" sz="900" dirty="0" err="1">
                <a:solidFill>
                  <a:schemeClr val="bg1"/>
                </a:solidFill>
              </a:rPr>
              <a:t>SearchPage</a:t>
            </a:r>
            <a:r>
              <a:rPr lang="en-IN" sz="900" dirty="0">
                <a:solidFill>
                  <a:schemeClr val="bg1"/>
                </a:solidFill>
              </a:rPr>
              <a:t>().</a:t>
            </a:r>
            <a:r>
              <a:rPr lang="en-IN" sz="900" dirty="0" err="1">
                <a:solidFill>
                  <a:schemeClr val="bg1"/>
                </a:solidFill>
              </a:rPr>
              <a:t>openHome</a:t>
            </a:r>
            <a:r>
              <a:rPr lang="en-IN" sz="900" dirty="0">
                <a:solidFill>
                  <a:schemeClr val="bg1"/>
                </a:solidFill>
              </a:rPr>
              <a:t>();</a:t>
            </a:r>
            <a:br>
              <a:rPr lang="en-IN" sz="900" dirty="0">
                <a:solidFill>
                  <a:schemeClr val="bg1"/>
                </a:solidFill>
              </a:rPr>
            </a:br>
            <a:r>
              <a:rPr lang="en-IN" sz="900" dirty="0">
                <a:solidFill>
                  <a:schemeClr val="bg1"/>
                </a:solidFill>
              </a:rPr>
              <a:t>}</a:t>
            </a:r>
            <a:br>
              <a:rPr lang="en-IN" sz="900" dirty="0">
                <a:solidFill>
                  <a:schemeClr val="bg1"/>
                </a:solidFill>
              </a:rPr>
            </a:br>
            <a:br>
              <a:rPr lang="en-IN" sz="900" dirty="0">
                <a:solidFill>
                  <a:schemeClr val="bg1"/>
                </a:solidFill>
              </a:rPr>
            </a:br>
            <a:r>
              <a:rPr lang="en-IN" sz="900" dirty="0">
                <a:solidFill>
                  <a:schemeClr val="bg1"/>
                </a:solidFill>
              </a:rPr>
              <a:t>@When("user searches for {string}")</a:t>
            </a:r>
            <a:br>
              <a:rPr lang="en-IN" sz="900" dirty="0">
                <a:solidFill>
                  <a:schemeClr val="bg1"/>
                </a:solidFill>
              </a:rPr>
            </a:br>
            <a:r>
              <a:rPr lang="en-IN" sz="900" dirty="0">
                <a:solidFill>
                  <a:schemeClr val="bg1"/>
                </a:solidFill>
              </a:rPr>
              <a:t>public void </a:t>
            </a:r>
            <a:r>
              <a:rPr lang="en-IN" sz="900" dirty="0" err="1">
                <a:solidFill>
                  <a:schemeClr val="bg1"/>
                </a:solidFill>
              </a:rPr>
              <a:t>searchProduct</a:t>
            </a:r>
            <a:r>
              <a:rPr lang="en-IN" sz="900" dirty="0">
                <a:solidFill>
                  <a:schemeClr val="bg1"/>
                </a:solidFill>
              </a:rPr>
              <a:t>(String product) {</a:t>
            </a:r>
            <a:br>
              <a:rPr lang="en-IN" sz="900" dirty="0">
                <a:solidFill>
                  <a:schemeClr val="bg1"/>
                </a:solidFill>
              </a:rPr>
            </a:br>
            <a:r>
              <a:rPr lang="en-IN" sz="900" dirty="0">
                <a:solidFill>
                  <a:schemeClr val="bg1"/>
                </a:solidFill>
              </a:rPr>
              <a:t>    </a:t>
            </a:r>
            <a:r>
              <a:rPr lang="en-IN" sz="900" dirty="0" err="1">
                <a:solidFill>
                  <a:schemeClr val="bg1"/>
                </a:solidFill>
              </a:rPr>
              <a:t>this.world.searchpage.search</a:t>
            </a:r>
            <a:r>
              <a:rPr lang="en-IN" sz="900" dirty="0">
                <a:solidFill>
                  <a:schemeClr val="bg1"/>
                </a:solidFill>
              </a:rPr>
              <a:t>(product);</a:t>
            </a:r>
            <a:br>
              <a:rPr lang="en-IN" sz="900" dirty="0">
                <a:solidFill>
                  <a:schemeClr val="bg1"/>
                </a:solidFill>
              </a:rPr>
            </a:br>
            <a:r>
              <a:rPr lang="en-IN" sz="900" dirty="0">
                <a:solidFill>
                  <a:schemeClr val="bg1"/>
                </a:solidFill>
              </a:rPr>
              <a:t>}</a:t>
            </a:r>
            <a:br>
              <a:rPr lang="en-IN" sz="900" dirty="0">
                <a:solidFill>
                  <a:schemeClr val="bg1"/>
                </a:solidFill>
              </a:rPr>
            </a:br>
            <a:br>
              <a:rPr lang="en-IN" sz="900" dirty="0">
                <a:solidFill>
                  <a:schemeClr val="bg1"/>
                </a:solidFill>
              </a:rPr>
            </a:br>
            <a:r>
              <a:rPr lang="en-IN" sz="900" dirty="0">
                <a:solidFill>
                  <a:schemeClr val="bg1"/>
                </a:solidFill>
              </a:rPr>
              <a:t>@Then("product {string} should be displayed")</a:t>
            </a:r>
            <a:br>
              <a:rPr lang="en-IN" sz="900" dirty="0">
                <a:solidFill>
                  <a:schemeClr val="bg1"/>
                </a:solidFill>
              </a:rPr>
            </a:br>
            <a:r>
              <a:rPr lang="en-IN" sz="900" dirty="0">
                <a:solidFill>
                  <a:schemeClr val="bg1"/>
                </a:solidFill>
              </a:rPr>
              <a:t>public void </a:t>
            </a:r>
            <a:r>
              <a:rPr lang="en-IN" sz="900" dirty="0" err="1">
                <a:solidFill>
                  <a:schemeClr val="bg1"/>
                </a:solidFill>
              </a:rPr>
              <a:t>verifyProductUi</a:t>
            </a:r>
            <a:r>
              <a:rPr lang="en-IN" sz="900" dirty="0">
                <a:solidFill>
                  <a:schemeClr val="bg1"/>
                </a:solidFill>
              </a:rPr>
              <a:t>(String product) {</a:t>
            </a:r>
            <a:br>
              <a:rPr lang="en-IN" sz="900" dirty="0">
                <a:solidFill>
                  <a:schemeClr val="bg1"/>
                </a:solidFill>
              </a:rPr>
            </a:br>
            <a:r>
              <a:rPr lang="en-IN" sz="900" dirty="0">
                <a:solidFill>
                  <a:schemeClr val="bg1"/>
                </a:solidFill>
              </a:rPr>
              <a:t>    </a:t>
            </a:r>
            <a:r>
              <a:rPr lang="en-IN" sz="900" dirty="0" err="1">
                <a:solidFill>
                  <a:schemeClr val="bg1"/>
                </a:solidFill>
              </a:rPr>
              <a:t>this.world.searchpage.verifyProduct</a:t>
            </a:r>
            <a:r>
              <a:rPr lang="en-IN" sz="900" dirty="0">
                <a:solidFill>
                  <a:schemeClr val="bg1"/>
                </a:solidFill>
              </a:rPr>
              <a:t>(product);</a:t>
            </a:r>
            <a:br>
              <a:rPr lang="en-IN" sz="900" dirty="0">
                <a:solidFill>
                  <a:schemeClr val="bg1"/>
                </a:solidFill>
              </a:rPr>
            </a:br>
            <a:r>
              <a:rPr lang="en-IN" sz="900" dirty="0">
                <a:solidFill>
                  <a:schemeClr val="bg1"/>
                </a:solidFill>
              </a:rPr>
              <a:t>}</a:t>
            </a:r>
            <a:br>
              <a:rPr lang="en-IN" sz="900" dirty="0">
                <a:solidFill>
                  <a:schemeClr val="bg1"/>
                </a:solidFill>
              </a:rPr>
            </a:br>
            <a:br>
              <a:rPr lang="en-IN" sz="900" dirty="0">
                <a:solidFill>
                  <a:schemeClr val="bg1"/>
                </a:solidFill>
              </a:rPr>
            </a:br>
            <a:r>
              <a:rPr lang="en-IN" sz="900" dirty="0">
                <a:solidFill>
                  <a:schemeClr val="bg1"/>
                </a:solidFill>
              </a:rPr>
              <a:t>@Then("Product API should return {string}")</a:t>
            </a:r>
            <a:br>
              <a:rPr lang="en-IN" sz="900" dirty="0">
                <a:solidFill>
                  <a:schemeClr val="bg1"/>
                </a:solidFill>
              </a:rPr>
            </a:br>
            <a:r>
              <a:rPr lang="en-IN" sz="900" dirty="0">
                <a:solidFill>
                  <a:schemeClr val="bg1"/>
                </a:solidFill>
              </a:rPr>
              <a:t>public void </a:t>
            </a:r>
            <a:r>
              <a:rPr lang="en-IN" sz="900" dirty="0" err="1">
                <a:solidFill>
                  <a:schemeClr val="bg1"/>
                </a:solidFill>
              </a:rPr>
              <a:t>verifyProductApi</a:t>
            </a:r>
            <a:r>
              <a:rPr lang="en-IN" sz="900" dirty="0">
                <a:solidFill>
                  <a:schemeClr val="bg1"/>
                </a:solidFill>
              </a:rPr>
              <a:t>(String product) {</a:t>
            </a:r>
            <a:br>
              <a:rPr lang="en-IN" sz="900" dirty="0">
                <a:solidFill>
                  <a:schemeClr val="bg1"/>
                </a:solidFill>
              </a:rPr>
            </a:br>
            <a:r>
              <a:rPr lang="en-IN" sz="900" dirty="0">
                <a:solidFill>
                  <a:schemeClr val="bg1"/>
                </a:solidFill>
              </a:rPr>
              <a:t>    Response </a:t>
            </a:r>
            <a:r>
              <a:rPr lang="en-IN" sz="900" dirty="0" err="1">
                <a:solidFill>
                  <a:schemeClr val="bg1"/>
                </a:solidFill>
              </a:rPr>
              <a:t>resp</a:t>
            </a:r>
            <a:r>
              <a:rPr lang="en-IN" sz="900" dirty="0">
                <a:solidFill>
                  <a:schemeClr val="bg1"/>
                </a:solidFill>
              </a:rPr>
              <a:t> = </a:t>
            </a:r>
            <a:r>
              <a:rPr lang="en-IN" sz="900" dirty="0" err="1">
                <a:solidFill>
                  <a:schemeClr val="bg1"/>
                </a:solidFill>
              </a:rPr>
              <a:t>this.world.productclient.getProduct</a:t>
            </a:r>
            <a:r>
              <a:rPr lang="en-IN" sz="900" dirty="0">
                <a:solidFill>
                  <a:schemeClr val="bg1"/>
                </a:solidFill>
              </a:rPr>
              <a:t>(product);</a:t>
            </a:r>
            <a:br>
              <a:rPr lang="en-IN" sz="900" dirty="0">
                <a:solidFill>
                  <a:schemeClr val="bg1"/>
                </a:solidFill>
              </a:rPr>
            </a:br>
            <a:r>
              <a:rPr lang="en-IN" sz="900" dirty="0">
                <a:solidFill>
                  <a:schemeClr val="bg1"/>
                </a:solidFill>
              </a:rPr>
              <a:t>    </a:t>
            </a:r>
            <a:r>
              <a:rPr lang="en-IN" sz="900" i="1" dirty="0" err="1">
                <a:solidFill>
                  <a:schemeClr val="bg1"/>
                </a:solidFill>
              </a:rPr>
              <a:t>assertAll</a:t>
            </a:r>
            <a:r>
              <a:rPr lang="en-IN" sz="900" dirty="0">
                <a:solidFill>
                  <a:schemeClr val="bg1"/>
                </a:solidFill>
              </a:rPr>
              <a:t>(</a:t>
            </a:r>
            <a:br>
              <a:rPr lang="en-IN" sz="900" dirty="0">
                <a:solidFill>
                  <a:schemeClr val="bg1"/>
                </a:solidFill>
              </a:rPr>
            </a:br>
            <a:r>
              <a:rPr lang="en-IN" sz="900" dirty="0">
                <a:solidFill>
                  <a:schemeClr val="bg1"/>
                </a:solidFill>
              </a:rPr>
              <a:t>            () -&gt; </a:t>
            </a:r>
            <a:r>
              <a:rPr lang="en-IN" sz="900" i="1" dirty="0" err="1">
                <a:solidFill>
                  <a:schemeClr val="bg1"/>
                </a:solidFill>
              </a:rPr>
              <a:t>assertEquals</a:t>
            </a:r>
            <a:r>
              <a:rPr lang="en-IN" sz="900" dirty="0">
                <a:solidFill>
                  <a:schemeClr val="bg1"/>
                </a:solidFill>
              </a:rPr>
              <a:t>(200, </a:t>
            </a:r>
            <a:r>
              <a:rPr lang="en-IN" sz="900" dirty="0" err="1">
                <a:solidFill>
                  <a:schemeClr val="bg1"/>
                </a:solidFill>
              </a:rPr>
              <a:t>resp.statusCode</a:t>
            </a:r>
            <a:r>
              <a:rPr lang="en-IN" sz="900" dirty="0">
                <a:solidFill>
                  <a:schemeClr val="bg1"/>
                </a:solidFill>
              </a:rPr>
              <a:t>()),</a:t>
            </a:r>
            <a:br>
              <a:rPr lang="en-IN" sz="900" dirty="0">
                <a:solidFill>
                  <a:schemeClr val="bg1"/>
                </a:solidFill>
              </a:rPr>
            </a:br>
            <a:r>
              <a:rPr lang="en-IN" sz="900" dirty="0">
                <a:solidFill>
                  <a:schemeClr val="bg1"/>
                </a:solidFill>
              </a:rPr>
              <a:t>            () -&gt; </a:t>
            </a:r>
            <a:r>
              <a:rPr lang="en-IN" sz="900" i="1" dirty="0" err="1">
                <a:solidFill>
                  <a:schemeClr val="bg1"/>
                </a:solidFill>
              </a:rPr>
              <a:t>assertTrue</a:t>
            </a:r>
            <a:r>
              <a:rPr lang="en-IN" sz="900" dirty="0">
                <a:solidFill>
                  <a:schemeClr val="bg1"/>
                </a:solidFill>
              </a:rPr>
              <a:t>(</a:t>
            </a:r>
            <a:r>
              <a:rPr lang="en-IN" sz="900" dirty="0" err="1">
                <a:solidFill>
                  <a:schemeClr val="bg1"/>
                </a:solidFill>
              </a:rPr>
              <a:t>resp.jsonPath</a:t>
            </a:r>
            <a:r>
              <a:rPr lang="en-IN" sz="900" dirty="0">
                <a:solidFill>
                  <a:schemeClr val="bg1"/>
                </a:solidFill>
              </a:rPr>
              <a:t>().</a:t>
            </a:r>
            <a:r>
              <a:rPr lang="en-IN" sz="900" dirty="0" err="1">
                <a:solidFill>
                  <a:schemeClr val="bg1"/>
                </a:solidFill>
              </a:rPr>
              <a:t>getList</a:t>
            </a:r>
            <a:r>
              <a:rPr lang="en-IN" sz="900" dirty="0">
                <a:solidFill>
                  <a:schemeClr val="bg1"/>
                </a:solidFill>
              </a:rPr>
              <a:t>("name").stream()</a:t>
            </a:r>
            <a:br>
              <a:rPr lang="en-IN" sz="900" dirty="0">
                <a:solidFill>
                  <a:schemeClr val="bg1"/>
                </a:solidFill>
              </a:rPr>
            </a:br>
            <a:r>
              <a:rPr lang="en-IN" sz="900" dirty="0">
                <a:solidFill>
                  <a:schemeClr val="bg1"/>
                </a:solidFill>
              </a:rPr>
              <a:t>                    .</a:t>
            </a:r>
            <a:r>
              <a:rPr lang="en-IN" sz="900" dirty="0" err="1">
                <a:solidFill>
                  <a:schemeClr val="bg1"/>
                </a:solidFill>
              </a:rPr>
              <a:t>anyMatch</a:t>
            </a:r>
            <a:r>
              <a:rPr lang="en-IN" sz="900" dirty="0">
                <a:solidFill>
                  <a:schemeClr val="bg1"/>
                </a:solidFill>
              </a:rPr>
              <a:t>(</a:t>
            </a:r>
            <a:r>
              <a:rPr lang="en-IN" sz="900" dirty="0" err="1">
                <a:solidFill>
                  <a:schemeClr val="bg1"/>
                </a:solidFill>
              </a:rPr>
              <a:t>sku</a:t>
            </a:r>
            <a:r>
              <a:rPr lang="en-IN" sz="900" dirty="0">
                <a:solidFill>
                  <a:schemeClr val="bg1"/>
                </a:solidFill>
              </a:rPr>
              <a:t> -&gt; </a:t>
            </a:r>
            <a:r>
              <a:rPr lang="en-IN" sz="900" dirty="0" err="1">
                <a:solidFill>
                  <a:schemeClr val="bg1"/>
                </a:solidFill>
              </a:rPr>
              <a:t>sku.toString</a:t>
            </a:r>
            <a:r>
              <a:rPr lang="en-IN" sz="900" dirty="0">
                <a:solidFill>
                  <a:schemeClr val="bg1"/>
                </a:solidFill>
              </a:rPr>
              <a:t>().</a:t>
            </a:r>
            <a:r>
              <a:rPr lang="en-IN" sz="900" dirty="0" err="1">
                <a:solidFill>
                  <a:schemeClr val="bg1"/>
                </a:solidFill>
              </a:rPr>
              <a:t>toLowerCase</a:t>
            </a:r>
            <a:r>
              <a:rPr lang="en-IN" sz="900" dirty="0">
                <a:solidFill>
                  <a:schemeClr val="bg1"/>
                </a:solidFill>
              </a:rPr>
              <a:t>().contains(</a:t>
            </a:r>
            <a:r>
              <a:rPr lang="en-IN" sz="900" dirty="0" err="1">
                <a:solidFill>
                  <a:schemeClr val="bg1"/>
                </a:solidFill>
              </a:rPr>
              <a:t>product.toLowerCase</a:t>
            </a:r>
            <a:r>
              <a:rPr lang="en-IN" sz="900" dirty="0">
                <a:solidFill>
                  <a:schemeClr val="bg1"/>
                </a:solidFill>
              </a:rPr>
              <a:t>())))</a:t>
            </a:r>
            <a:br>
              <a:rPr lang="en-IN" sz="900" dirty="0">
                <a:solidFill>
                  <a:schemeClr val="bg1"/>
                </a:solidFill>
              </a:rPr>
            </a:br>
            <a:r>
              <a:rPr lang="en-IN" sz="900" dirty="0">
                <a:solidFill>
                  <a:schemeClr val="bg1"/>
                </a:solidFill>
              </a:rPr>
              <a:t>    );</a:t>
            </a:r>
            <a:br>
              <a:rPr lang="en-IN" sz="900" dirty="0">
                <a:solidFill>
                  <a:schemeClr val="bg1"/>
                </a:solidFill>
              </a:rPr>
            </a:br>
            <a:r>
              <a:rPr lang="en-IN" sz="9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10" name="Text 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8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3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&amp; reporting — what runs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D8E9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81051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on a clean run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1488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passes locally from a cold start against the provided ShopKart container.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48640" cy="548640"/>
          </a:xfrm>
          <a:prstGeom prst="ellipse">
            <a:avLst/>
          </a:prstGeom>
          <a:solidFill>
            <a:srgbClr val="D8E9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86207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kept external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32004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URL and environment are read from application-local.properties, not hardcoded.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rgbClr val="D8E9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391363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wired 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42519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runner is tagged for Allure; history/categories will populate as more scenarios land.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548640" cy="548640"/>
          </a:xfrm>
          <a:prstGeom prst="ellipse">
            <a:avLst/>
          </a:prstGeom>
          <a:solidFill>
            <a:srgbClr val="D8E9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4983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96519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yet in scope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53035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search needs no login, so credential handling is not exercised by this flow yet.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3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tackled and lessons carried forward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441448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dynamic, parameterized XPath right — anchoring on stable attributes instead of brittle index paths.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401568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step definition thin: search logic lives in the page object, not the step.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4361688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REST Assured and Selenium into one Cucumber runner without duplicating config.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2441448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layering (config / api / ui / stepdefs) pays off immediately — the next scenario reuses the same base classes.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3401568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Locators-in-one-place (</a:t>
            </a:r>
            <a:r>
              <a:rPr lang="en-US" sz="1250" dirty="0" err="1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XpathLocators</a:t>
            </a:r>
            <a:r>
              <a:rPr lang="en-US" sz="12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class) means UI changes will only need a single edit later.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4389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4361688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was worth doing first — it will make cart, checkout and negative scenarios faster to add.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THE GATE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toward the pre-capstone review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7830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totals (API + DB)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total = Σ(qty × price) using Testcontainers-isolated Postgres.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724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6791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E2E (UI→API→DB)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0449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flagship scenario — one order verified three ways: UI, API, database.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2102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6210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57530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access (403 security)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94106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another customer cannot read someone else's order.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1713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45171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47141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&amp; out-of-stock rules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83717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remaining negative-path scenarios (409 cases).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4132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5413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53675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Secrets, Allure history, demo dry-run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7332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Secrets resolver, build Allure trend/categories, rehearse the 10-minute demo.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8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1187</Words>
  <Application>Microsoft Office PowerPoint</Application>
  <PresentationFormat>Custom</PresentationFormat>
  <Paragraphs>191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Athuldev Uchummel(UST,IN)</cp:lastModifiedBy>
  <cp:revision>2</cp:revision>
  <dcterms:created xsi:type="dcterms:W3CDTF">2026-07-12T16:33:34Z</dcterms:created>
  <dcterms:modified xsi:type="dcterms:W3CDTF">2026-07-12T16:51:11Z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2026-07-12T16:51:11Z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f2723ecf-20b8-4c6e-8027-68fa6661f1f4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