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436"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326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[presenter name], and today I'll walk you through the ShopKart Automation Framework, the pre-capstone project I built ahead of the full capstone. It's a layered test automation solution covering UI, API, and database validation for an e-commerce checkout flow.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ShopKart mirrors a real e-commerce checkout flow, so every scenario touches multiple layers of the stack, not just one. The core objective was to make the framework reliable and secure enough that it could scale directly into the full capstone project without a rewrite.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tool was chosen deliberately: Selenide and REST Assured handle UI and API layers, Testcontainers and Flyway give us clean, reproducible data, and Allure plus GitHub Actions close the loop with reporting and CI. Nothing here is exotic — it's a standard, well-supported SDET toolchain.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is organized into four clear groups: interaction code that talks to the UI and APIs, the data layer for builders and secrets, the BDD layer of features and step definitions, and shared foundation code. This structure is what keeps the framework maintainable as it grows.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scenarios were chosen to cover the full checkout journey plus its edge cases. Checkout end-to-end and order access are the highest priority because they validate correctness and authorization together across all three layers.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flagship scenario: a full login-to-checkout journey. What makes it strong is that we don't just check the UI — we cross-validate the same order through the API and the database, and every amount is checked down to the paise, so rounding bugs can't hide.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hardcoding brittle paths, locators are parameterized templates centralized in one Xp class, so a single UI tweak doesn't ripple across dozens of tests. Page Objects then wrap these locators into readable actions, keeping step definitions clean.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isolation and security go hand in hand here: Flyway seeds a known baseline, builders create only what a test actually needs, and Testcontainers guarantees each test class starts from a clean database. Just as importantly, no secret ever touches source control, logs, or reports.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triggers GitHub Actions, which spins up Testcontainers, runs the full suite, and publishes an Allure report. That report gives categorized failures, historical trends, and environment context, while keeping every log and attachment redacted of secrets. Security scanning runs in the same pipeline.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framework delivers reliable, isolated, and secure coverage across every layer of the stack, including a real authorization check. The clear next step is broadening scenario coverage and running across more environments and browsers. With that, I believe this framework is ready to support the full capstone scope —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754880" cy="4754880"/>
          </a:xfrm>
          <a:prstGeom prst="ellipse">
            <a:avLst/>
          </a:prstGeom>
          <a:solidFill>
            <a:srgbClr val="26317A"/>
          </a:solidFill>
          <a:ln/>
        </p:spPr>
        <p:txBody>
          <a:bodyPr/>
          <a:lstStyle/>
          <a:p>
            <a:endParaRPr lang="en-IN"/>
          </a:p>
        </p:txBody>
      </p:sp>
      <p:sp>
        <p:nvSpPr>
          <p:cNvPr id="3" name="Shape 1"/>
          <p:cNvSpPr/>
          <p:nvPr/>
        </p:nvSpPr>
        <p:spPr>
          <a:xfrm>
            <a:off x="-1280160" y="4754880"/>
            <a:ext cx="3291840" cy="3291840"/>
          </a:xfrm>
          <a:prstGeom prst="ellipse">
            <a:avLst/>
          </a:prstGeom>
          <a:solidFill>
            <a:srgbClr val="26317A"/>
          </a:solidFill>
          <a:ln/>
        </p:spPr>
        <p:txBody>
          <a:bodyPr/>
          <a:lstStyle/>
          <a:p>
            <a:endParaRPr lang="en-IN"/>
          </a:p>
        </p:txBody>
      </p:sp>
      <p:sp>
        <p:nvSpPr>
          <p:cNvPr id="4" name="Text 2"/>
          <p:cNvSpPr/>
          <p:nvPr/>
        </p:nvSpPr>
        <p:spPr>
          <a:xfrm>
            <a:off x="822960" y="2331720"/>
            <a:ext cx="8229600" cy="365760"/>
          </a:xfrm>
          <a:prstGeom prst="rect">
            <a:avLst/>
          </a:prstGeom>
          <a:noFill/>
          <a:ln/>
        </p:spPr>
        <p:txBody>
          <a:bodyPr wrap="square" lIns="0" tIns="0" rIns="0" bIns="0" rtlCol="0" anchor="ctr"/>
          <a:lstStyle/>
          <a:p>
            <a:pPr marL="0" indent="0">
              <a:buNone/>
            </a:pPr>
            <a:r>
              <a:rPr lang="en-US" sz="1300" kern="0" spc="200" dirty="0">
                <a:solidFill>
                  <a:srgbClr val="CADCFC"/>
                </a:solidFill>
                <a:latin typeface="Calibri" pitchFamily="34" charset="0"/>
                <a:ea typeface="Calibri" pitchFamily="34" charset="-122"/>
                <a:cs typeface="Calibri" pitchFamily="34" charset="-120"/>
              </a:rPr>
              <a:t>SDET AUTOMATION  •  PRE-CAPSTONE PROJECT</a:t>
            </a:r>
            <a:endParaRPr lang="en-US" sz="1300" dirty="0"/>
          </a:p>
        </p:txBody>
      </p:sp>
      <p:sp>
        <p:nvSpPr>
          <p:cNvPr id="5" name="Text 3"/>
          <p:cNvSpPr/>
          <p:nvPr/>
        </p:nvSpPr>
        <p:spPr>
          <a:xfrm>
            <a:off x="822960" y="2697480"/>
            <a:ext cx="9601200" cy="137160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ShopKart Automation Framework</a:t>
            </a:r>
            <a:endParaRPr lang="en-US" sz="4200" dirty="0"/>
          </a:p>
        </p:txBody>
      </p:sp>
      <p:sp>
        <p:nvSpPr>
          <p:cNvPr id="6" name="Text 4"/>
          <p:cNvSpPr/>
          <p:nvPr/>
        </p:nvSpPr>
        <p:spPr>
          <a:xfrm>
            <a:off x="822960" y="3977640"/>
            <a:ext cx="8412480" cy="54864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A layered UI, API, and database test automation framework for an e-commerce checkout journey</a:t>
            </a:r>
            <a:endParaRPr lang="en-US" sz="1500" dirty="0"/>
          </a:p>
        </p:txBody>
      </p:sp>
      <p:sp>
        <p:nvSpPr>
          <p:cNvPr id="8" name="Text 6"/>
          <p:cNvSpPr/>
          <p:nvPr/>
        </p:nvSpPr>
        <p:spPr>
          <a:xfrm>
            <a:off x="822960" y="5212080"/>
            <a:ext cx="4572000" cy="320040"/>
          </a:xfrm>
          <a:prstGeom prst="rect">
            <a:avLst/>
          </a:prstGeom>
          <a:noFill/>
          <a:ln/>
        </p:spPr>
        <p:txBody>
          <a:bodyPr wrap="square" lIns="0" tIns="0" rIns="0" bIns="0" rtlCol="0" anchor="ctr"/>
          <a:lstStyle/>
          <a:p>
            <a:pPr marL="0" indent="0">
              <a:buNone/>
            </a:pPr>
            <a:endParaRPr lang="en-US" sz="1300" dirty="0"/>
          </a:p>
        </p:txBody>
      </p:sp>
      <p:sp>
        <p:nvSpPr>
          <p:cNvPr id="9" name="Text 7"/>
          <p:cNvSpPr/>
          <p:nvPr/>
        </p:nvSpPr>
        <p:spPr>
          <a:xfrm>
            <a:off x="822960" y="6263640"/>
            <a:ext cx="9144000" cy="32004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GitHub Repository: </a:t>
            </a:r>
            <a:r>
              <a:rPr lang="en-US" sz="1150" u="sng" dirty="0">
                <a:solidFill>
                  <a:srgbClr val="FFFFFF"/>
                </a:solidFill>
                <a:latin typeface="Calibri" pitchFamily="34" charset="0"/>
                <a:ea typeface="Calibri" pitchFamily="34" charset="-122"/>
                <a:cs typeface="Calibri" pitchFamily="34" charset="-120"/>
                <a:hlinkClick r:id="" action="ppaction://noaction">
                  <a:extLst>
                    <a:ext uri="{A12FA001-AC4F-418D-AE19-62706E023703}">
                      <ahyp:hlinkClr xmlns:ahyp="http://schemas.microsoft.com/office/drawing/2018/hyperlinkcolor" val="tx"/>
                    </a:ext>
                  </a:extLst>
                </a:hlinkClick>
              </a:rPr>
              <a:t>[https://github.com/gh-ust-sankaran-s/Shopkart-automation]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Project Overview</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4" name="Text 2"/>
          <p:cNvSpPr/>
          <p:nvPr/>
        </p:nvSpPr>
        <p:spPr>
          <a:xfrm>
            <a:off x="548640" y="1417320"/>
            <a:ext cx="5486400" cy="36576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What ShopKart Validates</a:t>
            </a:r>
            <a:endParaRPr lang="en-US" sz="1600" dirty="0"/>
          </a:p>
        </p:txBody>
      </p:sp>
      <p:sp>
        <p:nvSpPr>
          <p:cNvPr id="5" name="Text 3"/>
          <p:cNvSpPr/>
          <p:nvPr/>
        </p:nvSpPr>
        <p:spPr>
          <a:xfrm>
            <a:off x="548640" y="1874520"/>
            <a:ext cx="5577840" cy="1554480"/>
          </a:xfrm>
          <a:prstGeom prst="rect">
            <a:avLst/>
          </a:prstGeom>
          <a:noFill/>
          <a:ln/>
        </p:spPr>
        <p:txBody>
          <a:bodyPr wrap="square" lIns="0" tIns="0" rIns="0" bIns="0" rtlCol="0" anchor="ctr"/>
          <a:lstStyle/>
          <a:p>
            <a:pPr marL="0" indent="0">
              <a:lnSpc>
                <a:spcPct val="125000"/>
              </a:lnSpc>
              <a:buNone/>
            </a:pPr>
            <a:r>
              <a:rPr lang="en-US" sz="1450" dirty="0">
                <a:solidFill>
                  <a:srgbClr val="1E2130"/>
                </a:solidFill>
                <a:latin typeface="Calibri" pitchFamily="34" charset="0"/>
                <a:ea typeface="Calibri" pitchFamily="34" charset="-122"/>
                <a:cs typeface="Calibri" pitchFamily="34" charset="-120"/>
              </a:rPr>
              <a:t>ShopKart is an e-commerce application. This framework validates its checkout journey end-to-end — across the web UI, REST APIs, and the MySQL database — so a passing suite means the whole stack agrees.</a:t>
            </a:r>
            <a:endParaRPr lang="en-US" sz="1450" dirty="0"/>
          </a:p>
        </p:txBody>
      </p:sp>
      <p:sp>
        <p:nvSpPr>
          <p:cNvPr id="6" name="Text 4"/>
          <p:cNvSpPr/>
          <p:nvPr/>
        </p:nvSpPr>
        <p:spPr>
          <a:xfrm>
            <a:off x="548640" y="3520440"/>
            <a:ext cx="5486400" cy="36576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Objective</a:t>
            </a:r>
            <a:endParaRPr lang="en-US" sz="1600" dirty="0"/>
          </a:p>
        </p:txBody>
      </p:sp>
      <p:sp>
        <p:nvSpPr>
          <p:cNvPr id="7" name="Text 5"/>
          <p:cNvSpPr/>
          <p:nvPr/>
        </p:nvSpPr>
        <p:spPr>
          <a:xfrm>
            <a:off x="548640" y="3977640"/>
            <a:ext cx="5577840" cy="914400"/>
          </a:xfrm>
          <a:prstGeom prst="rect">
            <a:avLst/>
          </a:prstGeom>
          <a:noFill/>
          <a:ln/>
        </p:spPr>
        <p:txBody>
          <a:bodyPr wrap="square" lIns="0" tIns="0" rIns="0" bIns="0" rtlCol="0" anchor="ctr"/>
          <a:lstStyle/>
          <a:p>
            <a:pPr marL="0" indent="0">
              <a:lnSpc>
                <a:spcPct val="125000"/>
              </a:lnSpc>
              <a:buNone/>
            </a:pPr>
            <a:r>
              <a:rPr lang="en-US" sz="1450" dirty="0">
                <a:solidFill>
                  <a:srgbClr val="1E2130"/>
                </a:solidFill>
                <a:latin typeface="Calibri" pitchFamily="34" charset="0"/>
                <a:ea typeface="Calibri" pitchFamily="34" charset="-122"/>
                <a:cs typeface="Calibri" pitchFamily="34" charset="-120"/>
              </a:rPr>
              <a:t>Build a test automation framework that is reliable, maintainable, secure, and scalable — ready to grow into the full capstone scope.</a:t>
            </a:r>
            <a:endParaRPr lang="en-US" sz="1450" dirty="0"/>
          </a:p>
        </p:txBody>
      </p:sp>
      <p:sp>
        <p:nvSpPr>
          <p:cNvPr id="8" name="Shape 6"/>
          <p:cNvSpPr/>
          <p:nvPr/>
        </p:nvSpPr>
        <p:spPr>
          <a:xfrm>
            <a:off x="6675120" y="1463040"/>
            <a:ext cx="4937760" cy="960120"/>
          </a:xfrm>
          <a:prstGeom prst="roundRect">
            <a:avLst>
              <a:gd name="adj" fmla="val 7619"/>
            </a:avLst>
          </a:prstGeom>
          <a:solidFill>
            <a:srgbClr val="F3F6FC"/>
          </a:solidFill>
          <a:ln/>
        </p:spPr>
        <p:txBody>
          <a:bodyPr/>
          <a:lstStyle/>
          <a:p>
            <a:endParaRPr lang="en-IN"/>
          </a:p>
        </p:txBody>
      </p:sp>
      <p:sp>
        <p:nvSpPr>
          <p:cNvPr id="9" name="Shape 7"/>
          <p:cNvSpPr/>
          <p:nvPr/>
        </p:nvSpPr>
        <p:spPr>
          <a:xfrm>
            <a:off x="6903720" y="1691640"/>
            <a:ext cx="502920" cy="502920"/>
          </a:xfrm>
          <a:prstGeom prst="ellipse">
            <a:avLst/>
          </a:prstGeom>
          <a:solidFill>
            <a:srgbClr val="1E2761"/>
          </a:solidFill>
          <a:ln/>
        </p:spPr>
        <p:txBody>
          <a:bodyPr/>
          <a:lstStyle/>
          <a:p>
            <a:endParaRPr lang="en-IN"/>
          </a:p>
        </p:txBody>
      </p:sp>
      <p:sp>
        <p:nvSpPr>
          <p:cNvPr id="10" name="Text 8"/>
          <p:cNvSpPr/>
          <p:nvPr/>
        </p:nvSpPr>
        <p:spPr>
          <a:xfrm>
            <a:off x="6903720" y="16916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11" name="Text 9"/>
          <p:cNvSpPr/>
          <p:nvPr/>
        </p:nvSpPr>
        <p:spPr>
          <a:xfrm>
            <a:off x="7589520" y="1572768"/>
            <a:ext cx="3840480" cy="32004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Reliable</a:t>
            </a:r>
            <a:endParaRPr lang="en-US" sz="1450" dirty="0"/>
          </a:p>
        </p:txBody>
      </p:sp>
      <p:sp>
        <p:nvSpPr>
          <p:cNvPr id="12" name="Text 10"/>
          <p:cNvSpPr/>
          <p:nvPr/>
        </p:nvSpPr>
        <p:spPr>
          <a:xfrm>
            <a:off x="7589520" y="1901952"/>
            <a:ext cx="3840480" cy="3657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Consistent results, low flake</a:t>
            </a:r>
            <a:endParaRPr lang="en-US" sz="1150" dirty="0"/>
          </a:p>
        </p:txBody>
      </p:sp>
      <p:sp>
        <p:nvSpPr>
          <p:cNvPr id="13" name="Shape 11"/>
          <p:cNvSpPr/>
          <p:nvPr/>
        </p:nvSpPr>
        <p:spPr>
          <a:xfrm>
            <a:off x="6675120" y="2606040"/>
            <a:ext cx="4937760" cy="960120"/>
          </a:xfrm>
          <a:prstGeom prst="roundRect">
            <a:avLst>
              <a:gd name="adj" fmla="val 7619"/>
            </a:avLst>
          </a:prstGeom>
          <a:solidFill>
            <a:srgbClr val="F3F6FC"/>
          </a:solidFill>
          <a:ln/>
        </p:spPr>
        <p:txBody>
          <a:bodyPr/>
          <a:lstStyle/>
          <a:p>
            <a:endParaRPr lang="en-IN"/>
          </a:p>
        </p:txBody>
      </p:sp>
      <p:sp>
        <p:nvSpPr>
          <p:cNvPr id="14" name="Shape 12"/>
          <p:cNvSpPr/>
          <p:nvPr/>
        </p:nvSpPr>
        <p:spPr>
          <a:xfrm>
            <a:off x="6903720" y="2834640"/>
            <a:ext cx="502920" cy="502920"/>
          </a:xfrm>
          <a:prstGeom prst="ellipse">
            <a:avLst/>
          </a:prstGeom>
          <a:solidFill>
            <a:srgbClr val="1E2761"/>
          </a:solidFill>
          <a:ln/>
        </p:spPr>
        <p:txBody>
          <a:bodyPr/>
          <a:lstStyle/>
          <a:p>
            <a:endParaRPr lang="en-IN"/>
          </a:p>
        </p:txBody>
      </p:sp>
      <p:sp>
        <p:nvSpPr>
          <p:cNvPr id="15" name="Text 13"/>
          <p:cNvSpPr/>
          <p:nvPr/>
        </p:nvSpPr>
        <p:spPr>
          <a:xfrm>
            <a:off x="6903720" y="28346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16" name="Text 14"/>
          <p:cNvSpPr/>
          <p:nvPr/>
        </p:nvSpPr>
        <p:spPr>
          <a:xfrm>
            <a:off x="7589520" y="2715768"/>
            <a:ext cx="3840480" cy="32004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Maintainable</a:t>
            </a:r>
            <a:endParaRPr lang="en-US" sz="1450" dirty="0"/>
          </a:p>
        </p:txBody>
      </p:sp>
      <p:sp>
        <p:nvSpPr>
          <p:cNvPr id="17" name="Text 15"/>
          <p:cNvSpPr/>
          <p:nvPr/>
        </p:nvSpPr>
        <p:spPr>
          <a:xfrm>
            <a:off x="7589520" y="3044952"/>
            <a:ext cx="3840480" cy="3657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Clear separation of concerns</a:t>
            </a:r>
            <a:endParaRPr lang="en-US" sz="1150" dirty="0"/>
          </a:p>
        </p:txBody>
      </p:sp>
      <p:sp>
        <p:nvSpPr>
          <p:cNvPr id="18" name="Shape 16"/>
          <p:cNvSpPr/>
          <p:nvPr/>
        </p:nvSpPr>
        <p:spPr>
          <a:xfrm>
            <a:off x="6675120" y="3749040"/>
            <a:ext cx="4937760" cy="960120"/>
          </a:xfrm>
          <a:prstGeom prst="roundRect">
            <a:avLst>
              <a:gd name="adj" fmla="val 7619"/>
            </a:avLst>
          </a:prstGeom>
          <a:solidFill>
            <a:srgbClr val="F3F6FC"/>
          </a:solidFill>
          <a:ln/>
        </p:spPr>
        <p:txBody>
          <a:bodyPr/>
          <a:lstStyle/>
          <a:p>
            <a:endParaRPr lang="en-IN"/>
          </a:p>
        </p:txBody>
      </p:sp>
      <p:sp>
        <p:nvSpPr>
          <p:cNvPr id="19" name="Shape 17"/>
          <p:cNvSpPr/>
          <p:nvPr/>
        </p:nvSpPr>
        <p:spPr>
          <a:xfrm>
            <a:off x="6903720" y="3977640"/>
            <a:ext cx="502920" cy="502920"/>
          </a:xfrm>
          <a:prstGeom prst="ellipse">
            <a:avLst/>
          </a:prstGeom>
          <a:solidFill>
            <a:srgbClr val="1E2761"/>
          </a:solidFill>
          <a:ln/>
        </p:spPr>
        <p:txBody>
          <a:bodyPr/>
          <a:lstStyle/>
          <a:p>
            <a:endParaRPr lang="en-IN"/>
          </a:p>
        </p:txBody>
      </p:sp>
      <p:sp>
        <p:nvSpPr>
          <p:cNvPr id="20" name="Text 18"/>
          <p:cNvSpPr/>
          <p:nvPr/>
        </p:nvSpPr>
        <p:spPr>
          <a:xfrm>
            <a:off x="6903720" y="39776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21" name="Text 19"/>
          <p:cNvSpPr/>
          <p:nvPr/>
        </p:nvSpPr>
        <p:spPr>
          <a:xfrm>
            <a:off x="7589520" y="3858768"/>
            <a:ext cx="3840480" cy="32004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Secure</a:t>
            </a:r>
            <a:endParaRPr lang="en-US" sz="1450" dirty="0"/>
          </a:p>
        </p:txBody>
      </p:sp>
      <p:sp>
        <p:nvSpPr>
          <p:cNvPr id="22" name="Text 20"/>
          <p:cNvSpPr/>
          <p:nvPr/>
        </p:nvSpPr>
        <p:spPr>
          <a:xfrm>
            <a:off x="7589520" y="4187952"/>
            <a:ext cx="3840480" cy="3657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No secrets in code or logs</a:t>
            </a:r>
            <a:endParaRPr lang="en-US" sz="1150" dirty="0"/>
          </a:p>
        </p:txBody>
      </p:sp>
      <p:sp>
        <p:nvSpPr>
          <p:cNvPr id="23" name="Shape 21"/>
          <p:cNvSpPr/>
          <p:nvPr/>
        </p:nvSpPr>
        <p:spPr>
          <a:xfrm>
            <a:off x="6675120" y="4892040"/>
            <a:ext cx="4937760" cy="960120"/>
          </a:xfrm>
          <a:prstGeom prst="roundRect">
            <a:avLst>
              <a:gd name="adj" fmla="val 7619"/>
            </a:avLst>
          </a:prstGeom>
          <a:solidFill>
            <a:srgbClr val="F3F6FC"/>
          </a:solidFill>
          <a:ln/>
        </p:spPr>
        <p:txBody>
          <a:bodyPr/>
          <a:lstStyle/>
          <a:p>
            <a:endParaRPr lang="en-IN"/>
          </a:p>
        </p:txBody>
      </p:sp>
      <p:sp>
        <p:nvSpPr>
          <p:cNvPr id="24" name="Shape 22"/>
          <p:cNvSpPr/>
          <p:nvPr/>
        </p:nvSpPr>
        <p:spPr>
          <a:xfrm>
            <a:off x="6903720" y="5120640"/>
            <a:ext cx="502920" cy="502920"/>
          </a:xfrm>
          <a:prstGeom prst="ellipse">
            <a:avLst/>
          </a:prstGeom>
          <a:solidFill>
            <a:srgbClr val="1E2761"/>
          </a:solidFill>
          <a:ln/>
        </p:spPr>
        <p:txBody>
          <a:bodyPr/>
          <a:lstStyle/>
          <a:p>
            <a:endParaRPr lang="en-IN"/>
          </a:p>
        </p:txBody>
      </p:sp>
      <p:sp>
        <p:nvSpPr>
          <p:cNvPr id="25" name="Text 23"/>
          <p:cNvSpPr/>
          <p:nvPr/>
        </p:nvSpPr>
        <p:spPr>
          <a:xfrm>
            <a:off x="6903720" y="51206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26" name="Text 24"/>
          <p:cNvSpPr/>
          <p:nvPr/>
        </p:nvSpPr>
        <p:spPr>
          <a:xfrm>
            <a:off x="7589520" y="5001768"/>
            <a:ext cx="3840480" cy="32004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Scalable</a:t>
            </a:r>
            <a:endParaRPr lang="en-US" sz="1450" dirty="0"/>
          </a:p>
        </p:txBody>
      </p:sp>
      <p:sp>
        <p:nvSpPr>
          <p:cNvPr id="27" name="Text 25"/>
          <p:cNvSpPr/>
          <p:nvPr/>
        </p:nvSpPr>
        <p:spPr>
          <a:xfrm>
            <a:off x="7589520" y="5330952"/>
            <a:ext cx="3840480" cy="3657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Ready for more coverage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Technology Stack</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4" name="Text 2"/>
          <p:cNvSpPr/>
          <p:nvPr/>
        </p:nvSpPr>
        <p:spPr>
          <a:xfrm>
            <a:off x="548640" y="1051560"/>
            <a:ext cx="10058400" cy="36576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Every layer of the stack has a purpose-built, industry-standard tool</a:t>
            </a:r>
            <a:endParaRPr lang="en-US" sz="1400" dirty="0"/>
          </a:p>
        </p:txBody>
      </p:sp>
      <p:sp>
        <p:nvSpPr>
          <p:cNvPr id="5" name="Shape 3"/>
          <p:cNvSpPr/>
          <p:nvPr/>
        </p:nvSpPr>
        <p:spPr>
          <a:xfrm>
            <a:off x="548640" y="1691640"/>
            <a:ext cx="2084832" cy="1508760"/>
          </a:xfrm>
          <a:prstGeom prst="roundRect">
            <a:avLst>
              <a:gd name="adj" fmla="val 5455"/>
            </a:avLst>
          </a:prstGeom>
          <a:solidFill>
            <a:srgbClr val="F3F6FC"/>
          </a:solidFill>
          <a:ln/>
        </p:spPr>
        <p:txBody>
          <a:bodyPr/>
          <a:lstStyle/>
          <a:p>
            <a:endParaRPr lang="en-IN"/>
          </a:p>
        </p:txBody>
      </p:sp>
      <p:sp>
        <p:nvSpPr>
          <p:cNvPr id="6" name="Shape 4"/>
          <p:cNvSpPr/>
          <p:nvPr/>
        </p:nvSpPr>
        <p:spPr>
          <a:xfrm>
            <a:off x="1335024" y="1874520"/>
            <a:ext cx="512064" cy="512064"/>
          </a:xfrm>
          <a:prstGeom prst="ellipse">
            <a:avLst/>
          </a:prstGeom>
          <a:solidFill>
            <a:srgbClr val="1E2761"/>
          </a:solidFill>
          <a:ln/>
        </p:spPr>
        <p:txBody>
          <a:bodyPr/>
          <a:lstStyle/>
          <a:p>
            <a:endParaRPr lang="en-IN"/>
          </a:p>
        </p:txBody>
      </p:sp>
      <p:sp>
        <p:nvSpPr>
          <p:cNvPr id="7" name="Text 5"/>
          <p:cNvSpPr/>
          <p:nvPr/>
        </p:nvSpPr>
        <p:spPr>
          <a:xfrm>
            <a:off x="1335024" y="187452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1</a:t>
            </a:r>
            <a:endParaRPr lang="en-US" sz="1500" dirty="0"/>
          </a:p>
        </p:txBody>
      </p:sp>
      <p:sp>
        <p:nvSpPr>
          <p:cNvPr id="8" name="Text 6"/>
          <p:cNvSpPr/>
          <p:nvPr/>
        </p:nvSpPr>
        <p:spPr>
          <a:xfrm>
            <a:off x="640080" y="246888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Java 21</a:t>
            </a:r>
            <a:endParaRPr lang="en-US" sz="1250" dirty="0"/>
          </a:p>
        </p:txBody>
      </p:sp>
      <p:sp>
        <p:nvSpPr>
          <p:cNvPr id="9" name="Text 7"/>
          <p:cNvSpPr/>
          <p:nvPr/>
        </p:nvSpPr>
        <p:spPr>
          <a:xfrm>
            <a:off x="640080" y="280720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Language</a:t>
            </a:r>
            <a:endParaRPr lang="en-US" sz="1000" dirty="0"/>
          </a:p>
        </p:txBody>
      </p:sp>
      <p:sp>
        <p:nvSpPr>
          <p:cNvPr id="10" name="Shape 8"/>
          <p:cNvSpPr/>
          <p:nvPr/>
        </p:nvSpPr>
        <p:spPr>
          <a:xfrm>
            <a:off x="2798064" y="1691640"/>
            <a:ext cx="2084832" cy="1508760"/>
          </a:xfrm>
          <a:prstGeom prst="roundRect">
            <a:avLst>
              <a:gd name="adj" fmla="val 5455"/>
            </a:avLst>
          </a:prstGeom>
          <a:solidFill>
            <a:srgbClr val="F3F6FC"/>
          </a:solidFill>
          <a:ln/>
        </p:spPr>
        <p:txBody>
          <a:bodyPr/>
          <a:lstStyle/>
          <a:p>
            <a:endParaRPr lang="en-IN"/>
          </a:p>
        </p:txBody>
      </p:sp>
      <p:sp>
        <p:nvSpPr>
          <p:cNvPr id="11" name="Shape 9"/>
          <p:cNvSpPr/>
          <p:nvPr/>
        </p:nvSpPr>
        <p:spPr>
          <a:xfrm>
            <a:off x="3584448" y="1874520"/>
            <a:ext cx="512064" cy="512064"/>
          </a:xfrm>
          <a:prstGeom prst="ellipse">
            <a:avLst/>
          </a:prstGeom>
          <a:solidFill>
            <a:srgbClr val="1E2761"/>
          </a:solidFill>
          <a:ln/>
        </p:spPr>
        <p:txBody>
          <a:bodyPr/>
          <a:lstStyle/>
          <a:p>
            <a:endParaRPr lang="en-IN"/>
          </a:p>
        </p:txBody>
      </p:sp>
      <p:sp>
        <p:nvSpPr>
          <p:cNvPr id="12" name="Text 10"/>
          <p:cNvSpPr/>
          <p:nvPr/>
        </p:nvSpPr>
        <p:spPr>
          <a:xfrm>
            <a:off x="3584448" y="187452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2</a:t>
            </a:r>
            <a:endParaRPr lang="en-US" sz="1500" dirty="0"/>
          </a:p>
        </p:txBody>
      </p:sp>
      <p:sp>
        <p:nvSpPr>
          <p:cNvPr id="13" name="Text 11"/>
          <p:cNvSpPr/>
          <p:nvPr/>
        </p:nvSpPr>
        <p:spPr>
          <a:xfrm>
            <a:off x="2889504" y="246888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Cucumber 7 + JUnit</a:t>
            </a:r>
            <a:endParaRPr lang="en-US" sz="1250" dirty="0"/>
          </a:p>
        </p:txBody>
      </p:sp>
      <p:sp>
        <p:nvSpPr>
          <p:cNvPr id="14" name="Text 12"/>
          <p:cNvSpPr/>
          <p:nvPr/>
        </p:nvSpPr>
        <p:spPr>
          <a:xfrm>
            <a:off x="2889504" y="280720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BDD test runner</a:t>
            </a:r>
            <a:endParaRPr lang="en-US" sz="1000" dirty="0"/>
          </a:p>
        </p:txBody>
      </p:sp>
      <p:sp>
        <p:nvSpPr>
          <p:cNvPr id="15" name="Shape 13"/>
          <p:cNvSpPr/>
          <p:nvPr/>
        </p:nvSpPr>
        <p:spPr>
          <a:xfrm>
            <a:off x="5047488" y="1691640"/>
            <a:ext cx="2084832" cy="1508760"/>
          </a:xfrm>
          <a:prstGeom prst="roundRect">
            <a:avLst>
              <a:gd name="adj" fmla="val 5455"/>
            </a:avLst>
          </a:prstGeom>
          <a:solidFill>
            <a:srgbClr val="F3F6FC"/>
          </a:solidFill>
          <a:ln/>
        </p:spPr>
        <p:txBody>
          <a:bodyPr/>
          <a:lstStyle/>
          <a:p>
            <a:endParaRPr lang="en-IN"/>
          </a:p>
        </p:txBody>
      </p:sp>
      <p:sp>
        <p:nvSpPr>
          <p:cNvPr id="16" name="Shape 14"/>
          <p:cNvSpPr/>
          <p:nvPr/>
        </p:nvSpPr>
        <p:spPr>
          <a:xfrm>
            <a:off x="5833872" y="1874520"/>
            <a:ext cx="512064" cy="512064"/>
          </a:xfrm>
          <a:prstGeom prst="ellipse">
            <a:avLst/>
          </a:prstGeom>
          <a:solidFill>
            <a:srgbClr val="1E2761"/>
          </a:solidFill>
          <a:ln/>
        </p:spPr>
        <p:txBody>
          <a:bodyPr/>
          <a:lstStyle/>
          <a:p>
            <a:endParaRPr lang="en-IN"/>
          </a:p>
        </p:txBody>
      </p:sp>
      <p:sp>
        <p:nvSpPr>
          <p:cNvPr id="17" name="Text 15"/>
          <p:cNvSpPr/>
          <p:nvPr/>
        </p:nvSpPr>
        <p:spPr>
          <a:xfrm>
            <a:off x="5833872" y="187452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3</a:t>
            </a:r>
            <a:endParaRPr lang="en-US" sz="1500" dirty="0"/>
          </a:p>
        </p:txBody>
      </p:sp>
      <p:sp>
        <p:nvSpPr>
          <p:cNvPr id="18" name="Text 16"/>
          <p:cNvSpPr/>
          <p:nvPr/>
        </p:nvSpPr>
        <p:spPr>
          <a:xfrm>
            <a:off x="5138928" y="246888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Selenide</a:t>
            </a:r>
            <a:endParaRPr lang="en-US" sz="1250" dirty="0"/>
          </a:p>
        </p:txBody>
      </p:sp>
      <p:sp>
        <p:nvSpPr>
          <p:cNvPr id="19" name="Text 17"/>
          <p:cNvSpPr/>
          <p:nvPr/>
        </p:nvSpPr>
        <p:spPr>
          <a:xfrm>
            <a:off x="5138928" y="280720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UI automation</a:t>
            </a:r>
            <a:endParaRPr lang="en-US" sz="1000" dirty="0"/>
          </a:p>
        </p:txBody>
      </p:sp>
      <p:sp>
        <p:nvSpPr>
          <p:cNvPr id="20" name="Shape 18"/>
          <p:cNvSpPr/>
          <p:nvPr/>
        </p:nvSpPr>
        <p:spPr>
          <a:xfrm>
            <a:off x="7296912" y="1691640"/>
            <a:ext cx="2084832" cy="1508760"/>
          </a:xfrm>
          <a:prstGeom prst="roundRect">
            <a:avLst>
              <a:gd name="adj" fmla="val 5455"/>
            </a:avLst>
          </a:prstGeom>
          <a:solidFill>
            <a:srgbClr val="F3F6FC"/>
          </a:solidFill>
          <a:ln/>
        </p:spPr>
        <p:txBody>
          <a:bodyPr/>
          <a:lstStyle/>
          <a:p>
            <a:endParaRPr lang="en-IN"/>
          </a:p>
        </p:txBody>
      </p:sp>
      <p:sp>
        <p:nvSpPr>
          <p:cNvPr id="21" name="Shape 19"/>
          <p:cNvSpPr/>
          <p:nvPr/>
        </p:nvSpPr>
        <p:spPr>
          <a:xfrm>
            <a:off x="8083296" y="1874520"/>
            <a:ext cx="512064" cy="512064"/>
          </a:xfrm>
          <a:prstGeom prst="ellipse">
            <a:avLst/>
          </a:prstGeom>
          <a:solidFill>
            <a:srgbClr val="1E2761"/>
          </a:solidFill>
          <a:ln/>
        </p:spPr>
        <p:txBody>
          <a:bodyPr/>
          <a:lstStyle/>
          <a:p>
            <a:endParaRPr lang="en-IN"/>
          </a:p>
        </p:txBody>
      </p:sp>
      <p:sp>
        <p:nvSpPr>
          <p:cNvPr id="22" name="Text 20"/>
          <p:cNvSpPr/>
          <p:nvPr/>
        </p:nvSpPr>
        <p:spPr>
          <a:xfrm>
            <a:off x="8083296" y="187452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4</a:t>
            </a:r>
            <a:endParaRPr lang="en-US" sz="1500" dirty="0"/>
          </a:p>
        </p:txBody>
      </p:sp>
      <p:sp>
        <p:nvSpPr>
          <p:cNvPr id="23" name="Text 21"/>
          <p:cNvSpPr/>
          <p:nvPr/>
        </p:nvSpPr>
        <p:spPr>
          <a:xfrm>
            <a:off x="7388352" y="246888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REST Assured</a:t>
            </a:r>
            <a:endParaRPr lang="en-US" sz="1250" dirty="0"/>
          </a:p>
        </p:txBody>
      </p:sp>
      <p:sp>
        <p:nvSpPr>
          <p:cNvPr id="24" name="Text 22"/>
          <p:cNvSpPr/>
          <p:nvPr/>
        </p:nvSpPr>
        <p:spPr>
          <a:xfrm>
            <a:off x="7388352" y="280720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API testing</a:t>
            </a:r>
            <a:endParaRPr lang="en-US" sz="1000" dirty="0"/>
          </a:p>
        </p:txBody>
      </p:sp>
      <p:sp>
        <p:nvSpPr>
          <p:cNvPr id="25" name="Shape 23"/>
          <p:cNvSpPr/>
          <p:nvPr/>
        </p:nvSpPr>
        <p:spPr>
          <a:xfrm>
            <a:off x="9546336" y="1691640"/>
            <a:ext cx="2084832" cy="1508760"/>
          </a:xfrm>
          <a:prstGeom prst="roundRect">
            <a:avLst>
              <a:gd name="adj" fmla="val 5455"/>
            </a:avLst>
          </a:prstGeom>
          <a:solidFill>
            <a:srgbClr val="F3F6FC"/>
          </a:solidFill>
          <a:ln/>
        </p:spPr>
        <p:txBody>
          <a:bodyPr/>
          <a:lstStyle/>
          <a:p>
            <a:endParaRPr lang="en-IN"/>
          </a:p>
        </p:txBody>
      </p:sp>
      <p:sp>
        <p:nvSpPr>
          <p:cNvPr id="26" name="Shape 24"/>
          <p:cNvSpPr/>
          <p:nvPr/>
        </p:nvSpPr>
        <p:spPr>
          <a:xfrm>
            <a:off x="10332720" y="1874520"/>
            <a:ext cx="512064" cy="512064"/>
          </a:xfrm>
          <a:prstGeom prst="ellipse">
            <a:avLst/>
          </a:prstGeom>
          <a:solidFill>
            <a:srgbClr val="1E2761"/>
          </a:solidFill>
          <a:ln/>
        </p:spPr>
        <p:txBody>
          <a:bodyPr/>
          <a:lstStyle/>
          <a:p>
            <a:endParaRPr lang="en-IN"/>
          </a:p>
        </p:txBody>
      </p:sp>
      <p:sp>
        <p:nvSpPr>
          <p:cNvPr id="27" name="Text 25"/>
          <p:cNvSpPr/>
          <p:nvPr/>
        </p:nvSpPr>
        <p:spPr>
          <a:xfrm>
            <a:off x="10332720" y="187452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5</a:t>
            </a:r>
            <a:endParaRPr lang="en-US" sz="1500" dirty="0"/>
          </a:p>
        </p:txBody>
      </p:sp>
      <p:sp>
        <p:nvSpPr>
          <p:cNvPr id="28" name="Text 26"/>
          <p:cNvSpPr/>
          <p:nvPr/>
        </p:nvSpPr>
        <p:spPr>
          <a:xfrm>
            <a:off x="9637776" y="246888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Testcontainers</a:t>
            </a:r>
            <a:endParaRPr lang="en-US" sz="1250" dirty="0"/>
          </a:p>
        </p:txBody>
      </p:sp>
      <p:sp>
        <p:nvSpPr>
          <p:cNvPr id="29" name="Text 27"/>
          <p:cNvSpPr/>
          <p:nvPr/>
        </p:nvSpPr>
        <p:spPr>
          <a:xfrm>
            <a:off x="9637776" y="280720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Disposable DB</a:t>
            </a:r>
            <a:endParaRPr lang="en-US" sz="1000" dirty="0"/>
          </a:p>
        </p:txBody>
      </p:sp>
      <p:sp>
        <p:nvSpPr>
          <p:cNvPr id="30" name="Shape 28"/>
          <p:cNvSpPr/>
          <p:nvPr/>
        </p:nvSpPr>
        <p:spPr>
          <a:xfrm>
            <a:off x="548640" y="3429000"/>
            <a:ext cx="2084832" cy="1508760"/>
          </a:xfrm>
          <a:prstGeom prst="roundRect">
            <a:avLst>
              <a:gd name="adj" fmla="val 5455"/>
            </a:avLst>
          </a:prstGeom>
          <a:solidFill>
            <a:srgbClr val="CADCFC"/>
          </a:solidFill>
          <a:ln/>
        </p:spPr>
        <p:txBody>
          <a:bodyPr/>
          <a:lstStyle/>
          <a:p>
            <a:endParaRPr lang="en-IN"/>
          </a:p>
        </p:txBody>
      </p:sp>
      <p:sp>
        <p:nvSpPr>
          <p:cNvPr id="31" name="Shape 29"/>
          <p:cNvSpPr/>
          <p:nvPr/>
        </p:nvSpPr>
        <p:spPr>
          <a:xfrm>
            <a:off x="1335024" y="3611880"/>
            <a:ext cx="512064" cy="512064"/>
          </a:xfrm>
          <a:prstGeom prst="ellipse">
            <a:avLst/>
          </a:prstGeom>
          <a:solidFill>
            <a:srgbClr val="1E2761"/>
          </a:solidFill>
          <a:ln/>
        </p:spPr>
        <p:txBody>
          <a:bodyPr/>
          <a:lstStyle/>
          <a:p>
            <a:endParaRPr lang="en-IN"/>
          </a:p>
        </p:txBody>
      </p:sp>
      <p:sp>
        <p:nvSpPr>
          <p:cNvPr id="32" name="Text 30"/>
          <p:cNvSpPr/>
          <p:nvPr/>
        </p:nvSpPr>
        <p:spPr>
          <a:xfrm>
            <a:off x="1335024" y="361188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6</a:t>
            </a:r>
            <a:endParaRPr lang="en-US" sz="1500" dirty="0"/>
          </a:p>
        </p:txBody>
      </p:sp>
      <p:sp>
        <p:nvSpPr>
          <p:cNvPr id="33" name="Text 31"/>
          <p:cNvSpPr/>
          <p:nvPr/>
        </p:nvSpPr>
        <p:spPr>
          <a:xfrm>
            <a:off x="640080" y="420624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MySQL</a:t>
            </a:r>
            <a:endParaRPr lang="en-US" sz="1250" dirty="0"/>
          </a:p>
        </p:txBody>
      </p:sp>
      <p:sp>
        <p:nvSpPr>
          <p:cNvPr id="34" name="Text 32"/>
          <p:cNvSpPr/>
          <p:nvPr/>
        </p:nvSpPr>
        <p:spPr>
          <a:xfrm>
            <a:off x="640080" y="454456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Data layer</a:t>
            </a:r>
            <a:endParaRPr lang="en-US" sz="1000" dirty="0"/>
          </a:p>
        </p:txBody>
      </p:sp>
      <p:sp>
        <p:nvSpPr>
          <p:cNvPr id="35" name="Shape 33"/>
          <p:cNvSpPr/>
          <p:nvPr/>
        </p:nvSpPr>
        <p:spPr>
          <a:xfrm>
            <a:off x="2798064" y="3429000"/>
            <a:ext cx="2084832" cy="1508760"/>
          </a:xfrm>
          <a:prstGeom prst="roundRect">
            <a:avLst>
              <a:gd name="adj" fmla="val 5455"/>
            </a:avLst>
          </a:prstGeom>
          <a:solidFill>
            <a:srgbClr val="CADCFC"/>
          </a:solidFill>
          <a:ln/>
        </p:spPr>
        <p:txBody>
          <a:bodyPr/>
          <a:lstStyle/>
          <a:p>
            <a:endParaRPr lang="en-IN"/>
          </a:p>
        </p:txBody>
      </p:sp>
      <p:sp>
        <p:nvSpPr>
          <p:cNvPr id="36" name="Shape 34"/>
          <p:cNvSpPr/>
          <p:nvPr/>
        </p:nvSpPr>
        <p:spPr>
          <a:xfrm>
            <a:off x="3584448" y="3611880"/>
            <a:ext cx="512064" cy="512064"/>
          </a:xfrm>
          <a:prstGeom prst="ellipse">
            <a:avLst/>
          </a:prstGeom>
          <a:solidFill>
            <a:srgbClr val="1E2761"/>
          </a:solidFill>
          <a:ln/>
        </p:spPr>
        <p:txBody>
          <a:bodyPr/>
          <a:lstStyle/>
          <a:p>
            <a:endParaRPr lang="en-IN"/>
          </a:p>
        </p:txBody>
      </p:sp>
      <p:sp>
        <p:nvSpPr>
          <p:cNvPr id="37" name="Text 35"/>
          <p:cNvSpPr/>
          <p:nvPr/>
        </p:nvSpPr>
        <p:spPr>
          <a:xfrm>
            <a:off x="3584448" y="361188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7</a:t>
            </a:r>
            <a:endParaRPr lang="en-US" sz="1500" dirty="0"/>
          </a:p>
        </p:txBody>
      </p:sp>
      <p:sp>
        <p:nvSpPr>
          <p:cNvPr id="38" name="Text 36"/>
          <p:cNvSpPr/>
          <p:nvPr/>
        </p:nvSpPr>
        <p:spPr>
          <a:xfrm>
            <a:off x="2889504" y="420624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Flyway</a:t>
            </a:r>
            <a:endParaRPr lang="en-US" sz="1250" dirty="0"/>
          </a:p>
        </p:txBody>
      </p:sp>
      <p:sp>
        <p:nvSpPr>
          <p:cNvPr id="39" name="Text 37"/>
          <p:cNvSpPr/>
          <p:nvPr/>
        </p:nvSpPr>
        <p:spPr>
          <a:xfrm>
            <a:off x="2889504" y="454456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Schema &amp; seed data</a:t>
            </a:r>
            <a:endParaRPr lang="en-US" sz="1000" dirty="0"/>
          </a:p>
        </p:txBody>
      </p:sp>
      <p:sp>
        <p:nvSpPr>
          <p:cNvPr id="40" name="Shape 38"/>
          <p:cNvSpPr/>
          <p:nvPr/>
        </p:nvSpPr>
        <p:spPr>
          <a:xfrm>
            <a:off x="5047488" y="3429000"/>
            <a:ext cx="2084832" cy="1508760"/>
          </a:xfrm>
          <a:prstGeom prst="roundRect">
            <a:avLst>
              <a:gd name="adj" fmla="val 5455"/>
            </a:avLst>
          </a:prstGeom>
          <a:solidFill>
            <a:srgbClr val="CADCFC"/>
          </a:solidFill>
          <a:ln/>
        </p:spPr>
        <p:txBody>
          <a:bodyPr/>
          <a:lstStyle/>
          <a:p>
            <a:endParaRPr lang="en-IN"/>
          </a:p>
        </p:txBody>
      </p:sp>
      <p:sp>
        <p:nvSpPr>
          <p:cNvPr id="41" name="Shape 39"/>
          <p:cNvSpPr/>
          <p:nvPr/>
        </p:nvSpPr>
        <p:spPr>
          <a:xfrm>
            <a:off x="5833872" y="3611880"/>
            <a:ext cx="512064" cy="512064"/>
          </a:xfrm>
          <a:prstGeom prst="ellipse">
            <a:avLst/>
          </a:prstGeom>
          <a:solidFill>
            <a:srgbClr val="1E2761"/>
          </a:solidFill>
          <a:ln/>
        </p:spPr>
        <p:txBody>
          <a:bodyPr/>
          <a:lstStyle/>
          <a:p>
            <a:endParaRPr lang="en-IN"/>
          </a:p>
        </p:txBody>
      </p:sp>
      <p:sp>
        <p:nvSpPr>
          <p:cNvPr id="42" name="Text 40"/>
          <p:cNvSpPr/>
          <p:nvPr/>
        </p:nvSpPr>
        <p:spPr>
          <a:xfrm>
            <a:off x="5833872" y="361188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8</a:t>
            </a:r>
            <a:endParaRPr lang="en-US" sz="1500" dirty="0"/>
          </a:p>
        </p:txBody>
      </p:sp>
      <p:sp>
        <p:nvSpPr>
          <p:cNvPr id="43" name="Text 41"/>
          <p:cNvSpPr/>
          <p:nvPr/>
        </p:nvSpPr>
        <p:spPr>
          <a:xfrm>
            <a:off x="5138928" y="420624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Gradle</a:t>
            </a:r>
            <a:endParaRPr lang="en-US" sz="1250" dirty="0"/>
          </a:p>
        </p:txBody>
      </p:sp>
      <p:sp>
        <p:nvSpPr>
          <p:cNvPr id="44" name="Text 42"/>
          <p:cNvSpPr/>
          <p:nvPr/>
        </p:nvSpPr>
        <p:spPr>
          <a:xfrm>
            <a:off x="5138928" y="454456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Build tool</a:t>
            </a:r>
            <a:endParaRPr lang="en-US" sz="1000" dirty="0"/>
          </a:p>
        </p:txBody>
      </p:sp>
      <p:sp>
        <p:nvSpPr>
          <p:cNvPr id="45" name="Shape 43"/>
          <p:cNvSpPr/>
          <p:nvPr/>
        </p:nvSpPr>
        <p:spPr>
          <a:xfrm>
            <a:off x="7296912" y="3429000"/>
            <a:ext cx="2084832" cy="1508760"/>
          </a:xfrm>
          <a:prstGeom prst="roundRect">
            <a:avLst>
              <a:gd name="adj" fmla="val 5455"/>
            </a:avLst>
          </a:prstGeom>
          <a:solidFill>
            <a:srgbClr val="CADCFC"/>
          </a:solidFill>
          <a:ln/>
        </p:spPr>
        <p:txBody>
          <a:bodyPr/>
          <a:lstStyle/>
          <a:p>
            <a:endParaRPr lang="en-IN"/>
          </a:p>
        </p:txBody>
      </p:sp>
      <p:sp>
        <p:nvSpPr>
          <p:cNvPr id="46" name="Shape 44"/>
          <p:cNvSpPr/>
          <p:nvPr/>
        </p:nvSpPr>
        <p:spPr>
          <a:xfrm>
            <a:off x="8083296" y="3611880"/>
            <a:ext cx="512064" cy="512064"/>
          </a:xfrm>
          <a:prstGeom prst="ellipse">
            <a:avLst/>
          </a:prstGeom>
          <a:solidFill>
            <a:srgbClr val="1E2761"/>
          </a:solidFill>
          <a:ln/>
        </p:spPr>
        <p:txBody>
          <a:bodyPr/>
          <a:lstStyle/>
          <a:p>
            <a:endParaRPr lang="en-IN"/>
          </a:p>
        </p:txBody>
      </p:sp>
      <p:sp>
        <p:nvSpPr>
          <p:cNvPr id="47" name="Text 45"/>
          <p:cNvSpPr/>
          <p:nvPr/>
        </p:nvSpPr>
        <p:spPr>
          <a:xfrm>
            <a:off x="8083296" y="361188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9</a:t>
            </a:r>
            <a:endParaRPr lang="en-US" sz="1500" dirty="0"/>
          </a:p>
        </p:txBody>
      </p:sp>
      <p:sp>
        <p:nvSpPr>
          <p:cNvPr id="48" name="Text 46"/>
          <p:cNvSpPr/>
          <p:nvPr/>
        </p:nvSpPr>
        <p:spPr>
          <a:xfrm>
            <a:off x="7388352" y="420624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Allure</a:t>
            </a:r>
            <a:endParaRPr lang="en-US" sz="1250" dirty="0"/>
          </a:p>
        </p:txBody>
      </p:sp>
      <p:sp>
        <p:nvSpPr>
          <p:cNvPr id="49" name="Text 47"/>
          <p:cNvSpPr/>
          <p:nvPr/>
        </p:nvSpPr>
        <p:spPr>
          <a:xfrm>
            <a:off x="7388352" y="454456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Reporting</a:t>
            </a:r>
            <a:endParaRPr lang="en-US" sz="1000" dirty="0"/>
          </a:p>
        </p:txBody>
      </p:sp>
      <p:sp>
        <p:nvSpPr>
          <p:cNvPr id="50" name="Shape 48"/>
          <p:cNvSpPr/>
          <p:nvPr/>
        </p:nvSpPr>
        <p:spPr>
          <a:xfrm>
            <a:off x="9546336" y="3429000"/>
            <a:ext cx="2084832" cy="1508760"/>
          </a:xfrm>
          <a:prstGeom prst="roundRect">
            <a:avLst>
              <a:gd name="adj" fmla="val 5455"/>
            </a:avLst>
          </a:prstGeom>
          <a:solidFill>
            <a:srgbClr val="CADCFC"/>
          </a:solidFill>
          <a:ln/>
        </p:spPr>
        <p:txBody>
          <a:bodyPr/>
          <a:lstStyle/>
          <a:p>
            <a:endParaRPr lang="en-IN"/>
          </a:p>
        </p:txBody>
      </p:sp>
      <p:sp>
        <p:nvSpPr>
          <p:cNvPr id="51" name="Shape 49"/>
          <p:cNvSpPr/>
          <p:nvPr/>
        </p:nvSpPr>
        <p:spPr>
          <a:xfrm>
            <a:off x="10332720" y="3611880"/>
            <a:ext cx="512064" cy="512064"/>
          </a:xfrm>
          <a:prstGeom prst="ellipse">
            <a:avLst/>
          </a:prstGeom>
          <a:solidFill>
            <a:srgbClr val="1E2761"/>
          </a:solidFill>
          <a:ln/>
        </p:spPr>
        <p:txBody>
          <a:bodyPr/>
          <a:lstStyle/>
          <a:p>
            <a:endParaRPr lang="en-IN"/>
          </a:p>
        </p:txBody>
      </p:sp>
      <p:sp>
        <p:nvSpPr>
          <p:cNvPr id="52" name="Text 50"/>
          <p:cNvSpPr/>
          <p:nvPr/>
        </p:nvSpPr>
        <p:spPr>
          <a:xfrm>
            <a:off x="10332720" y="361188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rPr>
              <a:t>10</a:t>
            </a:r>
            <a:endParaRPr lang="en-US" sz="1500" dirty="0"/>
          </a:p>
        </p:txBody>
      </p:sp>
      <p:sp>
        <p:nvSpPr>
          <p:cNvPr id="53" name="Text 51"/>
          <p:cNvSpPr/>
          <p:nvPr/>
        </p:nvSpPr>
        <p:spPr>
          <a:xfrm>
            <a:off x="9637776" y="4206240"/>
            <a:ext cx="1901952" cy="36576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GitHub Actions</a:t>
            </a:r>
            <a:endParaRPr lang="en-US" sz="1250" dirty="0"/>
          </a:p>
        </p:txBody>
      </p:sp>
      <p:sp>
        <p:nvSpPr>
          <p:cNvPr id="54" name="Text 52"/>
          <p:cNvSpPr/>
          <p:nvPr/>
        </p:nvSpPr>
        <p:spPr>
          <a:xfrm>
            <a:off x="9637776" y="4544568"/>
            <a:ext cx="1901952" cy="32004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CI/CD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Framework Architecture</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4" name="Text 2"/>
          <p:cNvSpPr/>
          <p:nvPr/>
        </p:nvSpPr>
        <p:spPr>
          <a:xfrm>
            <a:off x="548640" y="1051560"/>
            <a:ext cx="10058400" cy="36576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Each concern lives in its own package — nothing is mixed together</a:t>
            </a:r>
            <a:endParaRPr lang="en-US" sz="1400" dirty="0"/>
          </a:p>
        </p:txBody>
      </p:sp>
      <p:sp>
        <p:nvSpPr>
          <p:cNvPr id="5" name="Shape 3"/>
          <p:cNvSpPr/>
          <p:nvPr/>
        </p:nvSpPr>
        <p:spPr>
          <a:xfrm>
            <a:off x="548640" y="1691640"/>
            <a:ext cx="2651760" cy="3566160"/>
          </a:xfrm>
          <a:prstGeom prst="roundRect">
            <a:avLst>
              <a:gd name="adj" fmla="val 3103"/>
            </a:avLst>
          </a:prstGeom>
          <a:solidFill>
            <a:srgbClr val="1E2761"/>
          </a:solidFill>
          <a:ln/>
        </p:spPr>
        <p:txBody>
          <a:bodyPr/>
          <a:lstStyle/>
          <a:p>
            <a:endParaRPr lang="en-IN"/>
          </a:p>
        </p:txBody>
      </p:sp>
      <p:sp>
        <p:nvSpPr>
          <p:cNvPr id="6" name="Text 4"/>
          <p:cNvSpPr/>
          <p:nvPr/>
        </p:nvSpPr>
        <p:spPr>
          <a:xfrm>
            <a:off x="685800" y="1856232"/>
            <a:ext cx="237744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Interaction</a:t>
            </a:r>
            <a:endParaRPr lang="en-US" sz="1400" dirty="0"/>
          </a:p>
        </p:txBody>
      </p:sp>
      <p:sp>
        <p:nvSpPr>
          <p:cNvPr id="7" name="Shape 5"/>
          <p:cNvSpPr/>
          <p:nvPr/>
        </p:nvSpPr>
        <p:spPr>
          <a:xfrm>
            <a:off x="713232" y="2377440"/>
            <a:ext cx="2322576" cy="594360"/>
          </a:xfrm>
          <a:prstGeom prst="roundRect">
            <a:avLst>
              <a:gd name="adj" fmla="val 9231"/>
            </a:avLst>
          </a:prstGeom>
          <a:solidFill>
            <a:srgbClr val="2E3B8C"/>
          </a:solidFill>
          <a:ln/>
        </p:spPr>
        <p:txBody>
          <a:bodyPr/>
          <a:lstStyle/>
          <a:p>
            <a:endParaRPr lang="en-IN"/>
          </a:p>
        </p:txBody>
      </p:sp>
      <p:sp>
        <p:nvSpPr>
          <p:cNvPr id="8" name="Text 6"/>
          <p:cNvSpPr/>
          <p:nvPr/>
        </p:nvSpPr>
        <p:spPr>
          <a:xfrm>
            <a:off x="804672" y="237744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ui/pages</a:t>
            </a:r>
            <a:endParaRPr lang="en-US" sz="1150" dirty="0"/>
          </a:p>
        </p:txBody>
      </p:sp>
      <p:sp>
        <p:nvSpPr>
          <p:cNvPr id="9" name="Shape 7"/>
          <p:cNvSpPr/>
          <p:nvPr/>
        </p:nvSpPr>
        <p:spPr>
          <a:xfrm>
            <a:off x="713232" y="3108960"/>
            <a:ext cx="2322576" cy="594360"/>
          </a:xfrm>
          <a:prstGeom prst="roundRect">
            <a:avLst>
              <a:gd name="adj" fmla="val 9231"/>
            </a:avLst>
          </a:prstGeom>
          <a:solidFill>
            <a:srgbClr val="2E3B8C"/>
          </a:solidFill>
          <a:ln/>
        </p:spPr>
        <p:txBody>
          <a:bodyPr/>
          <a:lstStyle/>
          <a:p>
            <a:endParaRPr lang="en-IN"/>
          </a:p>
        </p:txBody>
      </p:sp>
      <p:sp>
        <p:nvSpPr>
          <p:cNvPr id="10" name="Text 8"/>
          <p:cNvSpPr/>
          <p:nvPr/>
        </p:nvSpPr>
        <p:spPr>
          <a:xfrm>
            <a:off x="804672" y="310896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ui/locators/Xp</a:t>
            </a:r>
            <a:endParaRPr lang="en-US" sz="1150" dirty="0"/>
          </a:p>
        </p:txBody>
      </p:sp>
      <p:sp>
        <p:nvSpPr>
          <p:cNvPr id="11" name="Shape 9"/>
          <p:cNvSpPr/>
          <p:nvPr/>
        </p:nvSpPr>
        <p:spPr>
          <a:xfrm>
            <a:off x="713232" y="3840480"/>
            <a:ext cx="2322576" cy="594360"/>
          </a:xfrm>
          <a:prstGeom prst="roundRect">
            <a:avLst>
              <a:gd name="adj" fmla="val 9231"/>
            </a:avLst>
          </a:prstGeom>
          <a:solidFill>
            <a:srgbClr val="2E3B8C"/>
          </a:solidFill>
          <a:ln/>
        </p:spPr>
        <p:txBody>
          <a:bodyPr/>
          <a:lstStyle/>
          <a:p>
            <a:endParaRPr lang="en-IN"/>
          </a:p>
        </p:txBody>
      </p:sp>
      <p:sp>
        <p:nvSpPr>
          <p:cNvPr id="12" name="Text 10"/>
          <p:cNvSpPr/>
          <p:nvPr/>
        </p:nvSpPr>
        <p:spPr>
          <a:xfrm>
            <a:off x="804672" y="384048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api clients</a:t>
            </a:r>
            <a:endParaRPr lang="en-US" sz="1150" dirty="0"/>
          </a:p>
        </p:txBody>
      </p:sp>
      <p:sp>
        <p:nvSpPr>
          <p:cNvPr id="13" name="Shape 11"/>
          <p:cNvSpPr/>
          <p:nvPr/>
        </p:nvSpPr>
        <p:spPr>
          <a:xfrm>
            <a:off x="3429000" y="1691640"/>
            <a:ext cx="2651760" cy="3566160"/>
          </a:xfrm>
          <a:prstGeom prst="roundRect">
            <a:avLst>
              <a:gd name="adj" fmla="val 3103"/>
            </a:avLst>
          </a:prstGeom>
          <a:solidFill>
            <a:srgbClr val="1E2761"/>
          </a:solidFill>
          <a:ln/>
        </p:spPr>
        <p:txBody>
          <a:bodyPr/>
          <a:lstStyle/>
          <a:p>
            <a:endParaRPr lang="en-IN"/>
          </a:p>
        </p:txBody>
      </p:sp>
      <p:sp>
        <p:nvSpPr>
          <p:cNvPr id="14" name="Text 12"/>
          <p:cNvSpPr/>
          <p:nvPr/>
        </p:nvSpPr>
        <p:spPr>
          <a:xfrm>
            <a:off x="3566160" y="1856232"/>
            <a:ext cx="237744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Data</a:t>
            </a:r>
            <a:endParaRPr lang="en-US" sz="1400" dirty="0"/>
          </a:p>
        </p:txBody>
      </p:sp>
      <p:sp>
        <p:nvSpPr>
          <p:cNvPr id="15" name="Shape 13"/>
          <p:cNvSpPr/>
          <p:nvPr/>
        </p:nvSpPr>
        <p:spPr>
          <a:xfrm>
            <a:off x="3593592" y="2377440"/>
            <a:ext cx="2322576" cy="594360"/>
          </a:xfrm>
          <a:prstGeom prst="roundRect">
            <a:avLst>
              <a:gd name="adj" fmla="val 9231"/>
            </a:avLst>
          </a:prstGeom>
          <a:solidFill>
            <a:srgbClr val="2E3B8C"/>
          </a:solidFill>
          <a:ln/>
        </p:spPr>
        <p:txBody>
          <a:bodyPr/>
          <a:lstStyle/>
          <a:p>
            <a:endParaRPr lang="en-IN"/>
          </a:p>
        </p:txBody>
      </p:sp>
      <p:sp>
        <p:nvSpPr>
          <p:cNvPr id="16" name="Text 14"/>
          <p:cNvSpPr/>
          <p:nvPr/>
        </p:nvSpPr>
        <p:spPr>
          <a:xfrm>
            <a:off x="3685032" y="237744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data/builders</a:t>
            </a:r>
            <a:endParaRPr lang="en-US" sz="1150" dirty="0"/>
          </a:p>
        </p:txBody>
      </p:sp>
      <p:sp>
        <p:nvSpPr>
          <p:cNvPr id="17" name="Shape 15"/>
          <p:cNvSpPr/>
          <p:nvPr/>
        </p:nvSpPr>
        <p:spPr>
          <a:xfrm>
            <a:off x="3593592" y="3108960"/>
            <a:ext cx="2322576" cy="594360"/>
          </a:xfrm>
          <a:prstGeom prst="roundRect">
            <a:avLst>
              <a:gd name="adj" fmla="val 9231"/>
            </a:avLst>
          </a:prstGeom>
          <a:solidFill>
            <a:srgbClr val="2E3B8C"/>
          </a:solidFill>
          <a:ln/>
        </p:spPr>
        <p:txBody>
          <a:bodyPr/>
          <a:lstStyle/>
          <a:p>
            <a:endParaRPr lang="en-IN"/>
          </a:p>
        </p:txBody>
      </p:sp>
      <p:sp>
        <p:nvSpPr>
          <p:cNvPr id="18" name="Text 16"/>
          <p:cNvSpPr/>
          <p:nvPr/>
        </p:nvSpPr>
        <p:spPr>
          <a:xfrm>
            <a:off x="3685032" y="310896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data/secret</a:t>
            </a:r>
            <a:endParaRPr lang="en-US" sz="1150" dirty="0"/>
          </a:p>
        </p:txBody>
      </p:sp>
      <p:sp>
        <p:nvSpPr>
          <p:cNvPr id="19" name="Shape 17"/>
          <p:cNvSpPr/>
          <p:nvPr/>
        </p:nvSpPr>
        <p:spPr>
          <a:xfrm>
            <a:off x="3593592" y="3840480"/>
            <a:ext cx="2322576" cy="594360"/>
          </a:xfrm>
          <a:prstGeom prst="roundRect">
            <a:avLst>
              <a:gd name="adj" fmla="val 9231"/>
            </a:avLst>
          </a:prstGeom>
          <a:solidFill>
            <a:srgbClr val="2E3B8C"/>
          </a:solidFill>
          <a:ln/>
        </p:spPr>
        <p:txBody>
          <a:bodyPr/>
          <a:lstStyle/>
          <a:p>
            <a:endParaRPr lang="en-IN"/>
          </a:p>
        </p:txBody>
      </p:sp>
      <p:sp>
        <p:nvSpPr>
          <p:cNvPr id="20" name="Text 18"/>
          <p:cNvSpPr/>
          <p:nvPr/>
        </p:nvSpPr>
        <p:spPr>
          <a:xfrm>
            <a:off x="3685032" y="384048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data/db</a:t>
            </a:r>
            <a:endParaRPr lang="en-US" sz="1150" dirty="0"/>
          </a:p>
        </p:txBody>
      </p:sp>
      <p:sp>
        <p:nvSpPr>
          <p:cNvPr id="21" name="Shape 19"/>
          <p:cNvSpPr/>
          <p:nvPr/>
        </p:nvSpPr>
        <p:spPr>
          <a:xfrm>
            <a:off x="6309360" y="1691640"/>
            <a:ext cx="2651760" cy="3566160"/>
          </a:xfrm>
          <a:prstGeom prst="roundRect">
            <a:avLst>
              <a:gd name="adj" fmla="val 3103"/>
            </a:avLst>
          </a:prstGeom>
          <a:solidFill>
            <a:srgbClr val="1E2761"/>
          </a:solidFill>
          <a:ln/>
        </p:spPr>
        <p:txBody>
          <a:bodyPr/>
          <a:lstStyle/>
          <a:p>
            <a:endParaRPr lang="en-IN"/>
          </a:p>
        </p:txBody>
      </p:sp>
      <p:sp>
        <p:nvSpPr>
          <p:cNvPr id="22" name="Text 20"/>
          <p:cNvSpPr/>
          <p:nvPr/>
        </p:nvSpPr>
        <p:spPr>
          <a:xfrm>
            <a:off x="6446520" y="1856232"/>
            <a:ext cx="237744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BDD Layer</a:t>
            </a:r>
            <a:endParaRPr lang="en-US" sz="1400" dirty="0"/>
          </a:p>
        </p:txBody>
      </p:sp>
      <p:sp>
        <p:nvSpPr>
          <p:cNvPr id="23" name="Shape 21"/>
          <p:cNvSpPr/>
          <p:nvPr/>
        </p:nvSpPr>
        <p:spPr>
          <a:xfrm>
            <a:off x="6473952" y="2377440"/>
            <a:ext cx="2322576" cy="594360"/>
          </a:xfrm>
          <a:prstGeom prst="roundRect">
            <a:avLst>
              <a:gd name="adj" fmla="val 9231"/>
            </a:avLst>
          </a:prstGeom>
          <a:solidFill>
            <a:srgbClr val="2E3B8C"/>
          </a:solidFill>
          <a:ln/>
        </p:spPr>
        <p:txBody>
          <a:bodyPr/>
          <a:lstStyle/>
          <a:p>
            <a:endParaRPr lang="en-IN"/>
          </a:p>
        </p:txBody>
      </p:sp>
      <p:sp>
        <p:nvSpPr>
          <p:cNvPr id="24" name="Text 22"/>
          <p:cNvSpPr/>
          <p:nvPr/>
        </p:nvSpPr>
        <p:spPr>
          <a:xfrm>
            <a:off x="6565392" y="237744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features</a:t>
            </a:r>
            <a:endParaRPr lang="en-US" sz="1150" dirty="0"/>
          </a:p>
        </p:txBody>
      </p:sp>
      <p:sp>
        <p:nvSpPr>
          <p:cNvPr id="25" name="Shape 23"/>
          <p:cNvSpPr/>
          <p:nvPr/>
        </p:nvSpPr>
        <p:spPr>
          <a:xfrm>
            <a:off x="6473952" y="3108960"/>
            <a:ext cx="2322576" cy="594360"/>
          </a:xfrm>
          <a:prstGeom prst="roundRect">
            <a:avLst>
              <a:gd name="adj" fmla="val 9231"/>
            </a:avLst>
          </a:prstGeom>
          <a:solidFill>
            <a:srgbClr val="2E3B8C"/>
          </a:solidFill>
          <a:ln/>
        </p:spPr>
        <p:txBody>
          <a:bodyPr/>
          <a:lstStyle/>
          <a:p>
            <a:endParaRPr lang="en-IN"/>
          </a:p>
        </p:txBody>
      </p:sp>
      <p:sp>
        <p:nvSpPr>
          <p:cNvPr id="26" name="Text 24"/>
          <p:cNvSpPr/>
          <p:nvPr/>
        </p:nvSpPr>
        <p:spPr>
          <a:xfrm>
            <a:off x="6565392" y="310896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stepdefs</a:t>
            </a:r>
            <a:endParaRPr lang="en-US" sz="1150" dirty="0"/>
          </a:p>
        </p:txBody>
      </p:sp>
      <p:sp>
        <p:nvSpPr>
          <p:cNvPr id="27" name="Shape 25"/>
          <p:cNvSpPr/>
          <p:nvPr/>
        </p:nvSpPr>
        <p:spPr>
          <a:xfrm>
            <a:off x="9189720" y="1691640"/>
            <a:ext cx="2651760" cy="3566160"/>
          </a:xfrm>
          <a:prstGeom prst="roundRect">
            <a:avLst>
              <a:gd name="adj" fmla="val 3103"/>
            </a:avLst>
          </a:prstGeom>
          <a:solidFill>
            <a:srgbClr val="1E2761"/>
          </a:solidFill>
          <a:ln/>
        </p:spPr>
        <p:txBody>
          <a:bodyPr/>
          <a:lstStyle/>
          <a:p>
            <a:endParaRPr lang="en-IN"/>
          </a:p>
        </p:txBody>
      </p:sp>
      <p:sp>
        <p:nvSpPr>
          <p:cNvPr id="28" name="Text 26"/>
          <p:cNvSpPr/>
          <p:nvPr/>
        </p:nvSpPr>
        <p:spPr>
          <a:xfrm>
            <a:off x="9326880" y="1856232"/>
            <a:ext cx="2377440" cy="4114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Foundation</a:t>
            </a:r>
            <a:endParaRPr lang="en-US" sz="1400" dirty="0"/>
          </a:p>
        </p:txBody>
      </p:sp>
      <p:sp>
        <p:nvSpPr>
          <p:cNvPr id="29" name="Shape 27"/>
          <p:cNvSpPr/>
          <p:nvPr/>
        </p:nvSpPr>
        <p:spPr>
          <a:xfrm>
            <a:off x="9354312" y="2377440"/>
            <a:ext cx="2322576" cy="594360"/>
          </a:xfrm>
          <a:prstGeom prst="roundRect">
            <a:avLst>
              <a:gd name="adj" fmla="val 9231"/>
            </a:avLst>
          </a:prstGeom>
          <a:solidFill>
            <a:srgbClr val="2E3B8C"/>
          </a:solidFill>
          <a:ln/>
        </p:spPr>
        <p:txBody>
          <a:bodyPr/>
          <a:lstStyle/>
          <a:p>
            <a:endParaRPr lang="en-IN"/>
          </a:p>
        </p:txBody>
      </p:sp>
      <p:sp>
        <p:nvSpPr>
          <p:cNvPr id="30" name="Text 28"/>
          <p:cNvSpPr/>
          <p:nvPr/>
        </p:nvSpPr>
        <p:spPr>
          <a:xfrm>
            <a:off x="9445752" y="237744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config</a:t>
            </a:r>
            <a:endParaRPr lang="en-US" sz="1150" dirty="0"/>
          </a:p>
        </p:txBody>
      </p:sp>
      <p:sp>
        <p:nvSpPr>
          <p:cNvPr id="31" name="Shape 29"/>
          <p:cNvSpPr/>
          <p:nvPr/>
        </p:nvSpPr>
        <p:spPr>
          <a:xfrm>
            <a:off x="9354312" y="3108960"/>
            <a:ext cx="2322576" cy="594360"/>
          </a:xfrm>
          <a:prstGeom prst="roundRect">
            <a:avLst>
              <a:gd name="adj" fmla="val 9231"/>
            </a:avLst>
          </a:prstGeom>
          <a:solidFill>
            <a:srgbClr val="2E3B8C"/>
          </a:solidFill>
          <a:ln/>
        </p:spPr>
        <p:txBody>
          <a:bodyPr/>
          <a:lstStyle/>
          <a:p>
            <a:endParaRPr lang="en-IN"/>
          </a:p>
        </p:txBody>
      </p:sp>
      <p:sp>
        <p:nvSpPr>
          <p:cNvPr id="32" name="Text 30"/>
          <p:cNvSpPr/>
          <p:nvPr/>
        </p:nvSpPr>
        <p:spPr>
          <a:xfrm>
            <a:off x="9445752" y="3108960"/>
            <a:ext cx="2139696" cy="594360"/>
          </a:xfrm>
          <a:prstGeom prst="rect">
            <a:avLst/>
          </a:prstGeom>
          <a:noFill/>
          <a:ln/>
        </p:spPr>
        <p:txBody>
          <a:bodyPr wrap="square" lIns="0" tIns="0" rIns="0" bIns="0" rtlCol="0" anchor="ctr"/>
          <a:lstStyle/>
          <a:p>
            <a:pPr marL="0" indent="0">
              <a:buNone/>
            </a:pPr>
            <a:r>
              <a:rPr lang="en-US" sz="1150" dirty="0">
                <a:solidFill>
                  <a:srgbClr val="CADCFC"/>
                </a:solidFill>
                <a:latin typeface="Courier New" pitchFamily="34" charset="0"/>
                <a:ea typeface="Courier New" pitchFamily="34" charset="-122"/>
                <a:cs typeface="Courier New" pitchFamily="34" charset="-120"/>
              </a:rPr>
              <a:t>support</a:t>
            </a:r>
            <a:endParaRPr lang="en-US" sz="1150" dirty="0"/>
          </a:p>
        </p:txBody>
      </p:sp>
      <p:sp>
        <p:nvSpPr>
          <p:cNvPr id="33" name="Text 31"/>
          <p:cNvSpPr/>
          <p:nvPr/>
        </p:nvSpPr>
        <p:spPr>
          <a:xfrm>
            <a:off x="548640" y="5440680"/>
            <a:ext cx="11064240" cy="822960"/>
          </a:xfrm>
          <a:prstGeom prst="rect">
            <a:avLst/>
          </a:prstGeom>
          <a:noFill/>
          <a:ln/>
        </p:spPr>
        <p:txBody>
          <a:bodyPr wrap="square" lIns="0" tIns="0" rIns="0" bIns="0" rtlCol="0" anchor="ctr"/>
          <a:lstStyle/>
          <a:p>
            <a:pPr marL="0" indent="0">
              <a:lnSpc>
                <a:spcPct val="120000"/>
              </a:lnSpc>
              <a:buNone/>
            </a:pPr>
            <a:r>
              <a:rPr lang="en-US" sz="1350" i="1" dirty="0">
                <a:solidFill>
                  <a:srgbClr val="1E2130"/>
                </a:solidFill>
                <a:latin typeface="Calibri" pitchFamily="34" charset="0"/>
                <a:ea typeface="Calibri" pitchFamily="34" charset="-122"/>
                <a:cs typeface="Calibri" pitchFamily="34" charset="-120"/>
              </a:rPr>
              <a:t>Separation of concerns means a UI change never touches API clients, and a locator update never touches step definitions — each layer can evolve and be maintained independently.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Test Coverage — Six Scenarios</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520440"/>
        </p:xfrm>
        <a:graphic>
          <a:graphicData uri="http://schemas.openxmlformats.org/drawingml/2006/table">
            <a:tbl>
              <a:tblPr/>
              <a:tblGrid>
                <a:gridCol w="39319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50292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Scenario</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Layers</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Expected Result</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02920">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Product search</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UI + API</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Match found</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Cart totals</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API + DB</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Totals reconcile</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Checkout E2E ★</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UI + API + DB</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Order PLACED</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Order access ★</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API</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403 Forbidden</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Cancel rules</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API + DB</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409 on repeat cancel</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Out of stock</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API</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dirty="0">
                          <a:solidFill>
                            <a:srgbClr val="1E2130"/>
                          </a:solidFill>
                          <a:latin typeface="Calibri" pitchFamily="34" charset="0"/>
                          <a:ea typeface="Calibri" pitchFamily="34" charset="-122"/>
                          <a:cs typeface="Calibri" pitchFamily="34" charset="-120"/>
                        </a:rPr>
                        <a:t>409 Conflict</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2"/>
          <p:cNvSpPr/>
          <p:nvPr/>
        </p:nvSpPr>
        <p:spPr>
          <a:xfrm>
            <a:off x="548640" y="1371600"/>
            <a:ext cx="11064240" cy="502920"/>
          </a:xfrm>
          <a:prstGeom prst="rect">
            <a:avLst/>
          </a:prstGeom>
          <a:solidFill>
            <a:srgbClr val="1E2761"/>
          </a:solidFill>
          <a:ln/>
        </p:spPr>
        <p:txBody>
          <a:bodyPr/>
          <a:lstStyle/>
          <a:p>
            <a:endParaRPr lang="en-IN"/>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502920"/>
        </p:xfrm>
        <a:graphic>
          <a:graphicData uri="http://schemas.openxmlformats.org/drawingml/2006/table">
            <a:tbl>
              <a:tblPr/>
              <a:tblGrid>
                <a:gridCol w="39319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50292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Scenario</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Layers</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Expected Result</a:t>
                      </a:r>
                      <a:endParaRPr lang="en-US" sz="1350" dirty="0">
                        <a:latin typeface="Calibri" charset="0"/>
                        <a:ea typeface="Calibri" charset="0"/>
                        <a:cs typeface="Calibri" charset="0"/>
                      </a:endParaRPr>
                    </a:p>
                  </a:txBody>
                  <a:tcPr marL="101600" marR="101600" marT="50800" marB="50800" anchor="ctr">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
        <p:nvSpPr>
          <p:cNvPr id="7" name="Text 3"/>
          <p:cNvSpPr/>
          <p:nvPr/>
        </p:nvSpPr>
        <p:spPr>
          <a:xfrm>
            <a:off x="548640" y="5623560"/>
            <a:ext cx="10972800" cy="365760"/>
          </a:xfrm>
          <a:prstGeom prst="rect">
            <a:avLst/>
          </a:prstGeom>
          <a:noFill/>
          <a:ln/>
        </p:spPr>
        <p:txBody>
          <a:bodyPr wrap="square" lIns="0" tIns="0" rIns="0" bIns="0"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 High priority — Checkout E2E and Order Access get the deepest layer coverage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Flagship Checkout E2E</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4" name="Shape 2"/>
          <p:cNvSpPr/>
          <p:nvPr/>
        </p:nvSpPr>
        <p:spPr>
          <a:xfrm>
            <a:off x="548640" y="1554480"/>
            <a:ext cx="1600200" cy="685800"/>
          </a:xfrm>
          <a:prstGeom prst="roundRect">
            <a:avLst>
              <a:gd name="adj" fmla="val 10667"/>
            </a:avLst>
          </a:prstGeom>
          <a:solidFill>
            <a:srgbClr val="F3F6FC"/>
          </a:solidFill>
          <a:ln/>
        </p:spPr>
        <p:txBody>
          <a:bodyPr/>
          <a:lstStyle/>
          <a:p>
            <a:endParaRPr lang="en-IN"/>
          </a:p>
        </p:txBody>
      </p:sp>
      <p:sp>
        <p:nvSpPr>
          <p:cNvPr id="5" name="Text 3"/>
          <p:cNvSpPr/>
          <p:nvPr/>
        </p:nvSpPr>
        <p:spPr>
          <a:xfrm>
            <a:off x="548640" y="1554480"/>
            <a:ext cx="1600200" cy="6858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Login</a:t>
            </a:r>
            <a:endParaRPr lang="en-US" sz="1250" dirty="0"/>
          </a:p>
        </p:txBody>
      </p:sp>
      <p:sp>
        <p:nvSpPr>
          <p:cNvPr id="6" name="Text 4"/>
          <p:cNvSpPr/>
          <p:nvPr/>
        </p:nvSpPr>
        <p:spPr>
          <a:xfrm>
            <a:off x="2148840" y="1554480"/>
            <a:ext cx="219456" cy="685800"/>
          </a:xfrm>
          <a:prstGeom prst="rect">
            <a:avLst/>
          </a:prstGeom>
          <a:noFill/>
          <a:ln/>
        </p:spPr>
        <p:txBody>
          <a:bodyPr wrap="square" lIns="0" tIns="0" rIns="0" bIns="0" rtlCol="0" anchor="ctr"/>
          <a:lstStyle/>
          <a:p>
            <a:pPr marL="0" indent="0" algn="ctr">
              <a:buNone/>
            </a:pPr>
            <a:r>
              <a:rPr lang="en-US" sz="1600" dirty="0">
                <a:solidFill>
                  <a:srgbClr val="6B7280"/>
                </a:solidFill>
              </a:rPr>
              <a:t>→</a:t>
            </a:r>
            <a:endParaRPr lang="en-US" sz="1600" dirty="0"/>
          </a:p>
        </p:txBody>
      </p:sp>
      <p:sp>
        <p:nvSpPr>
          <p:cNvPr id="7" name="Shape 5"/>
          <p:cNvSpPr/>
          <p:nvPr/>
        </p:nvSpPr>
        <p:spPr>
          <a:xfrm>
            <a:off x="2368296" y="1554480"/>
            <a:ext cx="1600200" cy="685800"/>
          </a:xfrm>
          <a:prstGeom prst="roundRect">
            <a:avLst>
              <a:gd name="adj" fmla="val 10667"/>
            </a:avLst>
          </a:prstGeom>
          <a:solidFill>
            <a:srgbClr val="F3F6FC"/>
          </a:solidFill>
          <a:ln/>
        </p:spPr>
        <p:txBody>
          <a:bodyPr/>
          <a:lstStyle/>
          <a:p>
            <a:endParaRPr lang="en-IN"/>
          </a:p>
        </p:txBody>
      </p:sp>
      <p:sp>
        <p:nvSpPr>
          <p:cNvPr id="8" name="Text 6"/>
          <p:cNvSpPr/>
          <p:nvPr/>
        </p:nvSpPr>
        <p:spPr>
          <a:xfrm>
            <a:off x="2368296" y="1554480"/>
            <a:ext cx="1600200" cy="6858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Search</a:t>
            </a:r>
            <a:endParaRPr lang="en-US" sz="1250" dirty="0"/>
          </a:p>
        </p:txBody>
      </p:sp>
      <p:sp>
        <p:nvSpPr>
          <p:cNvPr id="9" name="Text 7"/>
          <p:cNvSpPr/>
          <p:nvPr/>
        </p:nvSpPr>
        <p:spPr>
          <a:xfrm>
            <a:off x="3968496" y="1554480"/>
            <a:ext cx="219456" cy="685800"/>
          </a:xfrm>
          <a:prstGeom prst="rect">
            <a:avLst/>
          </a:prstGeom>
          <a:noFill/>
          <a:ln/>
        </p:spPr>
        <p:txBody>
          <a:bodyPr wrap="square" lIns="0" tIns="0" rIns="0" bIns="0" rtlCol="0" anchor="ctr"/>
          <a:lstStyle/>
          <a:p>
            <a:pPr marL="0" indent="0" algn="ctr">
              <a:buNone/>
            </a:pPr>
            <a:r>
              <a:rPr lang="en-US" sz="1600" dirty="0">
                <a:solidFill>
                  <a:srgbClr val="6B7280"/>
                </a:solidFill>
              </a:rPr>
              <a:t>→</a:t>
            </a:r>
            <a:endParaRPr lang="en-US" sz="1600" dirty="0"/>
          </a:p>
        </p:txBody>
      </p:sp>
      <p:sp>
        <p:nvSpPr>
          <p:cNvPr id="10" name="Shape 8"/>
          <p:cNvSpPr/>
          <p:nvPr/>
        </p:nvSpPr>
        <p:spPr>
          <a:xfrm>
            <a:off x="4187952" y="1554480"/>
            <a:ext cx="1600200" cy="685800"/>
          </a:xfrm>
          <a:prstGeom prst="roundRect">
            <a:avLst>
              <a:gd name="adj" fmla="val 10667"/>
            </a:avLst>
          </a:prstGeom>
          <a:solidFill>
            <a:srgbClr val="F3F6FC"/>
          </a:solidFill>
          <a:ln/>
        </p:spPr>
        <p:txBody>
          <a:bodyPr/>
          <a:lstStyle/>
          <a:p>
            <a:endParaRPr lang="en-IN"/>
          </a:p>
        </p:txBody>
      </p:sp>
      <p:sp>
        <p:nvSpPr>
          <p:cNvPr id="11" name="Text 9"/>
          <p:cNvSpPr/>
          <p:nvPr/>
        </p:nvSpPr>
        <p:spPr>
          <a:xfrm>
            <a:off x="4187952" y="1554480"/>
            <a:ext cx="1600200" cy="6858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Add Items</a:t>
            </a:r>
            <a:endParaRPr lang="en-US" sz="1250" dirty="0"/>
          </a:p>
        </p:txBody>
      </p:sp>
      <p:sp>
        <p:nvSpPr>
          <p:cNvPr id="12" name="Text 10"/>
          <p:cNvSpPr/>
          <p:nvPr/>
        </p:nvSpPr>
        <p:spPr>
          <a:xfrm>
            <a:off x="5788152" y="1554480"/>
            <a:ext cx="219456" cy="685800"/>
          </a:xfrm>
          <a:prstGeom prst="rect">
            <a:avLst/>
          </a:prstGeom>
          <a:noFill/>
          <a:ln/>
        </p:spPr>
        <p:txBody>
          <a:bodyPr wrap="square" lIns="0" tIns="0" rIns="0" bIns="0" rtlCol="0" anchor="ctr"/>
          <a:lstStyle/>
          <a:p>
            <a:pPr marL="0" indent="0" algn="ctr">
              <a:buNone/>
            </a:pPr>
            <a:r>
              <a:rPr lang="en-US" sz="1600" dirty="0">
                <a:solidFill>
                  <a:srgbClr val="6B7280"/>
                </a:solidFill>
              </a:rPr>
              <a:t>→</a:t>
            </a:r>
            <a:endParaRPr lang="en-US" sz="1600" dirty="0"/>
          </a:p>
        </p:txBody>
      </p:sp>
      <p:sp>
        <p:nvSpPr>
          <p:cNvPr id="13" name="Shape 11"/>
          <p:cNvSpPr/>
          <p:nvPr/>
        </p:nvSpPr>
        <p:spPr>
          <a:xfrm>
            <a:off x="6007608" y="1554480"/>
            <a:ext cx="1600200" cy="685800"/>
          </a:xfrm>
          <a:prstGeom prst="roundRect">
            <a:avLst>
              <a:gd name="adj" fmla="val 10667"/>
            </a:avLst>
          </a:prstGeom>
          <a:solidFill>
            <a:srgbClr val="F3F6FC"/>
          </a:solidFill>
          <a:ln/>
        </p:spPr>
        <p:txBody>
          <a:bodyPr/>
          <a:lstStyle/>
          <a:p>
            <a:endParaRPr lang="en-IN"/>
          </a:p>
        </p:txBody>
      </p:sp>
      <p:sp>
        <p:nvSpPr>
          <p:cNvPr id="14" name="Text 12"/>
          <p:cNvSpPr/>
          <p:nvPr/>
        </p:nvSpPr>
        <p:spPr>
          <a:xfrm>
            <a:off x="6007608" y="1554480"/>
            <a:ext cx="1600200" cy="6858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Cart</a:t>
            </a:r>
            <a:endParaRPr lang="en-US" sz="1250" dirty="0"/>
          </a:p>
        </p:txBody>
      </p:sp>
      <p:sp>
        <p:nvSpPr>
          <p:cNvPr id="15" name="Text 13"/>
          <p:cNvSpPr/>
          <p:nvPr/>
        </p:nvSpPr>
        <p:spPr>
          <a:xfrm>
            <a:off x="7607808" y="1554480"/>
            <a:ext cx="219456" cy="685800"/>
          </a:xfrm>
          <a:prstGeom prst="rect">
            <a:avLst/>
          </a:prstGeom>
          <a:noFill/>
          <a:ln/>
        </p:spPr>
        <p:txBody>
          <a:bodyPr wrap="square" lIns="0" tIns="0" rIns="0" bIns="0" rtlCol="0" anchor="ctr"/>
          <a:lstStyle/>
          <a:p>
            <a:pPr marL="0" indent="0" algn="ctr">
              <a:buNone/>
            </a:pPr>
            <a:r>
              <a:rPr lang="en-US" sz="1600" dirty="0">
                <a:solidFill>
                  <a:srgbClr val="6B7280"/>
                </a:solidFill>
              </a:rPr>
              <a:t>→</a:t>
            </a:r>
            <a:endParaRPr lang="en-US" sz="1600" dirty="0"/>
          </a:p>
        </p:txBody>
      </p:sp>
      <p:sp>
        <p:nvSpPr>
          <p:cNvPr id="16" name="Shape 14"/>
          <p:cNvSpPr/>
          <p:nvPr/>
        </p:nvSpPr>
        <p:spPr>
          <a:xfrm>
            <a:off x="7827264" y="1554480"/>
            <a:ext cx="1600200" cy="685800"/>
          </a:xfrm>
          <a:prstGeom prst="roundRect">
            <a:avLst>
              <a:gd name="adj" fmla="val 10667"/>
            </a:avLst>
          </a:prstGeom>
          <a:solidFill>
            <a:srgbClr val="F3F6FC"/>
          </a:solidFill>
          <a:ln/>
        </p:spPr>
        <p:txBody>
          <a:bodyPr/>
          <a:lstStyle/>
          <a:p>
            <a:endParaRPr lang="en-IN"/>
          </a:p>
        </p:txBody>
      </p:sp>
      <p:sp>
        <p:nvSpPr>
          <p:cNvPr id="17" name="Text 15"/>
          <p:cNvSpPr/>
          <p:nvPr/>
        </p:nvSpPr>
        <p:spPr>
          <a:xfrm>
            <a:off x="7827264" y="1554480"/>
            <a:ext cx="1600200" cy="6858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Checkout</a:t>
            </a:r>
            <a:endParaRPr lang="en-US" sz="1250" dirty="0"/>
          </a:p>
        </p:txBody>
      </p:sp>
      <p:sp>
        <p:nvSpPr>
          <p:cNvPr id="18" name="Text 16"/>
          <p:cNvSpPr/>
          <p:nvPr/>
        </p:nvSpPr>
        <p:spPr>
          <a:xfrm>
            <a:off x="9427464" y="1554480"/>
            <a:ext cx="219456" cy="685800"/>
          </a:xfrm>
          <a:prstGeom prst="rect">
            <a:avLst/>
          </a:prstGeom>
          <a:noFill/>
          <a:ln/>
        </p:spPr>
        <p:txBody>
          <a:bodyPr wrap="square" lIns="0" tIns="0" rIns="0" bIns="0" rtlCol="0" anchor="ctr"/>
          <a:lstStyle/>
          <a:p>
            <a:pPr marL="0" indent="0" algn="ctr">
              <a:buNone/>
            </a:pPr>
            <a:r>
              <a:rPr lang="en-US" sz="1600" dirty="0">
                <a:solidFill>
                  <a:srgbClr val="6B7280"/>
                </a:solidFill>
              </a:rPr>
              <a:t>→</a:t>
            </a:r>
            <a:endParaRPr lang="en-US" sz="1600" dirty="0"/>
          </a:p>
        </p:txBody>
      </p:sp>
      <p:sp>
        <p:nvSpPr>
          <p:cNvPr id="19" name="Shape 17"/>
          <p:cNvSpPr/>
          <p:nvPr/>
        </p:nvSpPr>
        <p:spPr>
          <a:xfrm>
            <a:off x="9646920" y="1554480"/>
            <a:ext cx="1600200" cy="685800"/>
          </a:xfrm>
          <a:prstGeom prst="roundRect">
            <a:avLst>
              <a:gd name="adj" fmla="val 10667"/>
            </a:avLst>
          </a:prstGeom>
          <a:solidFill>
            <a:srgbClr val="1E2761"/>
          </a:solidFill>
          <a:ln/>
        </p:spPr>
        <p:txBody>
          <a:bodyPr/>
          <a:lstStyle/>
          <a:p>
            <a:endParaRPr lang="en-IN"/>
          </a:p>
        </p:txBody>
      </p:sp>
      <p:sp>
        <p:nvSpPr>
          <p:cNvPr id="20" name="Text 18"/>
          <p:cNvSpPr/>
          <p:nvPr/>
        </p:nvSpPr>
        <p:spPr>
          <a:xfrm>
            <a:off x="9646920" y="1554480"/>
            <a:ext cx="1600200"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PLACED</a:t>
            </a:r>
            <a:endParaRPr lang="en-US" sz="1250" dirty="0"/>
          </a:p>
        </p:txBody>
      </p:sp>
      <p:sp>
        <p:nvSpPr>
          <p:cNvPr id="21" name="Text 19"/>
          <p:cNvSpPr/>
          <p:nvPr/>
        </p:nvSpPr>
        <p:spPr>
          <a:xfrm>
            <a:off x="548640" y="2606040"/>
            <a:ext cx="7315200" cy="36576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Validated at Three Layers</a:t>
            </a:r>
            <a:endParaRPr lang="en-US" sz="1600" dirty="0"/>
          </a:p>
        </p:txBody>
      </p:sp>
      <p:sp>
        <p:nvSpPr>
          <p:cNvPr id="22" name="Shape 20"/>
          <p:cNvSpPr/>
          <p:nvPr/>
        </p:nvSpPr>
        <p:spPr>
          <a:xfrm>
            <a:off x="548640" y="3063240"/>
            <a:ext cx="11064240" cy="777240"/>
          </a:xfrm>
          <a:prstGeom prst="roundRect">
            <a:avLst>
              <a:gd name="adj" fmla="val 9412"/>
            </a:avLst>
          </a:prstGeom>
          <a:solidFill>
            <a:srgbClr val="F3F6FC"/>
          </a:solidFill>
          <a:ln/>
        </p:spPr>
        <p:txBody>
          <a:bodyPr/>
          <a:lstStyle/>
          <a:p>
            <a:endParaRPr lang="en-IN"/>
          </a:p>
        </p:txBody>
      </p:sp>
      <p:sp>
        <p:nvSpPr>
          <p:cNvPr id="23" name="Shape 21"/>
          <p:cNvSpPr/>
          <p:nvPr/>
        </p:nvSpPr>
        <p:spPr>
          <a:xfrm>
            <a:off x="777240" y="3218688"/>
            <a:ext cx="457200" cy="457200"/>
          </a:xfrm>
          <a:prstGeom prst="ellipse">
            <a:avLst/>
          </a:prstGeom>
          <a:solidFill>
            <a:srgbClr val="1E2761"/>
          </a:solidFill>
          <a:ln/>
        </p:spPr>
        <p:txBody>
          <a:bodyPr/>
          <a:lstStyle/>
          <a:p>
            <a:endParaRPr lang="en-IN"/>
          </a:p>
        </p:txBody>
      </p:sp>
      <p:sp>
        <p:nvSpPr>
          <p:cNvPr id="24" name="Text 22"/>
          <p:cNvSpPr/>
          <p:nvPr/>
        </p:nvSpPr>
        <p:spPr>
          <a:xfrm>
            <a:off x="777240" y="321868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U</a:t>
            </a:r>
            <a:endParaRPr lang="en-US" sz="1400" dirty="0"/>
          </a:p>
        </p:txBody>
      </p:sp>
      <p:sp>
        <p:nvSpPr>
          <p:cNvPr id="25" name="Text 23"/>
          <p:cNvSpPr/>
          <p:nvPr/>
        </p:nvSpPr>
        <p:spPr>
          <a:xfrm>
            <a:off x="1417320" y="3136392"/>
            <a:ext cx="1828800" cy="6400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UI</a:t>
            </a:r>
            <a:endParaRPr lang="en-US" sz="1350" dirty="0"/>
          </a:p>
        </p:txBody>
      </p:sp>
      <p:sp>
        <p:nvSpPr>
          <p:cNvPr id="26" name="Text 24"/>
          <p:cNvSpPr/>
          <p:nvPr/>
        </p:nvSpPr>
        <p:spPr>
          <a:xfrm>
            <a:off x="3200400" y="3136392"/>
            <a:ext cx="8229600" cy="640080"/>
          </a:xfrm>
          <a:prstGeom prst="rect">
            <a:avLst/>
          </a:prstGeom>
          <a:noFill/>
          <a:ln/>
        </p:spPr>
        <p:txBody>
          <a:bodyPr wrap="square" lIns="0" tIns="0" rIns="0" bIns="0" rtlCol="0" anchor="ctr"/>
          <a:lstStyle/>
          <a:p>
            <a:pPr marL="0" indent="0">
              <a:buNone/>
            </a:pPr>
            <a:r>
              <a:rPr lang="en-US" sz="1300" dirty="0">
                <a:solidFill>
                  <a:srgbClr val="1E2130"/>
                </a:solidFill>
                <a:latin typeface="Calibri" pitchFamily="34" charset="0"/>
                <a:ea typeface="Calibri" pitchFamily="34" charset="-122"/>
                <a:cs typeface="Calibri" pitchFamily="34" charset="-120"/>
              </a:rPr>
              <a:t>Confirms the order status shows PLACED</a:t>
            </a:r>
            <a:endParaRPr lang="en-US" sz="1300" dirty="0"/>
          </a:p>
        </p:txBody>
      </p:sp>
      <p:sp>
        <p:nvSpPr>
          <p:cNvPr id="27" name="Shape 25"/>
          <p:cNvSpPr/>
          <p:nvPr/>
        </p:nvSpPr>
        <p:spPr>
          <a:xfrm>
            <a:off x="548640" y="3977640"/>
            <a:ext cx="11064240" cy="777240"/>
          </a:xfrm>
          <a:prstGeom prst="roundRect">
            <a:avLst>
              <a:gd name="adj" fmla="val 9412"/>
            </a:avLst>
          </a:prstGeom>
          <a:solidFill>
            <a:srgbClr val="F3F6FC"/>
          </a:solidFill>
          <a:ln/>
        </p:spPr>
        <p:txBody>
          <a:bodyPr/>
          <a:lstStyle/>
          <a:p>
            <a:endParaRPr lang="en-IN"/>
          </a:p>
        </p:txBody>
      </p:sp>
      <p:sp>
        <p:nvSpPr>
          <p:cNvPr id="28" name="Shape 26"/>
          <p:cNvSpPr/>
          <p:nvPr/>
        </p:nvSpPr>
        <p:spPr>
          <a:xfrm>
            <a:off x="777240" y="4133088"/>
            <a:ext cx="457200" cy="457200"/>
          </a:xfrm>
          <a:prstGeom prst="ellipse">
            <a:avLst/>
          </a:prstGeom>
          <a:solidFill>
            <a:srgbClr val="1E2761"/>
          </a:solidFill>
          <a:ln/>
        </p:spPr>
        <p:txBody>
          <a:bodyPr/>
          <a:lstStyle/>
          <a:p>
            <a:endParaRPr lang="en-IN"/>
          </a:p>
        </p:txBody>
      </p:sp>
      <p:sp>
        <p:nvSpPr>
          <p:cNvPr id="29" name="Text 27"/>
          <p:cNvSpPr/>
          <p:nvPr/>
        </p:nvSpPr>
        <p:spPr>
          <a:xfrm>
            <a:off x="777240" y="413308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A</a:t>
            </a:r>
            <a:endParaRPr lang="en-US" sz="1400" dirty="0"/>
          </a:p>
        </p:txBody>
      </p:sp>
      <p:sp>
        <p:nvSpPr>
          <p:cNvPr id="30" name="Text 28"/>
          <p:cNvSpPr/>
          <p:nvPr/>
        </p:nvSpPr>
        <p:spPr>
          <a:xfrm>
            <a:off x="1417320" y="4050792"/>
            <a:ext cx="1828800" cy="6400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API</a:t>
            </a:r>
            <a:endParaRPr lang="en-US" sz="1350" dirty="0"/>
          </a:p>
        </p:txBody>
      </p:sp>
      <p:sp>
        <p:nvSpPr>
          <p:cNvPr id="31" name="Text 29"/>
          <p:cNvSpPr/>
          <p:nvPr/>
        </p:nvSpPr>
        <p:spPr>
          <a:xfrm>
            <a:off x="3200400" y="4050792"/>
            <a:ext cx="8229600" cy="640080"/>
          </a:xfrm>
          <a:prstGeom prst="rect">
            <a:avLst/>
          </a:prstGeom>
          <a:noFill/>
          <a:ln/>
        </p:spPr>
        <p:txBody>
          <a:bodyPr wrap="square" lIns="0" tIns="0" rIns="0" bIns="0" rtlCol="0" anchor="ctr"/>
          <a:lstStyle/>
          <a:p>
            <a:pPr marL="0" indent="0">
              <a:buNone/>
            </a:pPr>
            <a:r>
              <a:rPr lang="en-US" sz="1300" dirty="0">
                <a:solidFill>
                  <a:srgbClr val="1E2130"/>
                </a:solidFill>
                <a:latin typeface="Calibri" pitchFamily="34" charset="0"/>
                <a:ea typeface="Calibri" pitchFamily="34" charset="-122"/>
                <a:cs typeface="Calibri" pitchFamily="34" charset="-120"/>
              </a:rPr>
              <a:t>Confirms the order ID and total amount</a:t>
            </a:r>
            <a:endParaRPr lang="en-US" sz="1300" dirty="0"/>
          </a:p>
        </p:txBody>
      </p:sp>
      <p:sp>
        <p:nvSpPr>
          <p:cNvPr id="32" name="Shape 30"/>
          <p:cNvSpPr/>
          <p:nvPr/>
        </p:nvSpPr>
        <p:spPr>
          <a:xfrm>
            <a:off x="548640" y="4892040"/>
            <a:ext cx="11064240" cy="777240"/>
          </a:xfrm>
          <a:prstGeom prst="roundRect">
            <a:avLst>
              <a:gd name="adj" fmla="val 9412"/>
            </a:avLst>
          </a:prstGeom>
          <a:solidFill>
            <a:srgbClr val="F3F6FC"/>
          </a:solidFill>
          <a:ln/>
        </p:spPr>
        <p:txBody>
          <a:bodyPr/>
          <a:lstStyle/>
          <a:p>
            <a:endParaRPr lang="en-IN"/>
          </a:p>
        </p:txBody>
      </p:sp>
      <p:sp>
        <p:nvSpPr>
          <p:cNvPr id="33" name="Shape 31"/>
          <p:cNvSpPr/>
          <p:nvPr/>
        </p:nvSpPr>
        <p:spPr>
          <a:xfrm>
            <a:off x="777240" y="5047488"/>
            <a:ext cx="457200" cy="457200"/>
          </a:xfrm>
          <a:prstGeom prst="ellipse">
            <a:avLst/>
          </a:prstGeom>
          <a:solidFill>
            <a:srgbClr val="1E2761"/>
          </a:solidFill>
          <a:ln/>
        </p:spPr>
        <p:txBody>
          <a:bodyPr/>
          <a:lstStyle/>
          <a:p>
            <a:endParaRPr lang="en-IN"/>
          </a:p>
        </p:txBody>
      </p:sp>
      <p:sp>
        <p:nvSpPr>
          <p:cNvPr id="34" name="Text 32"/>
          <p:cNvSpPr/>
          <p:nvPr/>
        </p:nvSpPr>
        <p:spPr>
          <a:xfrm>
            <a:off x="777240" y="504748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D</a:t>
            </a:r>
            <a:endParaRPr lang="en-US" sz="1400" dirty="0"/>
          </a:p>
        </p:txBody>
      </p:sp>
      <p:sp>
        <p:nvSpPr>
          <p:cNvPr id="35" name="Text 33"/>
          <p:cNvSpPr/>
          <p:nvPr/>
        </p:nvSpPr>
        <p:spPr>
          <a:xfrm>
            <a:off x="1417320" y="4965192"/>
            <a:ext cx="1828800" cy="6400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Database</a:t>
            </a:r>
            <a:endParaRPr lang="en-US" sz="1350" dirty="0"/>
          </a:p>
        </p:txBody>
      </p:sp>
      <p:sp>
        <p:nvSpPr>
          <p:cNvPr id="36" name="Text 34"/>
          <p:cNvSpPr/>
          <p:nvPr/>
        </p:nvSpPr>
        <p:spPr>
          <a:xfrm>
            <a:off x="3200400" y="4965192"/>
            <a:ext cx="8229600" cy="640080"/>
          </a:xfrm>
          <a:prstGeom prst="rect">
            <a:avLst/>
          </a:prstGeom>
          <a:noFill/>
          <a:ln/>
        </p:spPr>
        <p:txBody>
          <a:bodyPr wrap="square" lIns="0" tIns="0" rIns="0" bIns="0" rtlCol="0" anchor="ctr"/>
          <a:lstStyle/>
          <a:p>
            <a:pPr marL="0" indent="0">
              <a:buNone/>
            </a:pPr>
            <a:r>
              <a:rPr lang="en-US" sz="1300" dirty="0">
                <a:solidFill>
                  <a:srgbClr val="1E2130"/>
                </a:solidFill>
                <a:latin typeface="Calibri" pitchFamily="34" charset="0"/>
                <a:ea typeface="Calibri" pitchFamily="34" charset="-122"/>
                <a:cs typeface="Calibri" pitchFamily="34" charset="-120"/>
              </a:rPr>
              <a:t>Confirms exactly one PLACED order exists</a:t>
            </a:r>
            <a:endParaRPr lang="en-US" sz="1300" dirty="0"/>
          </a:p>
        </p:txBody>
      </p:sp>
      <p:sp>
        <p:nvSpPr>
          <p:cNvPr id="37" name="Text 35"/>
          <p:cNvSpPr/>
          <p:nvPr/>
        </p:nvSpPr>
        <p:spPr>
          <a:xfrm>
            <a:off x="548640" y="5989320"/>
            <a:ext cx="10972800" cy="365760"/>
          </a:xfrm>
          <a:prstGeom prst="rect">
            <a:avLst/>
          </a:prstGeom>
          <a:noFill/>
          <a:ln/>
        </p:spPr>
        <p:txBody>
          <a:bodyPr wrap="square" lIns="0" tIns="0" rIns="0" bIns="0" rtlCol="0" anchor="ctr"/>
          <a:lstStyle/>
          <a:p>
            <a:pPr marL="0" indent="0">
              <a:buNone/>
            </a:pPr>
            <a:r>
              <a:rPr lang="en-US" sz="1250" i="1" dirty="0">
                <a:solidFill>
                  <a:srgbClr val="6B7280"/>
                </a:solidFill>
                <a:latin typeface="Calibri" pitchFamily="34" charset="0"/>
                <a:ea typeface="Calibri" pitchFamily="34" charset="-122"/>
                <a:cs typeface="Calibri" pitchFamily="34" charset="-120"/>
              </a:rPr>
              <a:t>Order totals are validated in paise for exact currency precision.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Dynamic XPath &amp; UI Automation</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4" name="Text 2"/>
          <p:cNvSpPr/>
          <p:nvPr/>
        </p:nvSpPr>
        <p:spPr>
          <a:xfrm>
            <a:off x="548640" y="1234440"/>
            <a:ext cx="10972800" cy="548640"/>
          </a:xfrm>
          <a:prstGeom prst="rect">
            <a:avLst/>
          </a:prstGeom>
          <a:noFill/>
          <a:ln/>
        </p:spPr>
        <p:txBody>
          <a:bodyPr wrap="square" lIns="0" tIns="0" rIns="0" bIns="0" rtlCol="0" anchor="ctr"/>
          <a:lstStyle/>
          <a:p>
            <a:pPr marL="0" indent="0">
              <a:buNone/>
            </a:pPr>
            <a:r>
              <a:rPr lang="en-US" sz="1450" dirty="0">
                <a:solidFill>
                  <a:srgbClr val="1E2130"/>
                </a:solidFill>
                <a:latin typeface="Calibri" pitchFamily="34" charset="0"/>
                <a:ea typeface="Calibri" pitchFamily="34" charset="-122"/>
                <a:cs typeface="Calibri" pitchFamily="34" charset="-120"/>
              </a:rPr>
              <a:t>XPath locators are relative, parameterized, and anchored to stable text or attributes — never brittle absolute paths.</a:t>
            </a:r>
            <a:endParaRPr lang="en-US" sz="1450" dirty="0"/>
          </a:p>
        </p:txBody>
      </p:sp>
      <p:sp>
        <p:nvSpPr>
          <p:cNvPr id="5" name="Shape 3"/>
          <p:cNvSpPr/>
          <p:nvPr/>
        </p:nvSpPr>
        <p:spPr>
          <a:xfrm>
            <a:off x="548640" y="2011680"/>
            <a:ext cx="11064240" cy="1051560"/>
          </a:xfrm>
          <a:prstGeom prst="roundRect">
            <a:avLst>
              <a:gd name="adj" fmla="val 6957"/>
            </a:avLst>
          </a:prstGeom>
          <a:solidFill>
            <a:srgbClr val="F3F6FC"/>
          </a:solidFill>
          <a:ln/>
        </p:spPr>
        <p:txBody>
          <a:bodyPr/>
          <a:lstStyle/>
          <a:p>
            <a:endParaRPr lang="en-IN"/>
          </a:p>
        </p:txBody>
      </p:sp>
      <p:sp>
        <p:nvSpPr>
          <p:cNvPr id="6" name="Text 4"/>
          <p:cNvSpPr/>
          <p:nvPr/>
        </p:nvSpPr>
        <p:spPr>
          <a:xfrm>
            <a:off x="777240" y="2121408"/>
            <a:ext cx="3657600" cy="3200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Product locator</a:t>
            </a:r>
            <a:endParaRPr lang="en-US" sz="1350" dirty="0"/>
          </a:p>
        </p:txBody>
      </p:sp>
      <p:sp>
        <p:nvSpPr>
          <p:cNvPr id="7" name="Text 5"/>
          <p:cNvSpPr/>
          <p:nvPr/>
        </p:nvSpPr>
        <p:spPr>
          <a:xfrm>
            <a:off x="777240" y="2468880"/>
            <a:ext cx="3657600" cy="32004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By visible product name</a:t>
            </a:r>
            <a:endParaRPr lang="en-US" sz="1100" dirty="0"/>
          </a:p>
        </p:txBody>
      </p:sp>
      <p:sp>
        <p:nvSpPr>
          <p:cNvPr id="8" name="Shape 6"/>
          <p:cNvSpPr/>
          <p:nvPr/>
        </p:nvSpPr>
        <p:spPr>
          <a:xfrm>
            <a:off x="4572000" y="2194560"/>
            <a:ext cx="6309360" cy="685800"/>
          </a:xfrm>
          <a:prstGeom prst="roundRect">
            <a:avLst>
              <a:gd name="adj" fmla="val 6667"/>
            </a:avLst>
          </a:prstGeom>
          <a:solidFill>
            <a:srgbClr val="1E2761"/>
          </a:solidFill>
          <a:ln/>
        </p:spPr>
        <p:txBody>
          <a:bodyPr/>
          <a:lstStyle/>
          <a:p>
            <a:endParaRPr lang="en-IN"/>
          </a:p>
        </p:txBody>
      </p:sp>
      <p:sp>
        <p:nvSpPr>
          <p:cNvPr id="9" name="Text 7"/>
          <p:cNvSpPr/>
          <p:nvPr/>
        </p:nvSpPr>
        <p:spPr>
          <a:xfrm>
            <a:off x="4754880" y="2194560"/>
            <a:ext cx="5943600" cy="685800"/>
          </a:xfrm>
          <a:prstGeom prst="rect">
            <a:avLst/>
          </a:prstGeom>
          <a:noFill/>
          <a:ln/>
        </p:spPr>
        <p:txBody>
          <a:bodyPr wrap="square" lIns="0" tIns="0" rIns="0" bIns="0" rtlCol="0" anchor="ctr"/>
          <a:lstStyle/>
          <a:p>
            <a:pPr marL="0" indent="0">
              <a:buNone/>
            </a:pPr>
            <a:r>
              <a:rPr lang="en-US" sz="1200" dirty="0">
                <a:solidFill>
                  <a:srgbClr val="CADCFC"/>
                </a:solidFill>
                <a:latin typeface="Courier New" pitchFamily="34" charset="0"/>
                <a:ea typeface="Courier New" pitchFamily="34" charset="-122"/>
                <a:cs typeface="Courier New" pitchFamily="34" charset="-120"/>
              </a:rPr>
              <a:t>//div[@class='product'][.//span[text()='{name}']]</a:t>
            </a:r>
            <a:endParaRPr lang="en-US" sz="1200" dirty="0"/>
          </a:p>
        </p:txBody>
      </p:sp>
      <p:sp>
        <p:nvSpPr>
          <p:cNvPr id="10" name="Shape 8"/>
          <p:cNvSpPr/>
          <p:nvPr/>
        </p:nvSpPr>
        <p:spPr>
          <a:xfrm>
            <a:off x="548640" y="3291840"/>
            <a:ext cx="11064240" cy="1051560"/>
          </a:xfrm>
          <a:prstGeom prst="roundRect">
            <a:avLst>
              <a:gd name="adj" fmla="val 6957"/>
            </a:avLst>
          </a:prstGeom>
          <a:solidFill>
            <a:srgbClr val="F3F6FC"/>
          </a:solidFill>
          <a:ln/>
        </p:spPr>
        <p:txBody>
          <a:bodyPr/>
          <a:lstStyle/>
          <a:p>
            <a:endParaRPr lang="en-IN"/>
          </a:p>
        </p:txBody>
      </p:sp>
      <p:sp>
        <p:nvSpPr>
          <p:cNvPr id="11" name="Text 9"/>
          <p:cNvSpPr/>
          <p:nvPr/>
        </p:nvSpPr>
        <p:spPr>
          <a:xfrm>
            <a:off x="777240" y="3401568"/>
            <a:ext cx="3657600" cy="3200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Cart row locator</a:t>
            </a:r>
            <a:endParaRPr lang="en-US" sz="1350" dirty="0"/>
          </a:p>
        </p:txBody>
      </p:sp>
      <p:sp>
        <p:nvSpPr>
          <p:cNvPr id="12" name="Text 10"/>
          <p:cNvSpPr/>
          <p:nvPr/>
        </p:nvSpPr>
        <p:spPr>
          <a:xfrm>
            <a:off x="777240" y="3749040"/>
            <a:ext cx="3657600" cy="32004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By SKU attribute</a:t>
            </a:r>
            <a:endParaRPr lang="en-US" sz="1100" dirty="0"/>
          </a:p>
        </p:txBody>
      </p:sp>
      <p:sp>
        <p:nvSpPr>
          <p:cNvPr id="13" name="Shape 11"/>
          <p:cNvSpPr/>
          <p:nvPr/>
        </p:nvSpPr>
        <p:spPr>
          <a:xfrm>
            <a:off x="4572000" y="3474720"/>
            <a:ext cx="6309360" cy="685800"/>
          </a:xfrm>
          <a:prstGeom prst="roundRect">
            <a:avLst>
              <a:gd name="adj" fmla="val 6667"/>
            </a:avLst>
          </a:prstGeom>
          <a:solidFill>
            <a:srgbClr val="1E2761"/>
          </a:solidFill>
          <a:ln/>
        </p:spPr>
        <p:txBody>
          <a:bodyPr/>
          <a:lstStyle/>
          <a:p>
            <a:endParaRPr lang="en-IN"/>
          </a:p>
        </p:txBody>
      </p:sp>
      <p:sp>
        <p:nvSpPr>
          <p:cNvPr id="14" name="Text 12"/>
          <p:cNvSpPr/>
          <p:nvPr/>
        </p:nvSpPr>
        <p:spPr>
          <a:xfrm>
            <a:off x="4754880" y="3474720"/>
            <a:ext cx="5943600" cy="685800"/>
          </a:xfrm>
          <a:prstGeom prst="rect">
            <a:avLst/>
          </a:prstGeom>
          <a:noFill/>
          <a:ln/>
        </p:spPr>
        <p:txBody>
          <a:bodyPr wrap="square" lIns="0" tIns="0" rIns="0" bIns="0" rtlCol="0" anchor="ctr"/>
          <a:lstStyle/>
          <a:p>
            <a:pPr marL="0" indent="0">
              <a:buNone/>
            </a:pPr>
            <a:r>
              <a:rPr lang="en-US" sz="1200" dirty="0">
                <a:solidFill>
                  <a:srgbClr val="CADCFC"/>
                </a:solidFill>
                <a:latin typeface="Courier New" pitchFamily="34" charset="0"/>
                <a:ea typeface="Courier New" pitchFamily="34" charset="-122"/>
                <a:cs typeface="Courier New" pitchFamily="34" charset="-120"/>
              </a:rPr>
              <a:t>//tr[@data-sku='{sku}']</a:t>
            </a:r>
            <a:endParaRPr lang="en-US" sz="1200" dirty="0"/>
          </a:p>
        </p:txBody>
      </p:sp>
      <p:sp>
        <p:nvSpPr>
          <p:cNvPr id="15" name="Text 13"/>
          <p:cNvSpPr/>
          <p:nvPr/>
        </p:nvSpPr>
        <p:spPr>
          <a:xfrm>
            <a:off x="548640" y="4892040"/>
            <a:ext cx="11064240" cy="45720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Page Object Model keeps UI actions reusable and readable — tests read like plain steps, not raw locators.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Test Data, Isolation &amp; Secrets</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4" name="Shape 2"/>
          <p:cNvSpPr/>
          <p:nvPr/>
        </p:nvSpPr>
        <p:spPr>
          <a:xfrm>
            <a:off x="548640" y="1371600"/>
            <a:ext cx="5394960" cy="1828800"/>
          </a:xfrm>
          <a:prstGeom prst="roundRect">
            <a:avLst>
              <a:gd name="adj" fmla="val 4500"/>
            </a:avLst>
          </a:prstGeom>
          <a:solidFill>
            <a:srgbClr val="F3F6FC"/>
          </a:solidFill>
          <a:ln/>
        </p:spPr>
        <p:txBody>
          <a:bodyPr/>
          <a:lstStyle/>
          <a:p>
            <a:endParaRPr lang="en-IN"/>
          </a:p>
        </p:txBody>
      </p:sp>
      <p:sp>
        <p:nvSpPr>
          <p:cNvPr id="5" name="Shape 3"/>
          <p:cNvSpPr/>
          <p:nvPr/>
        </p:nvSpPr>
        <p:spPr>
          <a:xfrm>
            <a:off x="777240" y="1600200"/>
            <a:ext cx="502920" cy="502920"/>
          </a:xfrm>
          <a:prstGeom prst="ellipse">
            <a:avLst/>
          </a:prstGeom>
          <a:solidFill>
            <a:srgbClr val="1E2761"/>
          </a:solidFill>
          <a:ln/>
        </p:spPr>
        <p:txBody>
          <a:bodyPr/>
          <a:lstStyle/>
          <a:p>
            <a:endParaRPr lang="en-IN"/>
          </a:p>
        </p:txBody>
      </p:sp>
      <p:sp>
        <p:nvSpPr>
          <p:cNvPr id="6" name="Text 4"/>
          <p:cNvSpPr/>
          <p:nvPr/>
        </p:nvSpPr>
        <p:spPr>
          <a:xfrm>
            <a:off x="777240" y="16002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1</a:t>
            </a:r>
            <a:endParaRPr lang="en-US" sz="1500" dirty="0"/>
          </a:p>
        </p:txBody>
      </p:sp>
      <p:sp>
        <p:nvSpPr>
          <p:cNvPr id="7" name="Text 5"/>
          <p:cNvSpPr/>
          <p:nvPr/>
        </p:nvSpPr>
        <p:spPr>
          <a:xfrm>
            <a:off x="1463040" y="1572768"/>
            <a:ext cx="429768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Flyway</a:t>
            </a:r>
            <a:endParaRPr lang="en-US" sz="1500" dirty="0"/>
          </a:p>
        </p:txBody>
      </p:sp>
      <p:sp>
        <p:nvSpPr>
          <p:cNvPr id="8" name="Text 6"/>
          <p:cNvSpPr/>
          <p:nvPr/>
        </p:nvSpPr>
        <p:spPr>
          <a:xfrm>
            <a:off x="1463040" y="1965960"/>
            <a:ext cx="4297680" cy="1097280"/>
          </a:xfrm>
          <a:prstGeom prst="rect">
            <a:avLst/>
          </a:prstGeom>
          <a:noFill/>
          <a:ln/>
        </p:spPr>
        <p:txBody>
          <a:bodyPr wrap="square" lIns="0" tIns="0" rIns="0" bIns="0" rtlCol="0" anchor="ctr"/>
          <a:lstStyle/>
          <a:p>
            <a:pPr marL="0" indent="0">
              <a:lnSpc>
                <a:spcPct val="120000"/>
              </a:lnSpc>
              <a:buNone/>
            </a:pPr>
            <a:r>
              <a:rPr lang="en-US" sz="1250" dirty="0">
                <a:solidFill>
                  <a:srgbClr val="1E2130"/>
                </a:solidFill>
                <a:latin typeface="Calibri" pitchFamily="34" charset="0"/>
                <a:ea typeface="Calibri" pitchFamily="34" charset="-122"/>
                <a:cs typeface="Calibri" pitchFamily="34" charset="-120"/>
              </a:rPr>
              <a:t>Seeds public products and personas at startup</a:t>
            </a:r>
            <a:endParaRPr lang="en-US" sz="1250" dirty="0"/>
          </a:p>
        </p:txBody>
      </p:sp>
      <p:sp>
        <p:nvSpPr>
          <p:cNvPr id="9" name="Shape 7"/>
          <p:cNvSpPr/>
          <p:nvPr/>
        </p:nvSpPr>
        <p:spPr>
          <a:xfrm>
            <a:off x="6217920" y="1371600"/>
            <a:ext cx="5394960" cy="1828800"/>
          </a:xfrm>
          <a:prstGeom prst="roundRect">
            <a:avLst>
              <a:gd name="adj" fmla="val 4500"/>
            </a:avLst>
          </a:prstGeom>
          <a:solidFill>
            <a:srgbClr val="F3F6FC"/>
          </a:solidFill>
          <a:ln/>
        </p:spPr>
        <p:txBody>
          <a:bodyPr/>
          <a:lstStyle/>
          <a:p>
            <a:endParaRPr lang="en-IN"/>
          </a:p>
        </p:txBody>
      </p:sp>
      <p:sp>
        <p:nvSpPr>
          <p:cNvPr id="10" name="Shape 8"/>
          <p:cNvSpPr/>
          <p:nvPr/>
        </p:nvSpPr>
        <p:spPr>
          <a:xfrm>
            <a:off x="6446520" y="1600200"/>
            <a:ext cx="502920" cy="502920"/>
          </a:xfrm>
          <a:prstGeom prst="ellipse">
            <a:avLst/>
          </a:prstGeom>
          <a:solidFill>
            <a:srgbClr val="1E2761"/>
          </a:solidFill>
          <a:ln/>
        </p:spPr>
        <p:txBody>
          <a:bodyPr/>
          <a:lstStyle/>
          <a:p>
            <a:endParaRPr lang="en-IN"/>
          </a:p>
        </p:txBody>
      </p:sp>
      <p:sp>
        <p:nvSpPr>
          <p:cNvPr id="11" name="Text 9"/>
          <p:cNvSpPr/>
          <p:nvPr/>
        </p:nvSpPr>
        <p:spPr>
          <a:xfrm>
            <a:off x="6446520" y="16002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2</a:t>
            </a:r>
            <a:endParaRPr lang="en-US" sz="1500" dirty="0"/>
          </a:p>
        </p:txBody>
      </p:sp>
      <p:sp>
        <p:nvSpPr>
          <p:cNvPr id="12" name="Text 10"/>
          <p:cNvSpPr/>
          <p:nvPr/>
        </p:nvSpPr>
        <p:spPr>
          <a:xfrm>
            <a:off x="7132320" y="1572768"/>
            <a:ext cx="429768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Builders</a:t>
            </a:r>
            <a:endParaRPr lang="en-US" sz="1500" dirty="0"/>
          </a:p>
        </p:txBody>
      </p:sp>
      <p:sp>
        <p:nvSpPr>
          <p:cNvPr id="13" name="Text 11"/>
          <p:cNvSpPr/>
          <p:nvPr/>
        </p:nvSpPr>
        <p:spPr>
          <a:xfrm>
            <a:off x="7132320" y="1965960"/>
            <a:ext cx="4297680" cy="1097280"/>
          </a:xfrm>
          <a:prstGeom prst="rect">
            <a:avLst/>
          </a:prstGeom>
          <a:noFill/>
          <a:ln/>
        </p:spPr>
        <p:txBody>
          <a:bodyPr wrap="square" lIns="0" tIns="0" rIns="0" bIns="0" rtlCol="0" anchor="ctr"/>
          <a:lstStyle/>
          <a:p>
            <a:pPr marL="0" indent="0">
              <a:lnSpc>
                <a:spcPct val="120000"/>
              </a:lnSpc>
              <a:buNone/>
            </a:pPr>
            <a:r>
              <a:rPr lang="en-US" sz="1250" dirty="0">
                <a:solidFill>
                  <a:srgbClr val="1E2130"/>
                </a:solidFill>
                <a:latin typeface="Calibri" pitchFamily="34" charset="0"/>
                <a:ea typeface="Calibri" pitchFamily="34" charset="-122"/>
                <a:cs typeface="Calibri" pitchFamily="34" charset="-120"/>
              </a:rPr>
              <a:t>Create only the test-specific carts and orders needed</a:t>
            </a:r>
            <a:endParaRPr lang="en-US" sz="1250" dirty="0"/>
          </a:p>
        </p:txBody>
      </p:sp>
      <p:sp>
        <p:nvSpPr>
          <p:cNvPr id="14" name="Shape 12"/>
          <p:cNvSpPr/>
          <p:nvPr/>
        </p:nvSpPr>
        <p:spPr>
          <a:xfrm>
            <a:off x="548640" y="3474720"/>
            <a:ext cx="5394960" cy="1828800"/>
          </a:xfrm>
          <a:prstGeom prst="roundRect">
            <a:avLst>
              <a:gd name="adj" fmla="val 4500"/>
            </a:avLst>
          </a:prstGeom>
          <a:solidFill>
            <a:srgbClr val="F3F6FC"/>
          </a:solidFill>
          <a:ln/>
        </p:spPr>
        <p:txBody>
          <a:bodyPr/>
          <a:lstStyle/>
          <a:p>
            <a:endParaRPr lang="en-IN"/>
          </a:p>
        </p:txBody>
      </p:sp>
      <p:sp>
        <p:nvSpPr>
          <p:cNvPr id="15" name="Shape 13"/>
          <p:cNvSpPr/>
          <p:nvPr/>
        </p:nvSpPr>
        <p:spPr>
          <a:xfrm>
            <a:off x="777240" y="3703320"/>
            <a:ext cx="502920" cy="502920"/>
          </a:xfrm>
          <a:prstGeom prst="ellipse">
            <a:avLst/>
          </a:prstGeom>
          <a:solidFill>
            <a:srgbClr val="1E2761"/>
          </a:solidFill>
          <a:ln/>
        </p:spPr>
        <p:txBody>
          <a:bodyPr/>
          <a:lstStyle/>
          <a:p>
            <a:endParaRPr lang="en-IN"/>
          </a:p>
        </p:txBody>
      </p:sp>
      <p:sp>
        <p:nvSpPr>
          <p:cNvPr id="16" name="Text 14"/>
          <p:cNvSpPr/>
          <p:nvPr/>
        </p:nvSpPr>
        <p:spPr>
          <a:xfrm>
            <a:off x="777240" y="370332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3</a:t>
            </a:r>
            <a:endParaRPr lang="en-US" sz="1500" dirty="0"/>
          </a:p>
        </p:txBody>
      </p:sp>
      <p:sp>
        <p:nvSpPr>
          <p:cNvPr id="17" name="Text 15"/>
          <p:cNvSpPr/>
          <p:nvPr/>
        </p:nvSpPr>
        <p:spPr>
          <a:xfrm>
            <a:off x="1463040" y="3675888"/>
            <a:ext cx="429768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Testcontainers</a:t>
            </a:r>
            <a:endParaRPr lang="en-US" sz="1500" dirty="0"/>
          </a:p>
        </p:txBody>
      </p:sp>
      <p:sp>
        <p:nvSpPr>
          <p:cNvPr id="18" name="Text 16"/>
          <p:cNvSpPr/>
          <p:nvPr/>
        </p:nvSpPr>
        <p:spPr>
          <a:xfrm>
            <a:off x="1463040" y="4069080"/>
            <a:ext cx="4297680" cy="1097280"/>
          </a:xfrm>
          <a:prstGeom prst="rect">
            <a:avLst/>
          </a:prstGeom>
          <a:noFill/>
          <a:ln/>
        </p:spPr>
        <p:txBody>
          <a:bodyPr wrap="square" lIns="0" tIns="0" rIns="0" bIns="0" rtlCol="0" anchor="ctr"/>
          <a:lstStyle/>
          <a:p>
            <a:pPr marL="0" indent="0">
              <a:lnSpc>
                <a:spcPct val="120000"/>
              </a:lnSpc>
              <a:buNone/>
            </a:pPr>
            <a:r>
              <a:rPr lang="en-US" sz="1250" dirty="0">
                <a:solidFill>
                  <a:srgbClr val="1E2130"/>
                </a:solidFill>
                <a:latin typeface="Calibri" pitchFamily="34" charset="0"/>
                <a:ea typeface="Calibri" pitchFamily="34" charset="-122"/>
                <a:cs typeface="Calibri" pitchFamily="34" charset="-120"/>
              </a:rPr>
              <a:t>Spins up a clean, disposable MySQL instance per test class</a:t>
            </a:r>
            <a:endParaRPr lang="en-US" sz="1250" dirty="0"/>
          </a:p>
        </p:txBody>
      </p:sp>
      <p:sp>
        <p:nvSpPr>
          <p:cNvPr id="19" name="Shape 17"/>
          <p:cNvSpPr/>
          <p:nvPr/>
        </p:nvSpPr>
        <p:spPr>
          <a:xfrm>
            <a:off x="6217920" y="3474720"/>
            <a:ext cx="5394960" cy="1828800"/>
          </a:xfrm>
          <a:prstGeom prst="roundRect">
            <a:avLst>
              <a:gd name="adj" fmla="val 4500"/>
            </a:avLst>
          </a:prstGeom>
          <a:solidFill>
            <a:srgbClr val="F3F6FC"/>
          </a:solidFill>
          <a:ln/>
        </p:spPr>
        <p:txBody>
          <a:bodyPr/>
          <a:lstStyle/>
          <a:p>
            <a:endParaRPr lang="en-IN"/>
          </a:p>
        </p:txBody>
      </p:sp>
      <p:sp>
        <p:nvSpPr>
          <p:cNvPr id="20" name="Shape 18"/>
          <p:cNvSpPr/>
          <p:nvPr/>
        </p:nvSpPr>
        <p:spPr>
          <a:xfrm>
            <a:off x="6446520" y="3703320"/>
            <a:ext cx="502920" cy="502920"/>
          </a:xfrm>
          <a:prstGeom prst="ellipse">
            <a:avLst/>
          </a:prstGeom>
          <a:solidFill>
            <a:srgbClr val="1E2761"/>
          </a:solidFill>
          <a:ln/>
        </p:spPr>
        <p:txBody>
          <a:bodyPr/>
          <a:lstStyle/>
          <a:p>
            <a:endParaRPr lang="en-IN"/>
          </a:p>
        </p:txBody>
      </p:sp>
      <p:sp>
        <p:nvSpPr>
          <p:cNvPr id="21" name="Text 19"/>
          <p:cNvSpPr/>
          <p:nvPr/>
        </p:nvSpPr>
        <p:spPr>
          <a:xfrm>
            <a:off x="6446520" y="370332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4</a:t>
            </a:r>
            <a:endParaRPr lang="en-US" sz="1500" dirty="0"/>
          </a:p>
        </p:txBody>
      </p:sp>
      <p:sp>
        <p:nvSpPr>
          <p:cNvPr id="22" name="Text 20"/>
          <p:cNvSpPr/>
          <p:nvPr/>
        </p:nvSpPr>
        <p:spPr>
          <a:xfrm>
            <a:off x="7132320" y="3675888"/>
            <a:ext cx="429768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Secrets</a:t>
            </a:r>
            <a:endParaRPr lang="en-US" sz="1500" dirty="0"/>
          </a:p>
        </p:txBody>
      </p:sp>
      <p:sp>
        <p:nvSpPr>
          <p:cNvPr id="23" name="Text 21"/>
          <p:cNvSpPr/>
          <p:nvPr/>
        </p:nvSpPr>
        <p:spPr>
          <a:xfrm>
            <a:off x="7132320" y="4069080"/>
            <a:ext cx="4297680" cy="1097280"/>
          </a:xfrm>
          <a:prstGeom prst="rect">
            <a:avLst/>
          </a:prstGeom>
          <a:noFill/>
          <a:ln/>
        </p:spPr>
        <p:txBody>
          <a:bodyPr wrap="square" lIns="0" tIns="0" rIns="0" bIns="0" rtlCol="0" anchor="ctr"/>
          <a:lstStyle/>
          <a:p>
            <a:pPr marL="0" indent="0">
              <a:lnSpc>
                <a:spcPct val="120000"/>
              </a:lnSpc>
              <a:buNone/>
            </a:pPr>
            <a:r>
              <a:rPr lang="en-US" sz="1250" dirty="0">
                <a:solidFill>
                  <a:srgbClr val="1E2130"/>
                </a:solidFill>
                <a:latin typeface="Calibri" pitchFamily="34" charset="0"/>
                <a:ea typeface="Calibri" pitchFamily="34" charset="-122"/>
                <a:cs typeface="Calibri" pitchFamily="34" charset="-120"/>
              </a:rPr>
              <a:t>Resolved from environment variables or local ignored config</a:t>
            </a:r>
            <a:endParaRPr lang="en-US" sz="1250" dirty="0"/>
          </a:p>
        </p:txBody>
      </p:sp>
      <p:sp>
        <p:nvSpPr>
          <p:cNvPr id="24" name="Shape 22"/>
          <p:cNvSpPr/>
          <p:nvPr/>
        </p:nvSpPr>
        <p:spPr>
          <a:xfrm>
            <a:off x="548640" y="5532120"/>
            <a:ext cx="11064240" cy="777240"/>
          </a:xfrm>
          <a:prstGeom prst="roundRect">
            <a:avLst>
              <a:gd name="adj" fmla="val 9412"/>
            </a:avLst>
          </a:prstGeom>
          <a:solidFill>
            <a:srgbClr val="1E2761"/>
          </a:solidFill>
          <a:ln/>
        </p:spPr>
        <p:txBody>
          <a:bodyPr/>
          <a:lstStyle/>
          <a:p>
            <a:endParaRPr lang="en-IN"/>
          </a:p>
        </p:txBody>
      </p:sp>
      <p:sp>
        <p:nvSpPr>
          <p:cNvPr id="25" name="Text 23"/>
          <p:cNvSpPr/>
          <p:nvPr/>
        </p:nvSpPr>
        <p:spPr>
          <a:xfrm>
            <a:off x="822960" y="5532120"/>
            <a:ext cx="10515600" cy="77724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Passwords and tokens are never committed, logged, attached, or shown in reports.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8229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Reporting &amp; CI</a:t>
            </a:r>
            <a:endParaRPr lang="en-US" sz="3200" dirty="0"/>
          </a:p>
        </p:txBody>
      </p:sp>
      <p:sp>
        <p:nvSpPr>
          <p:cNvPr id="3" name="Text 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548640" y="1417320"/>
            <a:ext cx="2468880" cy="777240"/>
          </a:xfrm>
          <a:prstGeom prst="roundRect">
            <a:avLst>
              <a:gd name="adj" fmla="val 9412"/>
            </a:avLst>
          </a:prstGeom>
          <a:solidFill>
            <a:srgbClr val="F3F6FC"/>
          </a:solidFill>
          <a:ln/>
        </p:spPr>
        <p:txBody>
          <a:bodyPr/>
          <a:lstStyle/>
          <a:p>
            <a:endParaRPr lang="en-IN"/>
          </a:p>
        </p:txBody>
      </p:sp>
      <p:sp>
        <p:nvSpPr>
          <p:cNvPr id="5" name="Text 3"/>
          <p:cNvSpPr/>
          <p:nvPr/>
        </p:nvSpPr>
        <p:spPr>
          <a:xfrm>
            <a:off x="548640" y="1417320"/>
            <a:ext cx="2468880" cy="77724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Code Push</a:t>
            </a:r>
            <a:endParaRPr lang="en-US" sz="1300" dirty="0"/>
          </a:p>
        </p:txBody>
      </p:sp>
      <p:sp>
        <p:nvSpPr>
          <p:cNvPr id="6" name="Text 4"/>
          <p:cNvSpPr/>
          <p:nvPr/>
        </p:nvSpPr>
        <p:spPr>
          <a:xfrm>
            <a:off x="3017520" y="1417320"/>
            <a:ext cx="320040" cy="777240"/>
          </a:xfrm>
          <a:prstGeom prst="rect">
            <a:avLst/>
          </a:prstGeom>
          <a:noFill/>
          <a:ln/>
        </p:spPr>
        <p:txBody>
          <a:bodyPr wrap="square" lIns="0" tIns="0" rIns="0" bIns="0" rtlCol="0" anchor="ctr"/>
          <a:lstStyle/>
          <a:p>
            <a:pPr marL="0" indent="0" algn="ctr">
              <a:buNone/>
            </a:pPr>
            <a:r>
              <a:rPr lang="en-US" sz="1800" dirty="0">
                <a:solidFill>
                  <a:srgbClr val="6B7280"/>
                </a:solidFill>
              </a:rPr>
              <a:t>→</a:t>
            </a:r>
            <a:endParaRPr lang="en-US" sz="1800" dirty="0"/>
          </a:p>
        </p:txBody>
      </p:sp>
      <p:sp>
        <p:nvSpPr>
          <p:cNvPr id="7" name="Shape 5"/>
          <p:cNvSpPr/>
          <p:nvPr/>
        </p:nvSpPr>
        <p:spPr>
          <a:xfrm>
            <a:off x="3337560" y="1417320"/>
            <a:ext cx="2468880" cy="777240"/>
          </a:xfrm>
          <a:prstGeom prst="roundRect">
            <a:avLst>
              <a:gd name="adj" fmla="val 9412"/>
            </a:avLst>
          </a:prstGeom>
          <a:solidFill>
            <a:srgbClr val="F3F6FC"/>
          </a:solidFill>
          <a:ln/>
        </p:spPr>
        <p:txBody>
          <a:bodyPr/>
          <a:lstStyle/>
          <a:p>
            <a:endParaRPr lang="en-IN"/>
          </a:p>
        </p:txBody>
      </p:sp>
      <p:sp>
        <p:nvSpPr>
          <p:cNvPr id="8" name="Text 6"/>
          <p:cNvSpPr/>
          <p:nvPr/>
        </p:nvSpPr>
        <p:spPr>
          <a:xfrm>
            <a:off x="3337560" y="1417320"/>
            <a:ext cx="2468880" cy="77724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GitHub Actions</a:t>
            </a:r>
            <a:endParaRPr lang="en-US" sz="1300" dirty="0"/>
          </a:p>
        </p:txBody>
      </p:sp>
      <p:sp>
        <p:nvSpPr>
          <p:cNvPr id="9" name="Text 7"/>
          <p:cNvSpPr/>
          <p:nvPr/>
        </p:nvSpPr>
        <p:spPr>
          <a:xfrm>
            <a:off x="5806440" y="1417320"/>
            <a:ext cx="320040" cy="777240"/>
          </a:xfrm>
          <a:prstGeom prst="rect">
            <a:avLst/>
          </a:prstGeom>
          <a:noFill/>
          <a:ln/>
        </p:spPr>
        <p:txBody>
          <a:bodyPr wrap="square" lIns="0" tIns="0" rIns="0" bIns="0" rtlCol="0" anchor="ctr"/>
          <a:lstStyle/>
          <a:p>
            <a:pPr marL="0" indent="0" algn="ctr">
              <a:buNone/>
            </a:pPr>
            <a:r>
              <a:rPr lang="en-US" sz="1800" dirty="0">
                <a:solidFill>
                  <a:srgbClr val="6B7280"/>
                </a:solidFill>
              </a:rPr>
              <a:t>→</a:t>
            </a:r>
            <a:endParaRPr lang="en-US" sz="1800" dirty="0"/>
          </a:p>
        </p:txBody>
      </p:sp>
      <p:sp>
        <p:nvSpPr>
          <p:cNvPr id="10" name="Shape 8"/>
          <p:cNvSpPr/>
          <p:nvPr/>
        </p:nvSpPr>
        <p:spPr>
          <a:xfrm>
            <a:off x="6126480" y="1417320"/>
            <a:ext cx="2468880" cy="777240"/>
          </a:xfrm>
          <a:prstGeom prst="roundRect">
            <a:avLst>
              <a:gd name="adj" fmla="val 9412"/>
            </a:avLst>
          </a:prstGeom>
          <a:solidFill>
            <a:srgbClr val="F3F6FC"/>
          </a:solidFill>
          <a:ln/>
        </p:spPr>
        <p:txBody>
          <a:bodyPr/>
          <a:lstStyle/>
          <a:p>
            <a:endParaRPr lang="en-IN"/>
          </a:p>
        </p:txBody>
      </p:sp>
      <p:sp>
        <p:nvSpPr>
          <p:cNvPr id="11" name="Text 9"/>
          <p:cNvSpPr/>
          <p:nvPr/>
        </p:nvSpPr>
        <p:spPr>
          <a:xfrm>
            <a:off x="6126480" y="1417320"/>
            <a:ext cx="2468880" cy="77724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Testcontainers + Tests</a:t>
            </a:r>
            <a:endParaRPr lang="en-US" sz="1300" dirty="0"/>
          </a:p>
        </p:txBody>
      </p:sp>
      <p:sp>
        <p:nvSpPr>
          <p:cNvPr id="12" name="Text 10"/>
          <p:cNvSpPr/>
          <p:nvPr/>
        </p:nvSpPr>
        <p:spPr>
          <a:xfrm>
            <a:off x="8595360" y="1417320"/>
            <a:ext cx="320040" cy="777240"/>
          </a:xfrm>
          <a:prstGeom prst="rect">
            <a:avLst/>
          </a:prstGeom>
          <a:noFill/>
          <a:ln/>
        </p:spPr>
        <p:txBody>
          <a:bodyPr wrap="square" lIns="0" tIns="0" rIns="0" bIns="0" rtlCol="0" anchor="ctr"/>
          <a:lstStyle/>
          <a:p>
            <a:pPr marL="0" indent="0" algn="ctr">
              <a:buNone/>
            </a:pPr>
            <a:r>
              <a:rPr lang="en-US" sz="1800" dirty="0">
                <a:solidFill>
                  <a:srgbClr val="6B7280"/>
                </a:solidFill>
              </a:rPr>
              <a:t>→</a:t>
            </a:r>
            <a:endParaRPr lang="en-US" sz="1800" dirty="0"/>
          </a:p>
        </p:txBody>
      </p:sp>
      <p:sp>
        <p:nvSpPr>
          <p:cNvPr id="13" name="Shape 11"/>
          <p:cNvSpPr/>
          <p:nvPr/>
        </p:nvSpPr>
        <p:spPr>
          <a:xfrm>
            <a:off x="8915400" y="1417320"/>
            <a:ext cx="2468880" cy="777240"/>
          </a:xfrm>
          <a:prstGeom prst="roundRect">
            <a:avLst>
              <a:gd name="adj" fmla="val 9412"/>
            </a:avLst>
          </a:prstGeom>
          <a:solidFill>
            <a:srgbClr val="1E2761"/>
          </a:solidFill>
          <a:ln/>
        </p:spPr>
        <p:txBody>
          <a:bodyPr/>
          <a:lstStyle/>
          <a:p>
            <a:endParaRPr lang="en-IN"/>
          </a:p>
        </p:txBody>
      </p:sp>
      <p:sp>
        <p:nvSpPr>
          <p:cNvPr id="14" name="Text 12"/>
          <p:cNvSpPr/>
          <p:nvPr/>
        </p:nvSpPr>
        <p:spPr>
          <a:xfrm>
            <a:off x="8915400" y="1417320"/>
            <a:ext cx="246888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Allure Report</a:t>
            </a:r>
            <a:endParaRPr lang="en-US" sz="1300" dirty="0"/>
          </a:p>
        </p:txBody>
      </p:sp>
      <p:sp>
        <p:nvSpPr>
          <p:cNvPr id="15" name="Shape 13"/>
          <p:cNvSpPr/>
          <p:nvPr/>
        </p:nvSpPr>
        <p:spPr>
          <a:xfrm>
            <a:off x="548640" y="2587752"/>
            <a:ext cx="128016" cy="128016"/>
          </a:xfrm>
          <a:prstGeom prst="ellipse">
            <a:avLst/>
          </a:prstGeom>
          <a:solidFill>
            <a:srgbClr val="1E2761"/>
          </a:solidFill>
          <a:ln/>
        </p:spPr>
        <p:txBody>
          <a:bodyPr/>
          <a:lstStyle/>
          <a:p>
            <a:endParaRPr lang="en-IN"/>
          </a:p>
        </p:txBody>
      </p:sp>
      <p:sp>
        <p:nvSpPr>
          <p:cNvPr id="16" name="Text 14"/>
          <p:cNvSpPr/>
          <p:nvPr/>
        </p:nvSpPr>
        <p:spPr>
          <a:xfrm>
            <a:off x="822960" y="2514600"/>
            <a:ext cx="5486400" cy="365760"/>
          </a:xfrm>
          <a:prstGeom prst="rect">
            <a:avLst/>
          </a:prstGeom>
          <a:noFill/>
          <a:ln/>
        </p:spPr>
        <p:txBody>
          <a:bodyPr wrap="square" lIns="0" tIns="0" rIns="0" bIns="0" rtlCol="0" anchor="ctr"/>
          <a:lstStyle/>
          <a:p>
            <a:pPr marL="0" indent="0">
              <a:buNone/>
            </a:pPr>
            <a:r>
              <a:rPr lang="en-US" sz="1350" dirty="0">
                <a:solidFill>
                  <a:srgbClr val="1E2130"/>
                </a:solidFill>
                <a:latin typeface="Calibri" pitchFamily="34" charset="0"/>
                <a:ea typeface="Calibri" pitchFamily="34" charset="-122"/>
                <a:cs typeface="Calibri" pitchFamily="34" charset="-120"/>
              </a:rPr>
              <a:t>Categories group failures by root cause</a:t>
            </a:r>
            <a:endParaRPr lang="en-US" sz="1350" dirty="0"/>
          </a:p>
        </p:txBody>
      </p:sp>
      <p:sp>
        <p:nvSpPr>
          <p:cNvPr id="17" name="Shape 15"/>
          <p:cNvSpPr/>
          <p:nvPr/>
        </p:nvSpPr>
        <p:spPr>
          <a:xfrm>
            <a:off x="548640" y="3044952"/>
            <a:ext cx="128016" cy="128016"/>
          </a:xfrm>
          <a:prstGeom prst="ellipse">
            <a:avLst/>
          </a:prstGeom>
          <a:solidFill>
            <a:srgbClr val="1E2761"/>
          </a:solidFill>
          <a:ln/>
        </p:spPr>
        <p:txBody>
          <a:bodyPr/>
          <a:lstStyle/>
          <a:p>
            <a:endParaRPr lang="en-IN"/>
          </a:p>
        </p:txBody>
      </p:sp>
      <p:sp>
        <p:nvSpPr>
          <p:cNvPr id="18" name="Text 16"/>
          <p:cNvSpPr/>
          <p:nvPr/>
        </p:nvSpPr>
        <p:spPr>
          <a:xfrm>
            <a:off x="822960" y="2971800"/>
            <a:ext cx="5486400" cy="365760"/>
          </a:xfrm>
          <a:prstGeom prst="rect">
            <a:avLst/>
          </a:prstGeom>
          <a:noFill/>
          <a:ln/>
        </p:spPr>
        <p:txBody>
          <a:bodyPr wrap="square" lIns="0" tIns="0" rIns="0" bIns="0" rtlCol="0" anchor="ctr"/>
          <a:lstStyle/>
          <a:p>
            <a:pPr marL="0" indent="0">
              <a:buNone/>
            </a:pPr>
            <a:r>
              <a:rPr lang="en-US" sz="1350" dirty="0">
                <a:solidFill>
                  <a:srgbClr val="1E2130"/>
                </a:solidFill>
                <a:latin typeface="Calibri" pitchFamily="34" charset="0"/>
                <a:ea typeface="Calibri" pitchFamily="34" charset="-122"/>
                <a:cs typeface="Calibri" pitchFamily="34" charset="-120"/>
              </a:rPr>
              <a:t>History and trends across CI runs</a:t>
            </a:r>
            <a:endParaRPr lang="en-US" sz="1350" dirty="0"/>
          </a:p>
        </p:txBody>
      </p:sp>
      <p:sp>
        <p:nvSpPr>
          <p:cNvPr id="19" name="Shape 17"/>
          <p:cNvSpPr/>
          <p:nvPr/>
        </p:nvSpPr>
        <p:spPr>
          <a:xfrm>
            <a:off x="548640" y="3502152"/>
            <a:ext cx="128016" cy="128016"/>
          </a:xfrm>
          <a:prstGeom prst="ellipse">
            <a:avLst/>
          </a:prstGeom>
          <a:solidFill>
            <a:srgbClr val="1E2761"/>
          </a:solidFill>
          <a:ln/>
        </p:spPr>
        <p:txBody>
          <a:bodyPr/>
          <a:lstStyle/>
          <a:p>
            <a:endParaRPr lang="en-IN"/>
          </a:p>
        </p:txBody>
      </p:sp>
      <p:sp>
        <p:nvSpPr>
          <p:cNvPr id="20" name="Text 18"/>
          <p:cNvSpPr/>
          <p:nvPr/>
        </p:nvSpPr>
        <p:spPr>
          <a:xfrm>
            <a:off x="822960" y="3429000"/>
            <a:ext cx="5486400" cy="365760"/>
          </a:xfrm>
          <a:prstGeom prst="rect">
            <a:avLst/>
          </a:prstGeom>
          <a:noFill/>
          <a:ln/>
        </p:spPr>
        <p:txBody>
          <a:bodyPr wrap="square" lIns="0" tIns="0" rIns="0" bIns="0" rtlCol="0" anchor="ctr"/>
          <a:lstStyle/>
          <a:p>
            <a:pPr marL="0" indent="0">
              <a:buNone/>
            </a:pPr>
            <a:r>
              <a:rPr lang="en-US" sz="1350" dirty="0">
                <a:solidFill>
                  <a:srgbClr val="1E2130"/>
                </a:solidFill>
                <a:latin typeface="Calibri" pitchFamily="34" charset="0"/>
                <a:ea typeface="Calibri" pitchFamily="34" charset="-122"/>
                <a:cs typeface="Calibri" pitchFamily="34" charset="-120"/>
              </a:rPr>
              <a:t>Environment details captured per run</a:t>
            </a:r>
            <a:endParaRPr lang="en-US" sz="1350" dirty="0"/>
          </a:p>
        </p:txBody>
      </p:sp>
      <p:sp>
        <p:nvSpPr>
          <p:cNvPr id="21" name="Shape 19"/>
          <p:cNvSpPr/>
          <p:nvPr/>
        </p:nvSpPr>
        <p:spPr>
          <a:xfrm>
            <a:off x="548640" y="3959352"/>
            <a:ext cx="128016" cy="128016"/>
          </a:xfrm>
          <a:prstGeom prst="ellipse">
            <a:avLst/>
          </a:prstGeom>
          <a:solidFill>
            <a:srgbClr val="1E2761"/>
          </a:solidFill>
          <a:ln/>
        </p:spPr>
        <p:txBody>
          <a:bodyPr/>
          <a:lstStyle/>
          <a:p>
            <a:endParaRPr lang="en-IN"/>
          </a:p>
        </p:txBody>
      </p:sp>
      <p:sp>
        <p:nvSpPr>
          <p:cNvPr id="22" name="Text 20"/>
          <p:cNvSpPr/>
          <p:nvPr/>
        </p:nvSpPr>
        <p:spPr>
          <a:xfrm>
            <a:off x="822960" y="3886200"/>
            <a:ext cx="5486400" cy="365760"/>
          </a:xfrm>
          <a:prstGeom prst="rect">
            <a:avLst/>
          </a:prstGeom>
          <a:noFill/>
          <a:ln/>
        </p:spPr>
        <p:txBody>
          <a:bodyPr wrap="square" lIns="0" tIns="0" rIns="0" bIns="0" rtlCol="0" anchor="ctr"/>
          <a:lstStyle/>
          <a:p>
            <a:pPr marL="0" indent="0">
              <a:buNone/>
            </a:pPr>
            <a:r>
              <a:rPr lang="en-US" sz="1350" dirty="0">
                <a:solidFill>
                  <a:srgbClr val="1E2130"/>
                </a:solidFill>
                <a:latin typeface="Calibri" pitchFamily="34" charset="0"/>
                <a:ea typeface="Calibri" pitchFamily="34" charset="-122"/>
                <a:cs typeface="Calibri" pitchFamily="34" charset="-120"/>
              </a:rPr>
              <a:t>Attachments and logs are redacted</a:t>
            </a:r>
            <a:endParaRPr lang="en-US" sz="1350" dirty="0"/>
          </a:p>
        </p:txBody>
      </p:sp>
      <p:sp>
        <p:nvSpPr>
          <p:cNvPr id="23" name="Shape 21"/>
          <p:cNvSpPr/>
          <p:nvPr/>
        </p:nvSpPr>
        <p:spPr>
          <a:xfrm>
            <a:off x="548640" y="4416552"/>
            <a:ext cx="128016" cy="128016"/>
          </a:xfrm>
          <a:prstGeom prst="ellipse">
            <a:avLst/>
          </a:prstGeom>
          <a:solidFill>
            <a:srgbClr val="1E2761"/>
          </a:solidFill>
          <a:ln/>
        </p:spPr>
        <p:txBody>
          <a:bodyPr/>
          <a:lstStyle/>
          <a:p>
            <a:endParaRPr lang="en-IN"/>
          </a:p>
        </p:txBody>
      </p:sp>
      <p:sp>
        <p:nvSpPr>
          <p:cNvPr id="24" name="Text 22"/>
          <p:cNvSpPr/>
          <p:nvPr/>
        </p:nvSpPr>
        <p:spPr>
          <a:xfrm>
            <a:off x="822960" y="4343400"/>
            <a:ext cx="5486400" cy="365760"/>
          </a:xfrm>
          <a:prstGeom prst="rect">
            <a:avLst/>
          </a:prstGeom>
          <a:noFill/>
          <a:ln/>
        </p:spPr>
        <p:txBody>
          <a:bodyPr wrap="square" lIns="0" tIns="0" rIns="0" bIns="0" rtlCol="0" anchor="ctr"/>
          <a:lstStyle/>
          <a:p>
            <a:pPr marL="0" indent="0">
              <a:buNone/>
            </a:pPr>
            <a:r>
              <a:rPr lang="en-US" sz="1350" dirty="0">
                <a:solidFill>
                  <a:srgbClr val="1E2130"/>
                </a:solidFill>
                <a:latin typeface="Calibri" pitchFamily="34" charset="0"/>
                <a:ea typeface="Calibri" pitchFamily="34" charset="-122"/>
                <a:cs typeface="Calibri" pitchFamily="34" charset="-120"/>
              </a:rPr>
              <a:t>Security scanning runs alongside tests</a:t>
            </a:r>
            <a:endParaRPr lang="en-US" sz="1350" dirty="0"/>
          </a:p>
        </p:txBody>
      </p:sp>
      <p:sp>
        <p:nvSpPr>
          <p:cNvPr id="25" name="Shape 23"/>
          <p:cNvSpPr/>
          <p:nvPr/>
        </p:nvSpPr>
        <p:spPr>
          <a:xfrm>
            <a:off x="6675120" y="2514600"/>
            <a:ext cx="4937760" cy="3108960"/>
          </a:xfrm>
          <a:prstGeom prst="roundRect">
            <a:avLst>
              <a:gd name="adj" fmla="val 2647"/>
            </a:avLst>
          </a:prstGeom>
          <a:solidFill>
            <a:srgbClr val="F3F6FC"/>
          </a:solidFill>
          <a:ln w="19050">
            <a:solidFill>
              <a:srgbClr val="CADCFC"/>
            </a:solidFill>
            <a:prstDash val="solid"/>
          </a:ln>
        </p:spPr>
        <p:txBody>
          <a:bodyPr/>
          <a:lstStyle/>
          <a:p>
            <a:endParaRPr lang="en-IN"/>
          </a:p>
        </p:txBody>
      </p:sp>
      <p:sp>
        <p:nvSpPr>
          <p:cNvPr id="26" name="Shape 24"/>
          <p:cNvSpPr/>
          <p:nvPr/>
        </p:nvSpPr>
        <p:spPr>
          <a:xfrm>
            <a:off x="6903720" y="2743200"/>
            <a:ext cx="4480560" cy="457200"/>
          </a:xfrm>
          <a:prstGeom prst="roundRect">
            <a:avLst>
              <a:gd name="adj" fmla="val 10000"/>
            </a:avLst>
          </a:prstGeom>
          <a:solidFill>
            <a:srgbClr val="1E2761"/>
          </a:solidFill>
          <a:ln/>
        </p:spPr>
        <p:txBody>
          <a:bodyPr/>
          <a:lstStyle/>
          <a:p>
            <a:endParaRPr lang="en-IN"/>
          </a:p>
        </p:txBody>
      </p:sp>
      <p:sp>
        <p:nvSpPr>
          <p:cNvPr id="27" name="Text 25"/>
          <p:cNvSpPr/>
          <p:nvPr/>
        </p:nvSpPr>
        <p:spPr>
          <a:xfrm>
            <a:off x="6903720" y="2743200"/>
            <a:ext cx="448056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Allure Dashboard</a:t>
            </a:r>
            <a:endParaRPr lang="en-US" sz="1250" dirty="0"/>
          </a:p>
        </p:txBody>
      </p:sp>
      <p:sp>
        <p:nvSpPr>
          <p:cNvPr id="28" name="Text 26"/>
          <p:cNvSpPr/>
          <p:nvPr/>
        </p:nvSpPr>
        <p:spPr>
          <a:xfrm>
            <a:off x="6903720" y="3383280"/>
            <a:ext cx="4480560" cy="2011680"/>
          </a:xfrm>
          <a:prstGeom prst="rect">
            <a:avLst/>
          </a:prstGeom>
          <a:noFill/>
          <a:ln/>
        </p:spPr>
        <p:txBody>
          <a:bodyPr wrap="square" lIns="0" tIns="0" rIns="0" bIns="0" rtlCol="0" anchor="ctr"/>
          <a:lstStyle/>
          <a:p>
            <a:pPr marL="0" indent="0" algn="ctr">
              <a:buNone/>
            </a:pP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463040" y="-1645920"/>
            <a:ext cx="4572000" cy="4572000"/>
          </a:xfrm>
          <a:prstGeom prst="ellipse">
            <a:avLst/>
          </a:prstGeom>
          <a:solidFill>
            <a:srgbClr val="26317A"/>
          </a:solidFill>
          <a:ln/>
        </p:spPr>
        <p:txBody>
          <a:bodyPr/>
          <a:lstStyle/>
          <a:p>
            <a:endParaRPr lang="en-IN"/>
          </a:p>
        </p:txBody>
      </p:sp>
      <p:sp>
        <p:nvSpPr>
          <p:cNvPr id="3" name="Text 1"/>
          <p:cNvSpPr/>
          <p:nvPr/>
        </p:nvSpPr>
        <p:spPr>
          <a:xfrm>
            <a:off x="548640" y="457200"/>
            <a:ext cx="10515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Results, Readiness &amp; Conclusion</a:t>
            </a:r>
            <a:endParaRPr lang="en-US" sz="3000" dirty="0"/>
          </a:p>
        </p:txBody>
      </p:sp>
      <p:sp>
        <p:nvSpPr>
          <p:cNvPr id="4" name="Shape 2"/>
          <p:cNvSpPr/>
          <p:nvPr/>
        </p:nvSpPr>
        <p:spPr>
          <a:xfrm>
            <a:off x="548640" y="1463040"/>
            <a:ext cx="365760" cy="365760"/>
          </a:xfrm>
          <a:prstGeom prst="ellipse">
            <a:avLst/>
          </a:prstGeom>
          <a:solidFill>
            <a:srgbClr val="CADCFC"/>
          </a:solidFill>
          <a:ln/>
        </p:spPr>
        <p:txBody>
          <a:bodyPr/>
          <a:lstStyle/>
          <a:p>
            <a:endParaRPr lang="en-IN"/>
          </a:p>
        </p:txBody>
      </p:sp>
      <p:sp>
        <p:nvSpPr>
          <p:cNvPr id="5" name="Text 3"/>
          <p:cNvSpPr/>
          <p:nvPr/>
        </p:nvSpPr>
        <p:spPr>
          <a:xfrm>
            <a:off x="548640" y="1463040"/>
            <a:ext cx="365760" cy="365760"/>
          </a:xfrm>
          <a:prstGeom prst="rect">
            <a:avLst/>
          </a:prstGeom>
          <a:noFill/>
          <a:ln/>
        </p:spPr>
        <p:txBody>
          <a:bodyPr wrap="square" lIns="0" tIns="0" rIns="0" bIns="0" rtlCol="0" anchor="ctr"/>
          <a:lstStyle/>
          <a:p>
            <a:pPr marL="0" indent="0" algn="ctr">
              <a:buNone/>
            </a:pPr>
            <a:r>
              <a:rPr lang="en-US" sz="1300" b="1" dirty="0">
                <a:solidFill>
                  <a:srgbClr val="1E2761"/>
                </a:solidFill>
              </a:rPr>
              <a:t>✓</a:t>
            </a:r>
            <a:endParaRPr lang="en-US" sz="1300" dirty="0"/>
          </a:p>
        </p:txBody>
      </p:sp>
      <p:sp>
        <p:nvSpPr>
          <p:cNvPr id="6" name="Text 4"/>
          <p:cNvSpPr/>
          <p:nvPr/>
        </p:nvSpPr>
        <p:spPr>
          <a:xfrm>
            <a:off x="1051560" y="1417320"/>
            <a:ext cx="10332720" cy="4572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Reliable, layer-based test coverage across UI, API, and DB</a:t>
            </a:r>
            <a:endParaRPr lang="en-US" sz="1450" dirty="0"/>
          </a:p>
        </p:txBody>
      </p:sp>
      <p:sp>
        <p:nvSpPr>
          <p:cNvPr id="7" name="Shape 5"/>
          <p:cNvSpPr/>
          <p:nvPr/>
        </p:nvSpPr>
        <p:spPr>
          <a:xfrm>
            <a:off x="548640" y="2029968"/>
            <a:ext cx="365760" cy="365760"/>
          </a:xfrm>
          <a:prstGeom prst="ellipse">
            <a:avLst/>
          </a:prstGeom>
          <a:solidFill>
            <a:srgbClr val="CADCFC"/>
          </a:solidFill>
          <a:ln/>
        </p:spPr>
        <p:txBody>
          <a:bodyPr/>
          <a:lstStyle/>
          <a:p>
            <a:endParaRPr lang="en-IN"/>
          </a:p>
        </p:txBody>
      </p:sp>
      <p:sp>
        <p:nvSpPr>
          <p:cNvPr id="8" name="Text 6"/>
          <p:cNvSpPr/>
          <p:nvPr/>
        </p:nvSpPr>
        <p:spPr>
          <a:xfrm>
            <a:off x="548640" y="2029968"/>
            <a:ext cx="365760" cy="365760"/>
          </a:xfrm>
          <a:prstGeom prst="rect">
            <a:avLst/>
          </a:prstGeom>
          <a:noFill/>
          <a:ln/>
        </p:spPr>
        <p:txBody>
          <a:bodyPr wrap="square" lIns="0" tIns="0" rIns="0" bIns="0" rtlCol="0" anchor="ctr"/>
          <a:lstStyle/>
          <a:p>
            <a:pPr marL="0" indent="0" algn="ctr">
              <a:buNone/>
            </a:pPr>
            <a:r>
              <a:rPr lang="en-US" sz="1300" b="1" dirty="0">
                <a:solidFill>
                  <a:srgbClr val="1E2761"/>
                </a:solidFill>
              </a:rPr>
              <a:t>✓</a:t>
            </a:r>
            <a:endParaRPr lang="en-US" sz="1300" dirty="0"/>
          </a:p>
        </p:txBody>
      </p:sp>
      <p:sp>
        <p:nvSpPr>
          <p:cNvPr id="9" name="Text 7"/>
          <p:cNvSpPr/>
          <p:nvPr/>
        </p:nvSpPr>
        <p:spPr>
          <a:xfrm>
            <a:off x="1051560" y="1984248"/>
            <a:ext cx="10332720" cy="4572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Isolated and repeatable tests via Testcontainers + Flyway</a:t>
            </a:r>
            <a:endParaRPr lang="en-US" sz="1450" dirty="0"/>
          </a:p>
        </p:txBody>
      </p:sp>
      <p:sp>
        <p:nvSpPr>
          <p:cNvPr id="10" name="Shape 8"/>
          <p:cNvSpPr/>
          <p:nvPr/>
        </p:nvSpPr>
        <p:spPr>
          <a:xfrm>
            <a:off x="548640" y="2596896"/>
            <a:ext cx="365760" cy="365760"/>
          </a:xfrm>
          <a:prstGeom prst="ellipse">
            <a:avLst/>
          </a:prstGeom>
          <a:solidFill>
            <a:srgbClr val="CADCFC"/>
          </a:solidFill>
          <a:ln/>
        </p:spPr>
        <p:txBody>
          <a:bodyPr/>
          <a:lstStyle/>
          <a:p>
            <a:endParaRPr lang="en-IN"/>
          </a:p>
        </p:txBody>
      </p:sp>
      <p:sp>
        <p:nvSpPr>
          <p:cNvPr id="11" name="Text 9"/>
          <p:cNvSpPr/>
          <p:nvPr/>
        </p:nvSpPr>
        <p:spPr>
          <a:xfrm>
            <a:off x="548640" y="2596896"/>
            <a:ext cx="365760" cy="365760"/>
          </a:xfrm>
          <a:prstGeom prst="rect">
            <a:avLst/>
          </a:prstGeom>
          <a:noFill/>
          <a:ln/>
        </p:spPr>
        <p:txBody>
          <a:bodyPr wrap="square" lIns="0" tIns="0" rIns="0" bIns="0" rtlCol="0" anchor="ctr"/>
          <a:lstStyle/>
          <a:p>
            <a:pPr marL="0" indent="0" algn="ctr">
              <a:buNone/>
            </a:pPr>
            <a:r>
              <a:rPr lang="en-US" sz="1300" b="1" dirty="0">
                <a:solidFill>
                  <a:srgbClr val="1E2761"/>
                </a:solidFill>
              </a:rPr>
              <a:t>✓</a:t>
            </a:r>
            <a:endParaRPr lang="en-US" sz="1300" dirty="0"/>
          </a:p>
        </p:txBody>
      </p:sp>
      <p:sp>
        <p:nvSpPr>
          <p:cNvPr id="12" name="Text 10"/>
          <p:cNvSpPr/>
          <p:nvPr/>
        </p:nvSpPr>
        <p:spPr>
          <a:xfrm>
            <a:off x="1051560" y="2551176"/>
            <a:ext cx="10332720" cy="4572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Security authorization check included (403 on unauthorized access)</a:t>
            </a:r>
            <a:endParaRPr lang="en-US" sz="1450" dirty="0"/>
          </a:p>
        </p:txBody>
      </p:sp>
      <p:sp>
        <p:nvSpPr>
          <p:cNvPr id="13" name="Shape 11"/>
          <p:cNvSpPr/>
          <p:nvPr/>
        </p:nvSpPr>
        <p:spPr>
          <a:xfrm>
            <a:off x="548640" y="3163824"/>
            <a:ext cx="365760" cy="365760"/>
          </a:xfrm>
          <a:prstGeom prst="ellipse">
            <a:avLst/>
          </a:prstGeom>
          <a:solidFill>
            <a:srgbClr val="CADCFC"/>
          </a:solidFill>
          <a:ln/>
        </p:spPr>
        <p:txBody>
          <a:bodyPr/>
          <a:lstStyle/>
          <a:p>
            <a:endParaRPr lang="en-IN"/>
          </a:p>
        </p:txBody>
      </p:sp>
      <p:sp>
        <p:nvSpPr>
          <p:cNvPr id="14" name="Text 12"/>
          <p:cNvSpPr/>
          <p:nvPr/>
        </p:nvSpPr>
        <p:spPr>
          <a:xfrm>
            <a:off x="548640" y="3163824"/>
            <a:ext cx="365760" cy="365760"/>
          </a:xfrm>
          <a:prstGeom prst="rect">
            <a:avLst/>
          </a:prstGeom>
          <a:noFill/>
          <a:ln/>
        </p:spPr>
        <p:txBody>
          <a:bodyPr wrap="square" lIns="0" tIns="0" rIns="0" bIns="0" rtlCol="0" anchor="ctr"/>
          <a:lstStyle/>
          <a:p>
            <a:pPr marL="0" indent="0" algn="ctr">
              <a:buNone/>
            </a:pPr>
            <a:r>
              <a:rPr lang="en-US" sz="1300" b="1" dirty="0">
                <a:solidFill>
                  <a:srgbClr val="1E2761"/>
                </a:solidFill>
              </a:rPr>
              <a:t>✓</a:t>
            </a:r>
            <a:endParaRPr lang="en-US" sz="1300" dirty="0"/>
          </a:p>
        </p:txBody>
      </p:sp>
      <p:sp>
        <p:nvSpPr>
          <p:cNvPr id="15" name="Text 13"/>
          <p:cNvSpPr/>
          <p:nvPr/>
        </p:nvSpPr>
        <p:spPr>
          <a:xfrm>
            <a:off x="1051560" y="3118104"/>
            <a:ext cx="10332720" cy="4572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Maintainable framework design with clear separation of concerns</a:t>
            </a:r>
            <a:endParaRPr lang="en-US" sz="1450" dirty="0"/>
          </a:p>
        </p:txBody>
      </p:sp>
      <p:sp>
        <p:nvSpPr>
          <p:cNvPr id="16" name="Shape 14"/>
          <p:cNvSpPr/>
          <p:nvPr/>
        </p:nvSpPr>
        <p:spPr>
          <a:xfrm>
            <a:off x="548640" y="3776472"/>
            <a:ext cx="11064240" cy="777240"/>
          </a:xfrm>
          <a:prstGeom prst="roundRect">
            <a:avLst>
              <a:gd name="adj" fmla="val 9412"/>
            </a:avLst>
          </a:prstGeom>
          <a:solidFill>
            <a:srgbClr val="2E3B8C"/>
          </a:solidFill>
          <a:ln/>
        </p:spPr>
        <p:txBody>
          <a:bodyPr/>
          <a:lstStyle/>
          <a:p>
            <a:endParaRPr lang="en-IN"/>
          </a:p>
        </p:txBody>
      </p:sp>
      <p:sp>
        <p:nvSpPr>
          <p:cNvPr id="17" name="Text 15"/>
          <p:cNvSpPr/>
          <p:nvPr/>
        </p:nvSpPr>
        <p:spPr>
          <a:xfrm>
            <a:off x="822960" y="3776472"/>
            <a:ext cx="10515600" cy="777240"/>
          </a:xfrm>
          <a:prstGeom prst="rect">
            <a:avLst/>
          </a:prstGeom>
          <a:noFill/>
          <a:ln/>
        </p:spPr>
        <p:txBody>
          <a:bodyPr wrap="square" lIns="0" tIns="0" rIns="0" bIns="0" rtlCol="0" anchor="ctr"/>
          <a:lstStyle/>
          <a:p>
            <a:pPr marL="0" indent="0">
              <a:buNone/>
            </a:pPr>
            <a:r>
              <a:rPr lang="en-US" sz="1350" b="1" dirty="0">
                <a:solidFill>
                  <a:srgbClr val="CADCFC"/>
                </a:solidFill>
                <a:latin typeface="Calibri" pitchFamily="34" charset="0"/>
                <a:ea typeface="Calibri" pitchFamily="34" charset="-122"/>
                <a:cs typeface="Calibri" pitchFamily="34" charset="-120"/>
              </a:rPr>
              <a:t>Next up: </a:t>
            </a:r>
            <a:r>
              <a:rPr lang="en-US" sz="1350" dirty="0">
                <a:solidFill>
                  <a:srgbClr val="FFFFFF"/>
                </a:solidFill>
                <a:latin typeface="Calibri" pitchFamily="34" charset="0"/>
                <a:ea typeface="Calibri" pitchFamily="34" charset="-122"/>
                <a:cs typeface="Calibri" pitchFamily="34" charset="-120"/>
              </a:rPr>
              <a:t>expand scenario coverage and run across more environments and browsers.</a:t>
            </a:r>
            <a:endParaRPr lang="en-US" sz="1350" dirty="0"/>
          </a:p>
        </p:txBody>
      </p:sp>
      <p:sp>
        <p:nvSpPr>
          <p:cNvPr id="18" name="Text 16"/>
          <p:cNvSpPr/>
          <p:nvPr/>
        </p:nvSpPr>
        <p:spPr>
          <a:xfrm>
            <a:off x="548640" y="4736592"/>
            <a:ext cx="11064240" cy="502920"/>
          </a:xfrm>
          <a:prstGeom prst="rect">
            <a:avLst/>
          </a:prstGeom>
          <a:noFill/>
          <a:ln/>
        </p:spPr>
        <p:txBody>
          <a:bodyPr wrap="square" lIns="0" tIns="0" rIns="0" bIns="0" rtlCol="0" anchor="ctr"/>
          <a:lstStyle/>
          <a:p>
            <a:pPr marL="0" indent="0" algn="ctr">
              <a:buNone/>
            </a:pPr>
            <a:r>
              <a:rPr lang="en-US" sz="1700" b="1" i="1" dirty="0">
                <a:solidFill>
                  <a:srgbClr val="FFFFFF"/>
                </a:solidFill>
                <a:latin typeface="Cambria" pitchFamily="34" charset="0"/>
                <a:ea typeface="Cambria" pitchFamily="34" charset="-122"/>
                <a:cs typeface="Cambria" pitchFamily="34" charset="-120"/>
              </a:rPr>
              <a:t>“The framework is ready to support the capstone automation scope.”</a:t>
            </a:r>
            <a:endParaRPr lang="en-US" sz="1700" dirty="0"/>
          </a:p>
        </p:txBody>
      </p:sp>
      <p:sp>
        <p:nvSpPr>
          <p:cNvPr id="19" name="Text 17"/>
          <p:cNvSpPr/>
          <p:nvPr/>
        </p:nvSpPr>
        <p:spPr>
          <a:xfrm>
            <a:off x="548640" y="5376672"/>
            <a:ext cx="7315200" cy="3200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GitHub Repository: </a:t>
            </a:r>
            <a:r>
              <a:rPr lang="en-US" sz="1200" u="sng" dirty="0">
                <a:solidFill>
                  <a:srgbClr val="FFFFFF"/>
                </a:solidFill>
                <a:latin typeface="Calibri" pitchFamily="34" charset="0"/>
                <a:ea typeface="Calibri" pitchFamily="34" charset="-122"/>
                <a:cs typeface="Calibri" pitchFamily="34" charset="-120"/>
                <a:hlinkClick r:id="" action="ppaction://noaction">
                  <a:extLst>
                    <a:ext uri="{A12FA001-AC4F-418D-AE19-62706E023703}">
                      <ahyp:hlinkClr xmlns:ahyp="http://schemas.microsoft.com/office/drawing/2018/hyperlinkcolor" val="tx"/>
                    </a:ext>
                  </a:extLst>
                </a:hlinkClick>
              </a:rPr>
              <a:t>[https://github.com/gh-ust-sankaran-s/Shopkart-automation]</a:t>
            </a:r>
            <a:endParaRPr lang="en-US" sz="1200" dirty="0"/>
          </a:p>
        </p:txBody>
      </p:sp>
      <p:sp>
        <p:nvSpPr>
          <p:cNvPr id="20" name="Text 18"/>
          <p:cNvSpPr/>
          <p:nvPr/>
        </p:nvSpPr>
        <p:spPr>
          <a:xfrm>
            <a:off x="548640" y="6355080"/>
            <a:ext cx="5486400" cy="32004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Thank You  •  </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1196</Words>
  <Application>Microsoft Office PowerPoint</Application>
  <PresentationFormat>Widescreen</PresentationFormat>
  <Paragraphs>197</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Sankaran S</cp:lastModifiedBy>
  <cp:revision>2</cp:revision>
  <dcterms:created xsi:type="dcterms:W3CDTF">2026-07-12T11:31:43Z</dcterms:created>
  <dcterms:modified xsi:type="dcterms:W3CDTF">2026-07-12T11:49:10Z</dcterms:modified>
</cp:coreProperties>
</file>