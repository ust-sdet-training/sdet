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3" d="100"/>
          <a:sy n="63" d="100"/>
        </p:scale>
        <p:origin x="712"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795234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morning/evening everyone. Today I'm presenting the reporting checkpoint for the ShopKart automation framework — this covers the CI pipeline, Allure reporting, and history tracking, all of which is live right now on GitHub Pages. The code is public at the link on screen. Let's walk through what's been built.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roadmap for this walkthrough: first I'll show you how the project is structured, then the exact technology stack we're running, then the reporting configuration — three small files that do a lot of work — then the CI pipeline that runs it all automatically, then the live report itself with its run history, and I'll close with what's left to build.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package layout from the repo. On the left, the Java source — api, config, data, stepdefs, support, and ui hold the framework logic, and you can see two test classes already in place: ReportingConfigurationTest, which is what's driving today's report, and RunCucumberTest, the JUnit Platform entry point for the Cucumber suite. On the right, the resources folder — environment-specific properties for local versus CI, the database migration folder, the features folder for Gherkin files, and the three reporting config files I'll explain next.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brief locks a specific stack for week six, shown in the middle column. On the right is what's actually running. Two deliberate substitutions: MySQL instead of Postgres for the database layer, and Java 22 instead of 21 — both same-family swaps that don't change the architecture, just the exact version. Everything else — Cucumber, REST Assured, Selenide with dynamic XPath, Testcontainers, Flyway, Gradle, and Allure — matches the brief exactly, with pinned version numbers so the build is reproducible.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config files sit behind the report you'll see in a moment. allure.properties tells Allure where to find the results and how to link a failure back to a GitHub issue automatically. categories.json is the one I'm proudest of — instead of dumping every failure into one red bucket, it classifies them as a Product defect, a Test defect, or Flaky, based on the error pattern, which is exactly what a reviewer wants to see when triaging. And environment.properties stamps metadata — stack, environment, browser — onto every report so nobody has to guess what it ran against.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fully automated — there's no step where I manually generate or upload a report. A push to GitHub triggers Actions, which runs gradlew test, Allure builds the report from the results, and it gets published straight to GitHub Pages. That link at the bottom is live right now — anyone can open it and see the current state of the suite, with full history, without needing access to my machine or the repo's Actions tab.</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overview screen from the published report. On the left, a 100% pass rate across 4 test cases, the exact suite that ran, and the executor — GitHub Actions, not my laptop, which matters for credibility. On the right is the trend panel, showing two consecutive runs. I'll go into what that trend actually means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number 5 had 3 of 4 tests failing — that's the red portion. Between that run and run number 6, I fixed the underlying issue, and run 6 came back fully green. This only works because Allure history is retained between CI jobs instead of being wiped on every run — a small but deliberate configuration choice. And this matters because a single green run in isolation doesn't tell a reviewer much; a trend across multiple runs is what actually demonstrates the suite is stable and not just accidentally passing once.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explicit about how tonight's work maps to the actual scoring criteria in the build brief, not just describe features in isolation. History, categories, environment info, full automation, and public visibility — all five are done and verifiable right now at the link I showed earlier. This is the reporting pillar of the gate fully satisfied.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be transparent about where this stands: the reporting and CI infrastructure is solid and done. What's left is the functional side — the six scenarios from the brief: product search, cart totals, and checkout end-to-end on the happy path; order access and cancel rules as negative security and state tests; out-of-stock rejection; and wiring in real seeded credentials plus Testcontainers-backed MySQL for every scenario, not just the reporting smoke test. That's the plan for the next build session.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Everything I've shown is public and live at the repo link — the code, the pipeline, and the report itself. Happy to take questions, or to go deeper into any specific file or config.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1.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027"/>
        </a:solidFill>
        <a:effectLst/>
      </p:bgPr>
    </p:bg>
    <p:spTree>
      <p:nvGrpSpPr>
        <p:cNvPr id="1" name=""/>
        <p:cNvGrpSpPr/>
        <p:nvPr/>
      </p:nvGrpSpPr>
      <p:grpSpPr>
        <a:xfrm>
          <a:off x="0" y="0"/>
          <a:ext cx="0" cy="0"/>
          <a:chOff x="0" y="0"/>
          <a:chExt cx="0" cy="0"/>
        </a:xfrm>
      </p:grpSpPr>
      <p:sp>
        <p:nvSpPr>
          <p:cNvPr id="2" name="Shape 0"/>
          <p:cNvSpPr/>
          <p:nvPr/>
        </p:nvSpPr>
        <p:spPr>
          <a:xfrm>
            <a:off x="9692640" y="-1188720"/>
            <a:ext cx="4572000" cy="4572000"/>
          </a:xfrm>
          <a:prstGeom prst="ellipse">
            <a:avLst/>
          </a:prstGeom>
          <a:solidFill>
            <a:srgbClr val="028090">
              <a:alpha val="30000"/>
            </a:srgbClr>
          </a:solidFill>
          <a:ln/>
        </p:spPr>
        <p:txBody>
          <a:bodyPr/>
          <a:lstStyle/>
          <a:p>
            <a:endParaRPr lang="en-IN"/>
          </a:p>
        </p:txBody>
      </p:sp>
      <p:sp>
        <p:nvSpPr>
          <p:cNvPr id="3" name="Shape 1"/>
          <p:cNvSpPr/>
          <p:nvPr/>
        </p:nvSpPr>
        <p:spPr>
          <a:xfrm>
            <a:off x="10607040" y="4206240"/>
            <a:ext cx="2743200" cy="2743200"/>
          </a:xfrm>
          <a:prstGeom prst="ellipse">
            <a:avLst/>
          </a:prstGeom>
          <a:solidFill>
            <a:srgbClr val="02C39A">
              <a:alpha val="25000"/>
            </a:srgbClr>
          </a:solidFill>
          <a:ln/>
        </p:spPr>
        <p:txBody>
          <a:bodyPr/>
          <a:lstStyle/>
          <a:p>
            <a:endParaRPr lang="en-IN"/>
          </a:p>
        </p:txBody>
      </p:sp>
      <p:sp>
        <p:nvSpPr>
          <p:cNvPr id="4" name="Shape 2"/>
          <p:cNvSpPr/>
          <p:nvPr/>
        </p:nvSpPr>
        <p:spPr>
          <a:xfrm>
            <a:off x="640080" y="640080"/>
            <a:ext cx="822960" cy="822960"/>
          </a:xfrm>
          <a:prstGeom prst="ellipse">
            <a:avLst/>
          </a:prstGeom>
          <a:solidFill>
            <a:srgbClr val="028090"/>
          </a:solidFill>
          <a:ln/>
        </p:spPr>
        <p:txBody>
          <a:bodyPr/>
          <a:lstStyle/>
          <a:p>
            <a:endParaRPr lang="en-IN"/>
          </a:p>
        </p:txBody>
      </p:sp>
      <p:pic>
        <p:nvPicPr>
          <p:cNvPr id="5" name="Image 0" descr="/home/claude/deck/icons/chart.png"/>
          <p:cNvPicPr>
            <a:picLocks noChangeAspect="1"/>
          </p:cNvPicPr>
          <p:nvPr/>
        </p:nvPicPr>
        <p:blipFill>
          <a:blip r:embed="rId3"/>
          <a:stretch>
            <a:fillRect/>
          </a:stretch>
        </p:blipFill>
        <p:spPr>
          <a:xfrm>
            <a:off x="837590" y="837590"/>
            <a:ext cx="427939" cy="427939"/>
          </a:xfrm>
          <a:prstGeom prst="rect">
            <a:avLst/>
          </a:prstGeom>
        </p:spPr>
      </p:pic>
      <p:sp>
        <p:nvSpPr>
          <p:cNvPr id="6" name="Text 3"/>
          <p:cNvSpPr/>
          <p:nvPr/>
        </p:nvSpPr>
        <p:spPr>
          <a:xfrm>
            <a:off x="640080" y="2331720"/>
            <a:ext cx="10058400" cy="118872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ShopKart Automation — Reporting Checkpoint</a:t>
            </a:r>
            <a:endParaRPr lang="en-US" sz="3400" dirty="0"/>
          </a:p>
        </p:txBody>
      </p:sp>
      <p:sp>
        <p:nvSpPr>
          <p:cNvPr id="7" name="Text 4"/>
          <p:cNvSpPr/>
          <p:nvPr/>
        </p:nvSpPr>
        <p:spPr>
          <a:xfrm>
            <a:off x="640080" y="3337560"/>
            <a:ext cx="9601200" cy="548640"/>
          </a:xfrm>
          <a:prstGeom prst="rect">
            <a:avLst/>
          </a:prstGeom>
          <a:noFill/>
          <a:ln/>
        </p:spPr>
        <p:txBody>
          <a:bodyPr wrap="square" lIns="0" tIns="0" rIns="0" bIns="0" rtlCol="0" anchor="ctr"/>
          <a:lstStyle/>
          <a:p>
            <a:pPr marL="0" indent="0">
              <a:buNone/>
            </a:pPr>
            <a:r>
              <a:rPr lang="en-US" sz="1600" dirty="0">
                <a:solidFill>
                  <a:srgbClr val="B9D6D6"/>
                </a:solidFill>
                <a:latin typeface="Calibri" pitchFamily="34" charset="0"/>
                <a:ea typeface="Calibri" pitchFamily="34" charset="-122"/>
                <a:cs typeface="Calibri" pitchFamily="34" charset="-120"/>
              </a:rPr>
              <a:t>CI pipeline, Allure reporting, and history — live on GitHub Pages</a:t>
            </a:r>
            <a:endParaRPr lang="en-US" sz="1600" dirty="0"/>
          </a:p>
        </p:txBody>
      </p:sp>
      <p:sp>
        <p:nvSpPr>
          <p:cNvPr id="8" name="Shape 5"/>
          <p:cNvSpPr/>
          <p:nvPr/>
        </p:nvSpPr>
        <p:spPr>
          <a:xfrm>
            <a:off x="640080" y="5806440"/>
            <a:ext cx="6949440" cy="502920"/>
          </a:xfrm>
          <a:prstGeom prst="roundRect">
            <a:avLst>
              <a:gd name="adj" fmla="val 18182"/>
            </a:avLst>
          </a:prstGeom>
          <a:solidFill>
            <a:srgbClr val="13323A"/>
          </a:solidFill>
          <a:ln/>
        </p:spPr>
        <p:txBody>
          <a:bodyPr/>
          <a:lstStyle/>
          <a:p>
            <a:endParaRPr lang="en-IN"/>
          </a:p>
        </p:txBody>
      </p:sp>
      <p:sp>
        <p:nvSpPr>
          <p:cNvPr id="9" name="Text 6"/>
          <p:cNvSpPr/>
          <p:nvPr/>
        </p:nvSpPr>
        <p:spPr>
          <a:xfrm>
            <a:off x="822960" y="5806440"/>
            <a:ext cx="6583680" cy="502920"/>
          </a:xfrm>
          <a:prstGeom prst="rect">
            <a:avLst/>
          </a:prstGeom>
          <a:noFill/>
          <a:ln/>
        </p:spPr>
        <p:txBody>
          <a:bodyPr wrap="square" lIns="0" tIns="0" rIns="0" bIns="0" rtlCol="0" anchor="ctr"/>
          <a:lstStyle/>
          <a:p>
            <a:pPr marL="0" indent="0">
              <a:buNone/>
            </a:pPr>
            <a:r>
              <a:rPr lang="en-US" sz="1300" dirty="0">
                <a:solidFill>
                  <a:srgbClr val="02C39A"/>
                </a:solidFill>
                <a:latin typeface="Courier New" pitchFamily="34" charset="0"/>
                <a:ea typeface="Courier New" pitchFamily="34" charset="-122"/>
                <a:cs typeface="Courier New" pitchFamily="34" charset="-120"/>
              </a:rPr>
              <a:t>github.com/Manjushree12345/shopkart-automation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10789920" cy="640080"/>
          </a:xfrm>
          <a:prstGeom prst="rect">
            <a:avLst/>
          </a:prstGeom>
          <a:noFill/>
          <a:ln/>
        </p:spPr>
        <p:txBody>
          <a:bodyPr wrap="square" lIns="0" tIns="0" rIns="0" bIns="0" rtlCol="0" anchor="ctr"/>
          <a:lstStyle/>
          <a:p>
            <a:pPr marL="0" indent="0">
              <a:buNone/>
            </a:pPr>
            <a:r>
              <a:rPr lang="en-US" sz="3000" b="1" dirty="0">
                <a:solidFill>
                  <a:srgbClr val="0B2027"/>
                </a:solidFill>
                <a:latin typeface="Cambria" pitchFamily="34" charset="0"/>
                <a:ea typeface="Cambria" pitchFamily="34" charset="-122"/>
                <a:cs typeface="Cambria" pitchFamily="34" charset="-120"/>
              </a:rPr>
              <a:t>What I'll walk through today</a:t>
            </a:r>
            <a:endParaRPr lang="en-US" sz="3000" dirty="0"/>
          </a:p>
        </p:txBody>
      </p:sp>
      <p:sp>
        <p:nvSpPr>
          <p:cNvPr id="3" name="Shape 1"/>
          <p:cNvSpPr/>
          <p:nvPr/>
        </p:nvSpPr>
        <p:spPr>
          <a:xfrm>
            <a:off x="548640" y="1828800"/>
            <a:ext cx="10789920" cy="777240"/>
          </a:xfrm>
          <a:prstGeom prst="roundRect">
            <a:avLst>
              <a:gd name="adj" fmla="val 11765"/>
            </a:avLst>
          </a:prstGeom>
          <a:solidFill>
            <a:srgbClr val="F7FAFA"/>
          </a:solidFill>
          <a:ln/>
        </p:spPr>
        <p:txBody>
          <a:bodyPr/>
          <a:lstStyle/>
          <a:p>
            <a:endParaRPr lang="en-IN"/>
          </a:p>
        </p:txBody>
      </p:sp>
      <p:sp>
        <p:nvSpPr>
          <p:cNvPr id="4" name="Shape 2"/>
          <p:cNvSpPr/>
          <p:nvPr/>
        </p:nvSpPr>
        <p:spPr>
          <a:xfrm>
            <a:off x="822960" y="1961388"/>
            <a:ext cx="512064" cy="512064"/>
          </a:xfrm>
          <a:prstGeom prst="ellipse">
            <a:avLst/>
          </a:prstGeom>
          <a:solidFill>
            <a:srgbClr val="028090"/>
          </a:solidFill>
          <a:ln/>
        </p:spPr>
        <p:txBody>
          <a:bodyPr/>
          <a:lstStyle/>
          <a:p>
            <a:endParaRPr lang="en-IN"/>
          </a:p>
        </p:txBody>
      </p:sp>
      <p:pic>
        <p:nvPicPr>
          <p:cNvPr id="5" name="Image 0" descr="/home/claude/deck/icons/folder.png"/>
          <p:cNvPicPr>
            <a:picLocks noChangeAspect="1"/>
          </p:cNvPicPr>
          <p:nvPr/>
        </p:nvPicPr>
        <p:blipFill>
          <a:blip r:embed="rId3"/>
          <a:stretch>
            <a:fillRect/>
          </a:stretch>
        </p:blipFill>
        <p:spPr>
          <a:xfrm>
            <a:off x="945855" y="2084283"/>
            <a:ext cx="266273" cy="266273"/>
          </a:xfrm>
          <a:prstGeom prst="rect">
            <a:avLst/>
          </a:prstGeom>
        </p:spPr>
      </p:pic>
      <p:sp>
        <p:nvSpPr>
          <p:cNvPr id="6" name="Text 3"/>
          <p:cNvSpPr/>
          <p:nvPr/>
        </p:nvSpPr>
        <p:spPr>
          <a:xfrm>
            <a:off x="1554480" y="1901952"/>
            <a:ext cx="4572000" cy="320040"/>
          </a:xfrm>
          <a:prstGeom prst="rect">
            <a:avLst/>
          </a:prstGeom>
          <a:noFill/>
          <a:ln/>
        </p:spPr>
        <p:txBody>
          <a:bodyPr wrap="square" lIns="0" tIns="0" rIns="0" bIns="0" rtlCol="0" anchor="ctr"/>
          <a:lstStyle/>
          <a:p>
            <a:pPr marL="0" indent="0">
              <a:buNone/>
            </a:pPr>
            <a:r>
              <a:rPr lang="en-US" sz="1500" b="1" dirty="0">
                <a:solidFill>
                  <a:srgbClr val="0B2027"/>
                </a:solidFill>
                <a:latin typeface="Calibri" pitchFamily="34" charset="0"/>
                <a:ea typeface="Calibri" pitchFamily="34" charset="-122"/>
                <a:cs typeface="Calibri" pitchFamily="34" charset="-120"/>
              </a:rPr>
              <a:t>Project structure</a:t>
            </a:r>
            <a:endParaRPr lang="en-US" sz="1500" dirty="0"/>
          </a:p>
        </p:txBody>
      </p:sp>
      <p:sp>
        <p:nvSpPr>
          <p:cNvPr id="7" name="Text 4"/>
          <p:cNvSpPr/>
          <p:nvPr/>
        </p:nvSpPr>
        <p:spPr>
          <a:xfrm>
            <a:off x="1554480" y="2231136"/>
            <a:ext cx="8686800" cy="320040"/>
          </a:xfrm>
          <a:prstGeom prst="rect">
            <a:avLst/>
          </a:prstGeom>
          <a:noFill/>
          <a:ln/>
        </p:spPr>
        <p:txBody>
          <a:bodyPr wrap="square" lIns="0" tIns="0" rIns="0" bIns="0" rtlCol="0" anchor="ctr"/>
          <a:lstStyle/>
          <a:p>
            <a:pPr marL="0" indent="0">
              <a:buNone/>
            </a:pPr>
            <a:r>
              <a:rPr lang="en-US" sz="1200" dirty="0">
                <a:solidFill>
                  <a:srgbClr val="5C6B6E"/>
                </a:solidFill>
                <a:latin typeface="Calibri" pitchFamily="34" charset="0"/>
                <a:ea typeface="Calibri" pitchFamily="34" charset="-122"/>
                <a:cs typeface="Calibri" pitchFamily="34" charset="-120"/>
              </a:rPr>
              <a:t>How the framework is organized</a:t>
            </a:r>
            <a:endParaRPr lang="en-US" sz="1200" dirty="0"/>
          </a:p>
        </p:txBody>
      </p:sp>
      <p:sp>
        <p:nvSpPr>
          <p:cNvPr id="8" name="Shape 5"/>
          <p:cNvSpPr/>
          <p:nvPr/>
        </p:nvSpPr>
        <p:spPr>
          <a:xfrm>
            <a:off x="548640" y="2715768"/>
            <a:ext cx="10789920" cy="777240"/>
          </a:xfrm>
          <a:prstGeom prst="roundRect">
            <a:avLst>
              <a:gd name="adj" fmla="val 11765"/>
            </a:avLst>
          </a:prstGeom>
          <a:solidFill>
            <a:srgbClr val="F7FAFA"/>
          </a:solidFill>
          <a:ln/>
        </p:spPr>
        <p:txBody>
          <a:bodyPr/>
          <a:lstStyle/>
          <a:p>
            <a:endParaRPr lang="en-IN"/>
          </a:p>
        </p:txBody>
      </p:sp>
      <p:sp>
        <p:nvSpPr>
          <p:cNvPr id="9" name="Shape 6"/>
          <p:cNvSpPr/>
          <p:nvPr/>
        </p:nvSpPr>
        <p:spPr>
          <a:xfrm>
            <a:off x="822960" y="2848356"/>
            <a:ext cx="512064" cy="512064"/>
          </a:xfrm>
          <a:prstGeom prst="ellipse">
            <a:avLst/>
          </a:prstGeom>
          <a:solidFill>
            <a:srgbClr val="028090"/>
          </a:solidFill>
          <a:ln/>
        </p:spPr>
        <p:txBody>
          <a:bodyPr/>
          <a:lstStyle/>
          <a:p>
            <a:endParaRPr lang="en-IN"/>
          </a:p>
        </p:txBody>
      </p:sp>
      <p:pic>
        <p:nvPicPr>
          <p:cNvPr id="10" name="Image 1" descr="/home/claude/deck/icons/settings.png"/>
          <p:cNvPicPr>
            <a:picLocks noChangeAspect="1"/>
          </p:cNvPicPr>
          <p:nvPr/>
        </p:nvPicPr>
        <p:blipFill>
          <a:blip r:embed="rId4"/>
          <a:stretch>
            <a:fillRect/>
          </a:stretch>
        </p:blipFill>
        <p:spPr>
          <a:xfrm>
            <a:off x="945855" y="2971251"/>
            <a:ext cx="266273" cy="266273"/>
          </a:xfrm>
          <a:prstGeom prst="rect">
            <a:avLst/>
          </a:prstGeom>
        </p:spPr>
      </p:pic>
      <p:sp>
        <p:nvSpPr>
          <p:cNvPr id="11" name="Text 7"/>
          <p:cNvSpPr/>
          <p:nvPr/>
        </p:nvSpPr>
        <p:spPr>
          <a:xfrm>
            <a:off x="1554480" y="2788920"/>
            <a:ext cx="4572000" cy="320040"/>
          </a:xfrm>
          <a:prstGeom prst="rect">
            <a:avLst/>
          </a:prstGeom>
          <a:noFill/>
          <a:ln/>
        </p:spPr>
        <p:txBody>
          <a:bodyPr wrap="square" lIns="0" tIns="0" rIns="0" bIns="0" rtlCol="0" anchor="ctr"/>
          <a:lstStyle/>
          <a:p>
            <a:pPr marL="0" indent="0">
              <a:buNone/>
            </a:pPr>
            <a:r>
              <a:rPr lang="en-US" sz="1500" b="1" dirty="0">
                <a:solidFill>
                  <a:srgbClr val="0B2027"/>
                </a:solidFill>
                <a:latin typeface="Calibri" pitchFamily="34" charset="0"/>
                <a:ea typeface="Calibri" pitchFamily="34" charset="-122"/>
                <a:cs typeface="Calibri" pitchFamily="34" charset="-120"/>
              </a:rPr>
              <a:t>Reporting stack</a:t>
            </a:r>
            <a:endParaRPr lang="en-US" sz="1500" dirty="0"/>
          </a:p>
        </p:txBody>
      </p:sp>
      <p:sp>
        <p:nvSpPr>
          <p:cNvPr id="12" name="Text 8"/>
          <p:cNvSpPr/>
          <p:nvPr/>
        </p:nvSpPr>
        <p:spPr>
          <a:xfrm>
            <a:off x="1554480" y="3118104"/>
            <a:ext cx="8686800" cy="320040"/>
          </a:xfrm>
          <a:prstGeom prst="rect">
            <a:avLst/>
          </a:prstGeom>
          <a:noFill/>
          <a:ln/>
        </p:spPr>
        <p:txBody>
          <a:bodyPr wrap="square" lIns="0" tIns="0" rIns="0" bIns="0" rtlCol="0" anchor="ctr"/>
          <a:lstStyle/>
          <a:p>
            <a:pPr marL="0" indent="0">
              <a:buNone/>
            </a:pPr>
            <a:r>
              <a:rPr lang="en-US" sz="1200" dirty="0">
                <a:solidFill>
                  <a:srgbClr val="5C6B6E"/>
                </a:solidFill>
                <a:latin typeface="Calibri" pitchFamily="34" charset="0"/>
                <a:ea typeface="Calibri" pitchFamily="34" charset="-122"/>
                <a:cs typeface="Calibri" pitchFamily="34" charset="-120"/>
              </a:rPr>
              <a:t>Allure config, categories, environment info</a:t>
            </a:r>
            <a:endParaRPr lang="en-US" sz="1200" dirty="0"/>
          </a:p>
        </p:txBody>
      </p:sp>
      <p:sp>
        <p:nvSpPr>
          <p:cNvPr id="13" name="Shape 9"/>
          <p:cNvSpPr/>
          <p:nvPr/>
        </p:nvSpPr>
        <p:spPr>
          <a:xfrm>
            <a:off x="548640" y="3602736"/>
            <a:ext cx="10789920" cy="777240"/>
          </a:xfrm>
          <a:prstGeom prst="roundRect">
            <a:avLst>
              <a:gd name="adj" fmla="val 11765"/>
            </a:avLst>
          </a:prstGeom>
          <a:solidFill>
            <a:srgbClr val="F7FAFA"/>
          </a:solidFill>
          <a:ln/>
        </p:spPr>
        <p:txBody>
          <a:bodyPr/>
          <a:lstStyle/>
          <a:p>
            <a:endParaRPr lang="en-IN"/>
          </a:p>
        </p:txBody>
      </p:sp>
      <p:sp>
        <p:nvSpPr>
          <p:cNvPr id="14" name="Shape 10"/>
          <p:cNvSpPr/>
          <p:nvPr/>
        </p:nvSpPr>
        <p:spPr>
          <a:xfrm>
            <a:off x="822960" y="3735324"/>
            <a:ext cx="512064" cy="512064"/>
          </a:xfrm>
          <a:prstGeom prst="ellipse">
            <a:avLst/>
          </a:prstGeom>
          <a:solidFill>
            <a:srgbClr val="028090"/>
          </a:solidFill>
          <a:ln/>
        </p:spPr>
        <p:txBody>
          <a:bodyPr/>
          <a:lstStyle/>
          <a:p>
            <a:endParaRPr lang="en-IN"/>
          </a:p>
        </p:txBody>
      </p:sp>
      <p:pic>
        <p:nvPicPr>
          <p:cNvPr id="15" name="Image 2" descr="/home/claude/deck/icons/github.png"/>
          <p:cNvPicPr>
            <a:picLocks noChangeAspect="1"/>
          </p:cNvPicPr>
          <p:nvPr/>
        </p:nvPicPr>
        <p:blipFill>
          <a:blip r:embed="rId5"/>
          <a:stretch>
            <a:fillRect/>
          </a:stretch>
        </p:blipFill>
        <p:spPr>
          <a:xfrm>
            <a:off x="945855" y="3858219"/>
            <a:ext cx="266273" cy="266273"/>
          </a:xfrm>
          <a:prstGeom prst="rect">
            <a:avLst/>
          </a:prstGeom>
        </p:spPr>
      </p:pic>
      <p:sp>
        <p:nvSpPr>
          <p:cNvPr id="16" name="Text 11"/>
          <p:cNvSpPr/>
          <p:nvPr/>
        </p:nvSpPr>
        <p:spPr>
          <a:xfrm>
            <a:off x="1554480" y="3675888"/>
            <a:ext cx="4572000" cy="320040"/>
          </a:xfrm>
          <a:prstGeom prst="rect">
            <a:avLst/>
          </a:prstGeom>
          <a:noFill/>
          <a:ln/>
        </p:spPr>
        <p:txBody>
          <a:bodyPr wrap="square" lIns="0" tIns="0" rIns="0" bIns="0" rtlCol="0" anchor="ctr"/>
          <a:lstStyle/>
          <a:p>
            <a:pPr marL="0" indent="0">
              <a:buNone/>
            </a:pPr>
            <a:r>
              <a:rPr lang="en-US" sz="1500" b="1" dirty="0">
                <a:solidFill>
                  <a:srgbClr val="0B2027"/>
                </a:solidFill>
                <a:latin typeface="Calibri" pitchFamily="34" charset="0"/>
                <a:ea typeface="Calibri" pitchFamily="34" charset="-122"/>
                <a:cs typeface="Calibri" pitchFamily="34" charset="-120"/>
              </a:rPr>
              <a:t>CI pipeline</a:t>
            </a:r>
            <a:endParaRPr lang="en-US" sz="1500" dirty="0"/>
          </a:p>
        </p:txBody>
      </p:sp>
      <p:sp>
        <p:nvSpPr>
          <p:cNvPr id="17" name="Text 12"/>
          <p:cNvSpPr/>
          <p:nvPr/>
        </p:nvSpPr>
        <p:spPr>
          <a:xfrm>
            <a:off x="1554480" y="4005072"/>
            <a:ext cx="8686800" cy="320040"/>
          </a:xfrm>
          <a:prstGeom prst="rect">
            <a:avLst/>
          </a:prstGeom>
          <a:noFill/>
          <a:ln/>
        </p:spPr>
        <p:txBody>
          <a:bodyPr wrap="square" lIns="0" tIns="0" rIns="0" bIns="0" rtlCol="0" anchor="ctr"/>
          <a:lstStyle/>
          <a:p>
            <a:pPr marL="0" indent="0">
              <a:buNone/>
            </a:pPr>
            <a:r>
              <a:rPr lang="en-US" sz="1200" dirty="0">
                <a:solidFill>
                  <a:srgbClr val="5C6B6E"/>
                </a:solidFill>
                <a:latin typeface="Calibri" pitchFamily="34" charset="0"/>
                <a:ea typeface="Calibri" pitchFamily="34" charset="-122"/>
                <a:cs typeface="Calibri" pitchFamily="34" charset="-120"/>
              </a:rPr>
              <a:t>GitHub Actions running tests on every push</a:t>
            </a:r>
            <a:endParaRPr lang="en-US" sz="1200" dirty="0"/>
          </a:p>
        </p:txBody>
      </p:sp>
      <p:sp>
        <p:nvSpPr>
          <p:cNvPr id="18" name="Shape 13"/>
          <p:cNvSpPr/>
          <p:nvPr/>
        </p:nvSpPr>
        <p:spPr>
          <a:xfrm>
            <a:off x="548640" y="4489704"/>
            <a:ext cx="10789920" cy="777240"/>
          </a:xfrm>
          <a:prstGeom prst="roundRect">
            <a:avLst>
              <a:gd name="adj" fmla="val 11765"/>
            </a:avLst>
          </a:prstGeom>
          <a:solidFill>
            <a:srgbClr val="F7FAFA"/>
          </a:solidFill>
          <a:ln/>
        </p:spPr>
        <p:txBody>
          <a:bodyPr/>
          <a:lstStyle/>
          <a:p>
            <a:endParaRPr lang="en-IN"/>
          </a:p>
        </p:txBody>
      </p:sp>
      <p:sp>
        <p:nvSpPr>
          <p:cNvPr id="19" name="Shape 14"/>
          <p:cNvSpPr/>
          <p:nvPr/>
        </p:nvSpPr>
        <p:spPr>
          <a:xfrm>
            <a:off x="822960" y="4622292"/>
            <a:ext cx="512064" cy="512064"/>
          </a:xfrm>
          <a:prstGeom prst="ellipse">
            <a:avLst/>
          </a:prstGeom>
          <a:solidFill>
            <a:srgbClr val="028090"/>
          </a:solidFill>
          <a:ln/>
        </p:spPr>
        <p:txBody>
          <a:bodyPr/>
          <a:lstStyle/>
          <a:p>
            <a:endParaRPr lang="en-IN"/>
          </a:p>
        </p:txBody>
      </p:sp>
      <p:pic>
        <p:nvPicPr>
          <p:cNvPr id="20" name="Image 3" descr="/home/claude/deck/icons/chart.png"/>
          <p:cNvPicPr>
            <a:picLocks noChangeAspect="1"/>
          </p:cNvPicPr>
          <p:nvPr/>
        </p:nvPicPr>
        <p:blipFill>
          <a:blip r:embed="rId6"/>
          <a:stretch>
            <a:fillRect/>
          </a:stretch>
        </p:blipFill>
        <p:spPr>
          <a:xfrm>
            <a:off x="945855" y="4745187"/>
            <a:ext cx="266273" cy="266273"/>
          </a:xfrm>
          <a:prstGeom prst="rect">
            <a:avLst/>
          </a:prstGeom>
        </p:spPr>
      </p:pic>
      <p:sp>
        <p:nvSpPr>
          <p:cNvPr id="21" name="Text 15"/>
          <p:cNvSpPr/>
          <p:nvPr/>
        </p:nvSpPr>
        <p:spPr>
          <a:xfrm>
            <a:off x="1554480" y="4562856"/>
            <a:ext cx="4572000" cy="320040"/>
          </a:xfrm>
          <a:prstGeom prst="rect">
            <a:avLst/>
          </a:prstGeom>
          <a:noFill/>
          <a:ln/>
        </p:spPr>
        <p:txBody>
          <a:bodyPr wrap="square" lIns="0" tIns="0" rIns="0" bIns="0" rtlCol="0" anchor="ctr"/>
          <a:lstStyle/>
          <a:p>
            <a:pPr marL="0" indent="0">
              <a:buNone/>
            </a:pPr>
            <a:r>
              <a:rPr lang="en-US" sz="1500" b="1" dirty="0">
                <a:solidFill>
                  <a:srgbClr val="0B2027"/>
                </a:solidFill>
                <a:latin typeface="Calibri" pitchFamily="34" charset="0"/>
                <a:ea typeface="Calibri" pitchFamily="34" charset="-122"/>
                <a:cs typeface="Calibri" pitchFamily="34" charset="-120"/>
              </a:rPr>
              <a:t>Live report</a:t>
            </a:r>
            <a:endParaRPr lang="en-US" sz="1500" dirty="0"/>
          </a:p>
        </p:txBody>
      </p:sp>
      <p:sp>
        <p:nvSpPr>
          <p:cNvPr id="22" name="Text 16"/>
          <p:cNvSpPr/>
          <p:nvPr/>
        </p:nvSpPr>
        <p:spPr>
          <a:xfrm>
            <a:off x="1554480" y="4892040"/>
            <a:ext cx="8686800" cy="320040"/>
          </a:xfrm>
          <a:prstGeom prst="rect">
            <a:avLst/>
          </a:prstGeom>
          <a:noFill/>
          <a:ln/>
        </p:spPr>
        <p:txBody>
          <a:bodyPr wrap="square" lIns="0" tIns="0" rIns="0" bIns="0" rtlCol="0" anchor="ctr"/>
          <a:lstStyle/>
          <a:p>
            <a:pPr marL="0" indent="0">
              <a:buNone/>
            </a:pPr>
            <a:r>
              <a:rPr lang="en-US" sz="1200" dirty="0">
                <a:solidFill>
                  <a:srgbClr val="5C6B6E"/>
                </a:solidFill>
                <a:latin typeface="Calibri" pitchFamily="34" charset="0"/>
                <a:ea typeface="Calibri" pitchFamily="34" charset="-122"/>
                <a:cs typeface="Calibri" pitchFamily="34" charset="-120"/>
              </a:rPr>
              <a:t>Published to GitHub Pages, with run history</a:t>
            </a:r>
            <a:endParaRPr lang="en-US" sz="1200" dirty="0"/>
          </a:p>
        </p:txBody>
      </p:sp>
      <p:sp>
        <p:nvSpPr>
          <p:cNvPr id="23" name="Shape 17"/>
          <p:cNvSpPr/>
          <p:nvPr/>
        </p:nvSpPr>
        <p:spPr>
          <a:xfrm>
            <a:off x="548640" y="5376672"/>
            <a:ext cx="10789920" cy="777240"/>
          </a:xfrm>
          <a:prstGeom prst="roundRect">
            <a:avLst>
              <a:gd name="adj" fmla="val 11765"/>
            </a:avLst>
          </a:prstGeom>
          <a:solidFill>
            <a:srgbClr val="F7FAFA"/>
          </a:solidFill>
          <a:ln/>
        </p:spPr>
        <p:txBody>
          <a:bodyPr/>
          <a:lstStyle/>
          <a:p>
            <a:endParaRPr lang="en-IN"/>
          </a:p>
        </p:txBody>
      </p:sp>
      <p:sp>
        <p:nvSpPr>
          <p:cNvPr id="24" name="Shape 18"/>
          <p:cNvSpPr/>
          <p:nvPr/>
        </p:nvSpPr>
        <p:spPr>
          <a:xfrm>
            <a:off x="822960" y="5509260"/>
            <a:ext cx="512064" cy="512064"/>
          </a:xfrm>
          <a:prstGeom prst="ellipse">
            <a:avLst/>
          </a:prstGeom>
          <a:solidFill>
            <a:srgbClr val="028090"/>
          </a:solidFill>
          <a:ln/>
        </p:spPr>
        <p:txBody>
          <a:bodyPr/>
          <a:lstStyle/>
          <a:p>
            <a:endParaRPr lang="en-IN"/>
          </a:p>
        </p:txBody>
      </p:sp>
      <p:pic>
        <p:nvPicPr>
          <p:cNvPr id="25" name="Image 4" descr="/home/claude/deck/icons/target.png"/>
          <p:cNvPicPr>
            <a:picLocks noChangeAspect="1"/>
          </p:cNvPicPr>
          <p:nvPr/>
        </p:nvPicPr>
        <p:blipFill>
          <a:blip r:embed="rId7"/>
          <a:stretch>
            <a:fillRect/>
          </a:stretch>
        </p:blipFill>
        <p:spPr>
          <a:xfrm>
            <a:off x="945855" y="5632155"/>
            <a:ext cx="266273" cy="266273"/>
          </a:xfrm>
          <a:prstGeom prst="rect">
            <a:avLst/>
          </a:prstGeom>
        </p:spPr>
      </p:pic>
      <p:sp>
        <p:nvSpPr>
          <p:cNvPr id="26" name="Text 19"/>
          <p:cNvSpPr/>
          <p:nvPr/>
        </p:nvSpPr>
        <p:spPr>
          <a:xfrm>
            <a:off x="1554480" y="5449824"/>
            <a:ext cx="4572000" cy="320040"/>
          </a:xfrm>
          <a:prstGeom prst="rect">
            <a:avLst/>
          </a:prstGeom>
          <a:noFill/>
          <a:ln/>
        </p:spPr>
        <p:txBody>
          <a:bodyPr wrap="square" lIns="0" tIns="0" rIns="0" bIns="0" rtlCol="0" anchor="ctr"/>
          <a:lstStyle/>
          <a:p>
            <a:pPr marL="0" indent="0">
              <a:buNone/>
            </a:pPr>
            <a:r>
              <a:rPr lang="en-US" sz="1500" b="1" dirty="0">
                <a:solidFill>
                  <a:srgbClr val="0B2027"/>
                </a:solidFill>
                <a:latin typeface="Calibri" pitchFamily="34" charset="0"/>
                <a:ea typeface="Calibri" pitchFamily="34" charset="-122"/>
                <a:cs typeface="Calibri" pitchFamily="34" charset="-120"/>
              </a:rPr>
              <a:t>What's next</a:t>
            </a:r>
            <a:endParaRPr lang="en-US" sz="1500" dirty="0"/>
          </a:p>
        </p:txBody>
      </p:sp>
      <p:sp>
        <p:nvSpPr>
          <p:cNvPr id="27" name="Text 20"/>
          <p:cNvSpPr/>
          <p:nvPr/>
        </p:nvSpPr>
        <p:spPr>
          <a:xfrm>
            <a:off x="1554480" y="5779008"/>
            <a:ext cx="8686800" cy="320040"/>
          </a:xfrm>
          <a:prstGeom prst="rect">
            <a:avLst/>
          </a:prstGeom>
          <a:noFill/>
          <a:ln/>
        </p:spPr>
        <p:txBody>
          <a:bodyPr wrap="square" lIns="0" tIns="0" rIns="0" bIns="0" rtlCol="0" anchor="ctr"/>
          <a:lstStyle/>
          <a:p>
            <a:pPr marL="0" indent="0">
              <a:buNone/>
            </a:pPr>
            <a:r>
              <a:rPr lang="en-US" sz="1200" dirty="0">
                <a:solidFill>
                  <a:srgbClr val="5C6B6E"/>
                </a:solidFill>
                <a:latin typeface="Calibri" pitchFamily="34" charset="0"/>
                <a:ea typeface="Calibri" pitchFamily="34" charset="-122"/>
                <a:cs typeface="Calibri" pitchFamily="34" charset="-120"/>
              </a:rPr>
              <a:t>The six scenarios still to land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10789920" cy="640080"/>
          </a:xfrm>
          <a:prstGeom prst="rect">
            <a:avLst/>
          </a:prstGeom>
          <a:noFill/>
          <a:ln/>
        </p:spPr>
        <p:txBody>
          <a:bodyPr wrap="square" lIns="0" tIns="0" rIns="0" bIns="0" rtlCol="0" anchor="ctr"/>
          <a:lstStyle/>
          <a:p>
            <a:pPr marL="0" indent="0">
              <a:buNone/>
            </a:pPr>
            <a:r>
              <a:rPr lang="en-US" sz="3000" b="1" dirty="0">
                <a:solidFill>
                  <a:srgbClr val="0B2027"/>
                </a:solidFill>
                <a:latin typeface="Cambria" pitchFamily="34" charset="0"/>
                <a:ea typeface="Cambria" pitchFamily="34" charset="-122"/>
                <a:cs typeface="Cambria" pitchFamily="34" charset="-120"/>
              </a:rPr>
              <a:t>Project structure</a:t>
            </a:r>
            <a:endParaRPr lang="en-US" sz="3000" dirty="0"/>
          </a:p>
        </p:txBody>
      </p:sp>
      <p:sp>
        <p:nvSpPr>
          <p:cNvPr id="3" name="Text 1"/>
          <p:cNvSpPr/>
          <p:nvPr/>
        </p:nvSpPr>
        <p:spPr>
          <a:xfrm>
            <a:off x="548640" y="1143000"/>
            <a:ext cx="10789920" cy="457200"/>
          </a:xfrm>
          <a:prstGeom prst="rect">
            <a:avLst/>
          </a:prstGeom>
          <a:noFill/>
          <a:ln/>
        </p:spPr>
        <p:txBody>
          <a:bodyPr wrap="square" lIns="0" tIns="0" rIns="0" bIns="0" rtlCol="0" anchor="ctr"/>
          <a:lstStyle/>
          <a:p>
            <a:pPr marL="0" indent="0">
              <a:buNone/>
            </a:pPr>
            <a:r>
              <a:rPr lang="en-US" sz="1500" dirty="0">
                <a:solidFill>
                  <a:srgbClr val="5C6B6E"/>
                </a:solidFill>
                <a:latin typeface="Calibri" pitchFamily="34" charset="0"/>
                <a:ea typeface="Calibri" pitchFamily="34" charset="-122"/>
                <a:cs typeface="Calibri" pitchFamily="34" charset="-120"/>
              </a:rPr>
              <a:t>Same layered design from the build brief — now with reporting-focused tests in place.</a:t>
            </a:r>
            <a:endParaRPr lang="en-US" sz="1500" dirty="0"/>
          </a:p>
        </p:txBody>
      </p:sp>
      <p:sp>
        <p:nvSpPr>
          <p:cNvPr id="4" name="Shape 2"/>
          <p:cNvSpPr/>
          <p:nvPr/>
        </p:nvSpPr>
        <p:spPr>
          <a:xfrm>
            <a:off x="548640" y="1828800"/>
            <a:ext cx="5212080" cy="4297680"/>
          </a:xfrm>
          <a:prstGeom prst="roundRect">
            <a:avLst>
              <a:gd name="adj" fmla="val 2553"/>
            </a:avLst>
          </a:prstGeom>
          <a:solidFill>
            <a:srgbClr val="0B2027"/>
          </a:solidFill>
          <a:ln/>
        </p:spPr>
        <p:txBody>
          <a:bodyPr/>
          <a:lstStyle/>
          <a:p>
            <a:endParaRPr lang="en-IN"/>
          </a:p>
        </p:txBody>
      </p:sp>
      <p:sp>
        <p:nvSpPr>
          <p:cNvPr id="5" name="Text 3"/>
          <p:cNvSpPr/>
          <p:nvPr/>
        </p:nvSpPr>
        <p:spPr>
          <a:xfrm>
            <a:off x="868680" y="2057400"/>
            <a:ext cx="4663440" cy="3840480"/>
          </a:xfrm>
          <a:prstGeom prst="rect">
            <a:avLst/>
          </a:prstGeom>
          <a:noFill/>
          <a:ln/>
        </p:spPr>
        <p:txBody>
          <a:bodyPr wrap="square" lIns="0" tIns="0" rIns="0" bIns="0" rtlCol="0" anchor="ctr"/>
          <a:lstStyle/>
          <a:p>
            <a:pPr marL="0" indent="0">
              <a:lnSpc>
                <a:spcPct val="125000"/>
              </a:lnSpc>
              <a:buNone/>
            </a:pPr>
            <a:r>
              <a:rPr lang="en-US" sz="1350" dirty="0">
                <a:solidFill>
                  <a:srgbClr val="9FE3D9"/>
                </a:solidFill>
                <a:latin typeface="Courier New" pitchFamily="34" charset="0"/>
                <a:ea typeface="Courier New" pitchFamily="34" charset="-122"/>
                <a:cs typeface="Courier New" pitchFamily="34" charset="-120"/>
              </a:rPr>
              <a:t>com.shopkart</a:t>
            </a:r>
            <a:endParaRPr lang="en-US" sz="1350" dirty="0"/>
          </a:p>
          <a:p>
            <a:pPr marL="0" indent="0">
              <a:lnSpc>
                <a:spcPct val="125000"/>
              </a:lnSpc>
              <a:buNone/>
            </a:pPr>
            <a:r>
              <a:rPr lang="en-US" sz="1350" dirty="0">
                <a:solidFill>
                  <a:srgbClr val="9FE3D9"/>
                </a:solidFill>
                <a:latin typeface="Courier New" pitchFamily="34" charset="0"/>
                <a:ea typeface="Courier New" pitchFamily="34" charset="-122"/>
                <a:cs typeface="Courier New" pitchFamily="34" charset="-120"/>
              </a:rPr>
              <a:t>  ├─ api</a:t>
            </a:r>
            <a:endParaRPr lang="en-US" sz="1350" dirty="0"/>
          </a:p>
          <a:p>
            <a:pPr marL="0" indent="0">
              <a:lnSpc>
                <a:spcPct val="125000"/>
              </a:lnSpc>
              <a:buNone/>
            </a:pPr>
            <a:r>
              <a:rPr lang="en-US" sz="1350" dirty="0">
                <a:solidFill>
                  <a:srgbClr val="9FE3D9"/>
                </a:solidFill>
                <a:latin typeface="Courier New" pitchFamily="34" charset="0"/>
                <a:ea typeface="Courier New" pitchFamily="34" charset="-122"/>
                <a:cs typeface="Courier New" pitchFamily="34" charset="-120"/>
              </a:rPr>
              <a:t>  ├─ config</a:t>
            </a:r>
            <a:endParaRPr lang="en-US" sz="1350" dirty="0"/>
          </a:p>
          <a:p>
            <a:pPr marL="0" indent="0">
              <a:lnSpc>
                <a:spcPct val="125000"/>
              </a:lnSpc>
              <a:buNone/>
            </a:pPr>
            <a:r>
              <a:rPr lang="en-US" sz="1350" dirty="0">
                <a:solidFill>
                  <a:srgbClr val="9FE3D9"/>
                </a:solidFill>
                <a:latin typeface="Courier New" pitchFamily="34" charset="0"/>
                <a:ea typeface="Courier New" pitchFamily="34" charset="-122"/>
                <a:cs typeface="Courier New" pitchFamily="34" charset="-120"/>
              </a:rPr>
              <a:t>  ├─ data</a:t>
            </a:r>
            <a:endParaRPr lang="en-US" sz="1350" dirty="0"/>
          </a:p>
          <a:p>
            <a:pPr marL="0" indent="0">
              <a:lnSpc>
                <a:spcPct val="125000"/>
              </a:lnSpc>
              <a:buNone/>
            </a:pPr>
            <a:r>
              <a:rPr lang="en-US" sz="1350" dirty="0">
                <a:solidFill>
                  <a:srgbClr val="9FE3D9"/>
                </a:solidFill>
                <a:latin typeface="Courier New" pitchFamily="34" charset="0"/>
                <a:ea typeface="Courier New" pitchFamily="34" charset="-122"/>
                <a:cs typeface="Courier New" pitchFamily="34" charset="-120"/>
              </a:rPr>
              <a:t>  ├─ stepdefs</a:t>
            </a:r>
            <a:endParaRPr lang="en-US" sz="1350" dirty="0"/>
          </a:p>
          <a:p>
            <a:pPr marL="0" indent="0">
              <a:lnSpc>
                <a:spcPct val="125000"/>
              </a:lnSpc>
              <a:buNone/>
            </a:pPr>
            <a:r>
              <a:rPr lang="en-US" sz="1350" dirty="0">
                <a:solidFill>
                  <a:srgbClr val="9FE3D9"/>
                </a:solidFill>
                <a:latin typeface="Courier New" pitchFamily="34" charset="0"/>
                <a:ea typeface="Courier New" pitchFamily="34" charset="-122"/>
                <a:cs typeface="Courier New" pitchFamily="34" charset="-120"/>
              </a:rPr>
              <a:t>  ├─ support</a:t>
            </a:r>
            <a:endParaRPr lang="en-US" sz="1350" dirty="0"/>
          </a:p>
          <a:p>
            <a:pPr marL="0" indent="0">
              <a:lnSpc>
                <a:spcPct val="125000"/>
              </a:lnSpc>
              <a:buNone/>
            </a:pPr>
            <a:r>
              <a:rPr lang="en-US" sz="1350" dirty="0">
                <a:solidFill>
                  <a:srgbClr val="9FE3D9"/>
                </a:solidFill>
                <a:latin typeface="Courier New" pitchFamily="34" charset="0"/>
                <a:ea typeface="Courier New" pitchFamily="34" charset="-122"/>
                <a:cs typeface="Courier New" pitchFamily="34" charset="-120"/>
              </a:rPr>
              <a:t>  ├─ ui</a:t>
            </a:r>
            <a:endParaRPr lang="en-US" sz="1350" dirty="0"/>
          </a:p>
          <a:p>
            <a:pPr marL="0" indent="0">
              <a:lnSpc>
                <a:spcPct val="125000"/>
              </a:lnSpc>
              <a:buNone/>
            </a:pPr>
            <a:r>
              <a:rPr lang="en-US" sz="1350" dirty="0">
                <a:solidFill>
                  <a:srgbClr val="9FE3D9"/>
                </a:solidFill>
                <a:latin typeface="Courier New" pitchFamily="34" charset="0"/>
                <a:ea typeface="Courier New" pitchFamily="34" charset="-122"/>
                <a:cs typeface="Courier New" pitchFamily="34" charset="-120"/>
              </a:rPr>
              <a:t>  ├─ ReportingConfigurationTest</a:t>
            </a:r>
            <a:endParaRPr lang="en-US" sz="1350" dirty="0"/>
          </a:p>
          <a:p>
            <a:pPr marL="0" indent="0">
              <a:lnSpc>
                <a:spcPct val="125000"/>
              </a:lnSpc>
              <a:buNone/>
            </a:pPr>
            <a:r>
              <a:rPr lang="en-US" sz="1350" dirty="0">
                <a:solidFill>
                  <a:srgbClr val="9FE3D9"/>
                </a:solidFill>
                <a:latin typeface="Courier New" pitchFamily="34" charset="0"/>
                <a:ea typeface="Courier New" pitchFamily="34" charset="-122"/>
                <a:cs typeface="Courier New" pitchFamily="34" charset="-120"/>
              </a:rPr>
              <a:t>  └─ RunCucumberTest</a:t>
            </a:r>
            <a:endParaRPr lang="en-US" sz="1350" dirty="0"/>
          </a:p>
        </p:txBody>
      </p:sp>
      <p:sp>
        <p:nvSpPr>
          <p:cNvPr id="6" name="Shape 4"/>
          <p:cNvSpPr/>
          <p:nvPr/>
        </p:nvSpPr>
        <p:spPr>
          <a:xfrm>
            <a:off x="5989320" y="1828800"/>
            <a:ext cx="5349240" cy="4297680"/>
          </a:xfrm>
          <a:prstGeom prst="roundRect">
            <a:avLst>
              <a:gd name="adj" fmla="val 2553"/>
            </a:avLst>
          </a:prstGeom>
          <a:solidFill>
            <a:srgbClr val="0B2027"/>
          </a:solidFill>
          <a:ln/>
        </p:spPr>
        <p:txBody>
          <a:bodyPr/>
          <a:lstStyle/>
          <a:p>
            <a:endParaRPr lang="en-IN"/>
          </a:p>
        </p:txBody>
      </p:sp>
      <p:sp>
        <p:nvSpPr>
          <p:cNvPr id="7" name="Text 5"/>
          <p:cNvSpPr/>
          <p:nvPr/>
        </p:nvSpPr>
        <p:spPr>
          <a:xfrm>
            <a:off x="6309360" y="2057400"/>
            <a:ext cx="4846320" cy="3840480"/>
          </a:xfrm>
          <a:prstGeom prst="rect">
            <a:avLst/>
          </a:prstGeom>
          <a:noFill/>
          <a:ln/>
        </p:spPr>
        <p:txBody>
          <a:bodyPr wrap="square" lIns="0" tIns="0" rIns="0" bIns="0" rtlCol="0" anchor="ctr"/>
          <a:lstStyle/>
          <a:p>
            <a:pPr marL="0" indent="0">
              <a:lnSpc>
                <a:spcPct val="125000"/>
              </a:lnSpc>
              <a:buNone/>
            </a:pPr>
            <a:r>
              <a:rPr lang="en-US" sz="1350" dirty="0">
                <a:solidFill>
                  <a:srgbClr val="9FE3D9"/>
                </a:solidFill>
                <a:latin typeface="Courier New" pitchFamily="34" charset="0"/>
                <a:ea typeface="Courier New" pitchFamily="34" charset="-122"/>
                <a:cs typeface="Courier New" pitchFamily="34" charset="-120"/>
              </a:rPr>
              <a:t>resources</a:t>
            </a:r>
            <a:endParaRPr lang="en-US" sz="1350" dirty="0"/>
          </a:p>
          <a:p>
            <a:pPr marL="0" indent="0">
              <a:lnSpc>
                <a:spcPct val="125000"/>
              </a:lnSpc>
              <a:buNone/>
            </a:pPr>
            <a:r>
              <a:rPr lang="en-US" sz="1350" dirty="0">
                <a:solidFill>
                  <a:srgbClr val="9FE3D9"/>
                </a:solidFill>
                <a:latin typeface="Courier New" pitchFamily="34" charset="0"/>
                <a:ea typeface="Courier New" pitchFamily="34" charset="-122"/>
                <a:cs typeface="Courier New" pitchFamily="34" charset="-120"/>
              </a:rPr>
              <a:t>  ├─ config</a:t>
            </a:r>
            <a:endParaRPr lang="en-US" sz="1350" dirty="0"/>
          </a:p>
          <a:p>
            <a:pPr marL="0" indent="0">
              <a:lnSpc>
                <a:spcPct val="125000"/>
              </a:lnSpc>
              <a:buNone/>
            </a:pPr>
            <a:r>
              <a:rPr lang="en-US" sz="1350" dirty="0">
                <a:solidFill>
                  <a:srgbClr val="9FE3D9"/>
                </a:solidFill>
                <a:latin typeface="Courier New" pitchFamily="34" charset="0"/>
                <a:ea typeface="Courier New" pitchFamily="34" charset="-122"/>
                <a:cs typeface="Courier New" pitchFamily="34" charset="-120"/>
              </a:rPr>
              <a:t>  │   ├─ application-ci.properties</a:t>
            </a:r>
            <a:endParaRPr lang="en-US" sz="1350" dirty="0"/>
          </a:p>
          <a:p>
            <a:pPr marL="0" indent="0">
              <a:lnSpc>
                <a:spcPct val="125000"/>
              </a:lnSpc>
              <a:buNone/>
            </a:pPr>
            <a:r>
              <a:rPr lang="en-US" sz="1350" dirty="0">
                <a:solidFill>
                  <a:srgbClr val="9FE3D9"/>
                </a:solidFill>
                <a:latin typeface="Courier New" pitchFamily="34" charset="0"/>
                <a:ea typeface="Courier New" pitchFamily="34" charset="-122"/>
                <a:cs typeface="Courier New" pitchFamily="34" charset="-120"/>
              </a:rPr>
              <a:t>  │   └─ application-local.properties</a:t>
            </a:r>
            <a:endParaRPr lang="en-US" sz="1350" dirty="0"/>
          </a:p>
          <a:p>
            <a:pPr marL="0" indent="0">
              <a:lnSpc>
                <a:spcPct val="125000"/>
              </a:lnSpc>
              <a:buNone/>
            </a:pPr>
            <a:r>
              <a:rPr lang="en-US" sz="1350" dirty="0">
                <a:solidFill>
                  <a:srgbClr val="9FE3D9"/>
                </a:solidFill>
                <a:latin typeface="Courier New" pitchFamily="34" charset="0"/>
                <a:ea typeface="Courier New" pitchFamily="34" charset="-122"/>
                <a:cs typeface="Courier New" pitchFamily="34" charset="-120"/>
              </a:rPr>
              <a:t>  ├─ db.migration</a:t>
            </a:r>
            <a:endParaRPr lang="en-US" sz="1350" dirty="0"/>
          </a:p>
          <a:p>
            <a:pPr marL="0" indent="0">
              <a:lnSpc>
                <a:spcPct val="125000"/>
              </a:lnSpc>
              <a:buNone/>
            </a:pPr>
            <a:r>
              <a:rPr lang="en-US" sz="1350" dirty="0">
                <a:solidFill>
                  <a:srgbClr val="9FE3D9"/>
                </a:solidFill>
                <a:latin typeface="Courier New" pitchFamily="34" charset="0"/>
                <a:ea typeface="Courier New" pitchFamily="34" charset="-122"/>
                <a:cs typeface="Courier New" pitchFamily="34" charset="-120"/>
              </a:rPr>
              <a:t>  ├─ features</a:t>
            </a:r>
            <a:endParaRPr lang="en-US" sz="1350" dirty="0"/>
          </a:p>
          <a:p>
            <a:pPr marL="0" indent="0">
              <a:lnSpc>
                <a:spcPct val="125000"/>
              </a:lnSpc>
              <a:buNone/>
            </a:pPr>
            <a:r>
              <a:rPr lang="en-US" sz="1350" dirty="0">
                <a:solidFill>
                  <a:srgbClr val="9FE3D9"/>
                </a:solidFill>
                <a:latin typeface="Courier New" pitchFamily="34" charset="0"/>
                <a:ea typeface="Courier New" pitchFamily="34" charset="-122"/>
                <a:cs typeface="Courier New" pitchFamily="34" charset="-120"/>
              </a:rPr>
              <a:t>  ├─ allure.properties</a:t>
            </a:r>
            <a:endParaRPr lang="en-US" sz="1350" dirty="0"/>
          </a:p>
          <a:p>
            <a:pPr marL="0" indent="0">
              <a:lnSpc>
                <a:spcPct val="125000"/>
              </a:lnSpc>
              <a:buNone/>
            </a:pPr>
            <a:r>
              <a:rPr lang="en-US" sz="1350" dirty="0">
                <a:solidFill>
                  <a:srgbClr val="9FE3D9"/>
                </a:solidFill>
                <a:latin typeface="Courier New" pitchFamily="34" charset="0"/>
                <a:ea typeface="Courier New" pitchFamily="34" charset="-122"/>
                <a:cs typeface="Courier New" pitchFamily="34" charset="-120"/>
              </a:rPr>
              <a:t>  ├─ categories.json</a:t>
            </a:r>
            <a:endParaRPr lang="en-US" sz="1350" dirty="0"/>
          </a:p>
          <a:p>
            <a:pPr marL="0" indent="0">
              <a:lnSpc>
                <a:spcPct val="125000"/>
              </a:lnSpc>
              <a:buNone/>
            </a:pPr>
            <a:r>
              <a:rPr lang="en-US" sz="1350" dirty="0">
                <a:solidFill>
                  <a:srgbClr val="9FE3D9"/>
                </a:solidFill>
                <a:latin typeface="Courier New" pitchFamily="34" charset="0"/>
                <a:ea typeface="Courier New" pitchFamily="34" charset="-122"/>
                <a:cs typeface="Courier New" pitchFamily="34" charset="-120"/>
              </a:rPr>
              <a:t>  └─ environment.properties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10789920" cy="640080"/>
          </a:xfrm>
          <a:prstGeom prst="rect">
            <a:avLst/>
          </a:prstGeom>
          <a:noFill/>
          <a:ln/>
        </p:spPr>
        <p:txBody>
          <a:bodyPr wrap="square" lIns="0" tIns="0" rIns="0" bIns="0" rtlCol="0" anchor="ctr"/>
          <a:lstStyle/>
          <a:p>
            <a:pPr marL="0" indent="0">
              <a:buNone/>
            </a:pPr>
            <a:r>
              <a:rPr lang="en-US" sz="3000" b="1" dirty="0">
                <a:solidFill>
                  <a:srgbClr val="0B2027"/>
                </a:solidFill>
                <a:latin typeface="Cambria" pitchFamily="34" charset="0"/>
                <a:ea typeface="Cambria" pitchFamily="34" charset="-122"/>
                <a:cs typeface="Cambria" pitchFamily="34" charset="-120"/>
              </a:rPr>
              <a:t>Technology stack</a:t>
            </a:r>
            <a:endParaRPr lang="en-US" sz="3000" dirty="0"/>
          </a:p>
        </p:txBody>
      </p:sp>
      <p:sp>
        <p:nvSpPr>
          <p:cNvPr id="3" name="Text 1"/>
          <p:cNvSpPr/>
          <p:nvPr/>
        </p:nvSpPr>
        <p:spPr>
          <a:xfrm>
            <a:off x="548640" y="1143000"/>
            <a:ext cx="10789920" cy="457200"/>
          </a:xfrm>
          <a:prstGeom prst="rect">
            <a:avLst/>
          </a:prstGeom>
          <a:noFill/>
          <a:ln/>
        </p:spPr>
        <p:txBody>
          <a:bodyPr wrap="square" lIns="0" tIns="0" rIns="0" bIns="0" rtlCol="0" anchor="ctr"/>
          <a:lstStyle/>
          <a:p>
            <a:pPr marL="0" indent="0">
              <a:buNone/>
            </a:pPr>
            <a:r>
              <a:rPr lang="en-US" sz="1500" dirty="0">
                <a:solidFill>
                  <a:srgbClr val="5C6B6E"/>
                </a:solidFill>
                <a:latin typeface="Calibri" pitchFamily="34" charset="0"/>
                <a:ea typeface="Calibri" pitchFamily="34" charset="-122"/>
                <a:cs typeface="Calibri" pitchFamily="34" charset="-120"/>
              </a:rPr>
              <a:t>The brief's locked stack (Week 6), and what's actually running in the repo.</a:t>
            </a:r>
            <a:endParaRPr lang="en-US" sz="1500" dirty="0"/>
          </a:p>
        </p:txBody>
      </p:sp>
      <p:sp>
        <p:nvSpPr>
          <p:cNvPr id="4" name="Shape 2"/>
          <p:cNvSpPr/>
          <p:nvPr/>
        </p:nvSpPr>
        <p:spPr>
          <a:xfrm>
            <a:off x="548640" y="1783080"/>
            <a:ext cx="11155680" cy="530352"/>
          </a:xfrm>
          <a:prstGeom prst="roundRect">
            <a:avLst>
              <a:gd name="adj" fmla="val 10345"/>
            </a:avLst>
          </a:prstGeom>
          <a:solidFill>
            <a:srgbClr val="028090"/>
          </a:solidFill>
          <a:ln/>
        </p:spPr>
        <p:txBody>
          <a:bodyPr/>
          <a:lstStyle/>
          <a:p>
            <a:endParaRPr lang="en-IN"/>
          </a:p>
        </p:txBody>
      </p:sp>
      <p:sp>
        <p:nvSpPr>
          <p:cNvPr id="5" name="Text 3"/>
          <p:cNvSpPr/>
          <p:nvPr/>
        </p:nvSpPr>
        <p:spPr>
          <a:xfrm>
            <a:off x="548640" y="1783080"/>
            <a:ext cx="3291840" cy="530352"/>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Layer</a:t>
            </a:r>
            <a:endParaRPr lang="en-US" sz="1250" dirty="0"/>
          </a:p>
        </p:txBody>
      </p:sp>
      <p:sp>
        <p:nvSpPr>
          <p:cNvPr id="6" name="Text 4"/>
          <p:cNvSpPr/>
          <p:nvPr/>
        </p:nvSpPr>
        <p:spPr>
          <a:xfrm>
            <a:off x="3931920" y="1783080"/>
            <a:ext cx="3566160" cy="530352"/>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Brief requires</a:t>
            </a:r>
            <a:endParaRPr lang="en-US" sz="1250" dirty="0"/>
          </a:p>
        </p:txBody>
      </p:sp>
      <p:sp>
        <p:nvSpPr>
          <p:cNvPr id="7" name="Text 5"/>
          <p:cNvSpPr/>
          <p:nvPr/>
        </p:nvSpPr>
        <p:spPr>
          <a:xfrm>
            <a:off x="7589520" y="1783080"/>
            <a:ext cx="4114800" cy="530352"/>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What's shipped</a:t>
            </a:r>
            <a:endParaRPr lang="en-US" sz="1250" dirty="0"/>
          </a:p>
        </p:txBody>
      </p:sp>
      <p:sp>
        <p:nvSpPr>
          <p:cNvPr id="8" name="Shape 6"/>
          <p:cNvSpPr/>
          <p:nvPr/>
        </p:nvSpPr>
        <p:spPr>
          <a:xfrm>
            <a:off x="548640" y="2313432"/>
            <a:ext cx="11155680" cy="530352"/>
          </a:xfrm>
          <a:prstGeom prst="rect">
            <a:avLst/>
          </a:prstGeom>
          <a:solidFill>
            <a:srgbClr val="F7FAFA"/>
          </a:solidFill>
          <a:ln/>
        </p:spPr>
        <p:txBody>
          <a:bodyPr/>
          <a:lstStyle/>
          <a:p>
            <a:endParaRPr lang="en-IN"/>
          </a:p>
        </p:txBody>
      </p:sp>
      <p:sp>
        <p:nvSpPr>
          <p:cNvPr id="9" name="Text 7"/>
          <p:cNvSpPr/>
          <p:nvPr/>
        </p:nvSpPr>
        <p:spPr>
          <a:xfrm>
            <a:off x="548640" y="2313432"/>
            <a:ext cx="3291840" cy="530352"/>
          </a:xfrm>
          <a:prstGeom prst="rect">
            <a:avLst/>
          </a:prstGeom>
          <a:noFill/>
          <a:ln/>
        </p:spPr>
        <p:txBody>
          <a:bodyPr wrap="square" lIns="0" tIns="0" rIns="0" bIns="0" rtlCol="0" anchor="ctr"/>
          <a:lstStyle/>
          <a:p>
            <a:pPr marL="0" indent="0">
              <a:buNone/>
            </a:pPr>
            <a:r>
              <a:rPr lang="en-US" sz="1150" b="1" dirty="0">
                <a:solidFill>
                  <a:srgbClr val="0B2027"/>
                </a:solidFill>
                <a:latin typeface="Calibri" pitchFamily="34" charset="0"/>
                <a:ea typeface="Calibri" pitchFamily="34" charset="-122"/>
                <a:cs typeface="Calibri" pitchFamily="34" charset="-120"/>
              </a:rPr>
              <a:t>Language / runtime</a:t>
            </a:r>
            <a:endParaRPr lang="en-US" sz="1150" dirty="0"/>
          </a:p>
        </p:txBody>
      </p:sp>
      <p:sp>
        <p:nvSpPr>
          <p:cNvPr id="10" name="Text 8"/>
          <p:cNvSpPr/>
          <p:nvPr/>
        </p:nvSpPr>
        <p:spPr>
          <a:xfrm>
            <a:off x="3931920" y="2313432"/>
            <a:ext cx="3566160" cy="530352"/>
          </a:xfrm>
          <a:prstGeom prst="rect">
            <a:avLst/>
          </a:prstGeom>
          <a:noFill/>
          <a:ln/>
        </p:spPr>
        <p:txBody>
          <a:bodyPr wrap="square" lIns="0" tIns="0" rIns="0" bIns="0" rtlCol="0" anchor="ctr"/>
          <a:lstStyle/>
          <a:p>
            <a:pPr marL="0" indent="0">
              <a:buNone/>
            </a:pPr>
            <a:r>
              <a:rPr lang="en-US" sz="1150" dirty="0">
                <a:solidFill>
                  <a:srgbClr val="0B2027"/>
                </a:solidFill>
                <a:latin typeface="Calibri" pitchFamily="34" charset="0"/>
                <a:ea typeface="Calibri" pitchFamily="34" charset="-122"/>
                <a:cs typeface="Calibri" pitchFamily="34" charset="-120"/>
              </a:rPr>
              <a:t>Java 21 (LTS)</a:t>
            </a:r>
            <a:endParaRPr lang="en-US" sz="1150" dirty="0"/>
          </a:p>
        </p:txBody>
      </p:sp>
      <p:sp>
        <p:nvSpPr>
          <p:cNvPr id="11" name="Text 9"/>
          <p:cNvSpPr/>
          <p:nvPr/>
        </p:nvSpPr>
        <p:spPr>
          <a:xfrm>
            <a:off x="7589520" y="2313432"/>
            <a:ext cx="4114800" cy="530352"/>
          </a:xfrm>
          <a:prstGeom prst="rect">
            <a:avLst/>
          </a:prstGeom>
          <a:noFill/>
          <a:ln/>
        </p:spPr>
        <p:txBody>
          <a:bodyPr wrap="square" lIns="0" tIns="0" rIns="0" bIns="0" rtlCol="0" anchor="ctr"/>
          <a:lstStyle/>
          <a:p>
            <a:pPr marL="0" indent="0">
              <a:buNone/>
            </a:pPr>
            <a:r>
              <a:rPr lang="en-US" sz="1150" dirty="0">
                <a:solidFill>
                  <a:srgbClr val="028090"/>
                </a:solidFill>
                <a:latin typeface="Calibri" pitchFamily="34" charset="0"/>
                <a:ea typeface="Calibri" pitchFamily="34" charset="-122"/>
                <a:cs typeface="Calibri" pitchFamily="34" charset="-120"/>
              </a:rPr>
              <a:t>Java 22 toolchain</a:t>
            </a:r>
            <a:endParaRPr lang="en-US" sz="1150" dirty="0"/>
          </a:p>
        </p:txBody>
      </p:sp>
      <p:sp>
        <p:nvSpPr>
          <p:cNvPr id="12" name="Text 10"/>
          <p:cNvSpPr/>
          <p:nvPr/>
        </p:nvSpPr>
        <p:spPr>
          <a:xfrm>
            <a:off x="548640" y="2843784"/>
            <a:ext cx="3291840" cy="530352"/>
          </a:xfrm>
          <a:prstGeom prst="rect">
            <a:avLst/>
          </a:prstGeom>
          <a:noFill/>
          <a:ln/>
        </p:spPr>
        <p:txBody>
          <a:bodyPr wrap="square" lIns="0" tIns="0" rIns="0" bIns="0" rtlCol="0" anchor="ctr"/>
          <a:lstStyle/>
          <a:p>
            <a:pPr marL="0" indent="0">
              <a:buNone/>
            </a:pPr>
            <a:r>
              <a:rPr lang="en-US" sz="1150" b="1" dirty="0">
                <a:solidFill>
                  <a:srgbClr val="0B2027"/>
                </a:solidFill>
                <a:latin typeface="Calibri" pitchFamily="34" charset="0"/>
                <a:ea typeface="Calibri" pitchFamily="34" charset="-122"/>
                <a:cs typeface="Calibri" pitchFamily="34" charset="-120"/>
              </a:rPr>
              <a:t>BDD / runner</a:t>
            </a:r>
            <a:endParaRPr lang="en-US" sz="1150" dirty="0"/>
          </a:p>
        </p:txBody>
      </p:sp>
      <p:sp>
        <p:nvSpPr>
          <p:cNvPr id="13" name="Text 11"/>
          <p:cNvSpPr/>
          <p:nvPr/>
        </p:nvSpPr>
        <p:spPr>
          <a:xfrm>
            <a:off x="3931920" y="2843784"/>
            <a:ext cx="3566160" cy="530352"/>
          </a:xfrm>
          <a:prstGeom prst="rect">
            <a:avLst/>
          </a:prstGeom>
          <a:noFill/>
          <a:ln/>
        </p:spPr>
        <p:txBody>
          <a:bodyPr wrap="square" lIns="0" tIns="0" rIns="0" bIns="0" rtlCol="0" anchor="ctr"/>
          <a:lstStyle/>
          <a:p>
            <a:pPr marL="0" indent="0">
              <a:buNone/>
            </a:pPr>
            <a:r>
              <a:rPr lang="en-US" sz="1150" dirty="0">
                <a:solidFill>
                  <a:srgbClr val="0B2027"/>
                </a:solidFill>
                <a:latin typeface="Calibri" pitchFamily="34" charset="0"/>
                <a:ea typeface="Calibri" pitchFamily="34" charset="-122"/>
                <a:cs typeface="Calibri" pitchFamily="34" charset="-120"/>
              </a:rPr>
              <a:t>Cucumber 7 · JUnit Platform</a:t>
            </a:r>
            <a:endParaRPr lang="en-US" sz="1150" dirty="0"/>
          </a:p>
        </p:txBody>
      </p:sp>
      <p:sp>
        <p:nvSpPr>
          <p:cNvPr id="14" name="Text 12"/>
          <p:cNvSpPr/>
          <p:nvPr/>
        </p:nvSpPr>
        <p:spPr>
          <a:xfrm>
            <a:off x="7589520" y="2843784"/>
            <a:ext cx="4114800" cy="530352"/>
          </a:xfrm>
          <a:prstGeom prst="rect">
            <a:avLst/>
          </a:prstGeom>
          <a:noFill/>
          <a:ln/>
        </p:spPr>
        <p:txBody>
          <a:bodyPr wrap="square" lIns="0" tIns="0" rIns="0" bIns="0" rtlCol="0" anchor="ctr"/>
          <a:lstStyle/>
          <a:p>
            <a:pPr marL="0" indent="0">
              <a:buNone/>
            </a:pPr>
            <a:r>
              <a:rPr lang="en-US" sz="1150" dirty="0">
                <a:solidFill>
                  <a:srgbClr val="028090"/>
                </a:solidFill>
                <a:latin typeface="Calibri" pitchFamily="34" charset="0"/>
                <a:ea typeface="Calibri" pitchFamily="34" charset="-122"/>
                <a:cs typeface="Calibri" pitchFamily="34" charset="-120"/>
              </a:rPr>
              <a:t>Cucumber 7.34.0 · JUnit 5.13.4</a:t>
            </a:r>
            <a:endParaRPr lang="en-US" sz="1150" dirty="0"/>
          </a:p>
        </p:txBody>
      </p:sp>
      <p:sp>
        <p:nvSpPr>
          <p:cNvPr id="15" name="Shape 13"/>
          <p:cNvSpPr/>
          <p:nvPr/>
        </p:nvSpPr>
        <p:spPr>
          <a:xfrm>
            <a:off x="548640" y="3374136"/>
            <a:ext cx="11155680" cy="530352"/>
          </a:xfrm>
          <a:prstGeom prst="rect">
            <a:avLst/>
          </a:prstGeom>
          <a:solidFill>
            <a:srgbClr val="F7FAFA"/>
          </a:solidFill>
          <a:ln/>
        </p:spPr>
        <p:txBody>
          <a:bodyPr/>
          <a:lstStyle/>
          <a:p>
            <a:endParaRPr lang="en-IN"/>
          </a:p>
        </p:txBody>
      </p:sp>
      <p:sp>
        <p:nvSpPr>
          <p:cNvPr id="16" name="Text 14"/>
          <p:cNvSpPr/>
          <p:nvPr/>
        </p:nvSpPr>
        <p:spPr>
          <a:xfrm>
            <a:off x="548640" y="3374136"/>
            <a:ext cx="3291840" cy="530352"/>
          </a:xfrm>
          <a:prstGeom prst="rect">
            <a:avLst/>
          </a:prstGeom>
          <a:noFill/>
          <a:ln/>
        </p:spPr>
        <p:txBody>
          <a:bodyPr wrap="square" lIns="0" tIns="0" rIns="0" bIns="0" rtlCol="0" anchor="ctr"/>
          <a:lstStyle/>
          <a:p>
            <a:pPr marL="0" indent="0">
              <a:buNone/>
            </a:pPr>
            <a:r>
              <a:rPr lang="en-US" sz="1150" b="1" dirty="0">
                <a:solidFill>
                  <a:srgbClr val="0B2027"/>
                </a:solidFill>
                <a:latin typeface="Calibri" pitchFamily="34" charset="0"/>
                <a:ea typeface="Calibri" pitchFamily="34" charset="-122"/>
                <a:cs typeface="Calibri" pitchFamily="34" charset="-120"/>
              </a:rPr>
              <a:t>API testing</a:t>
            </a:r>
            <a:endParaRPr lang="en-US" sz="1150" dirty="0"/>
          </a:p>
        </p:txBody>
      </p:sp>
      <p:sp>
        <p:nvSpPr>
          <p:cNvPr id="17" name="Text 15"/>
          <p:cNvSpPr/>
          <p:nvPr/>
        </p:nvSpPr>
        <p:spPr>
          <a:xfrm>
            <a:off x="3931920" y="3374136"/>
            <a:ext cx="3566160" cy="530352"/>
          </a:xfrm>
          <a:prstGeom prst="rect">
            <a:avLst/>
          </a:prstGeom>
          <a:noFill/>
          <a:ln/>
        </p:spPr>
        <p:txBody>
          <a:bodyPr wrap="square" lIns="0" tIns="0" rIns="0" bIns="0" rtlCol="0" anchor="ctr"/>
          <a:lstStyle/>
          <a:p>
            <a:pPr marL="0" indent="0">
              <a:buNone/>
            </a:pPr>
            <a:r>
              <a:rPr lang="en-US" sz="1150" dirty="0">
                <a:solidFill>
                  <a:srgbClr val="0B2027"/>
                </a:solidFill>
                <a:latin typeface="Calibri" pitchFamily="34" charset="0"/>
                <a:ea typeface="Calibri" pitchFamily="34" charset="-122"/>
                <a:cs typeface="Calibri" pitchFamily="34" charset="-120"/>
              </a:rPr>
              <a:t>REST Assured</a:t>
            </a:r>
            <a:endParaRPr lang="en-US" sz="1150" dirty="0"/>
          </a:p>
        </p:txBody>
      </p:sp>
      <p:sp>
        <p:nvSpPr>
          <p:cNvPr id="18" name="Text 16"/>
          <p:cNvSpPr/>
          <p:nvPr/>
        </p:nvSpPr>
        <p:spPr>
          <a:xfrm>
            <a:off x="7589520" y="3374136"/>
            <a:ext cx="4114800" cy="530352"/>
          </a:xfrm>
          <a:prstGeom prst="rect">
            <a:avLst/>
          </a:prstGeom>
          <a:noFill/>
          <a:ln/>
        </p:spPr>
        <p:txBody>
          <a:bodyPr wrap="square" lIns="0" tIns="0" rIns="0" bIns="0" rtlCol="0" anchor="ctr"/>
          <a:lstStyle/>
          <a:p>
            <a:pPr marL="0" indent="0">
              <a:buNone/>
            </a:pPr>
            <a:r>
              <a:rPr lang="en-US" sz="1150" dirty="0">
                <a:solidFill>
                  <a:srgbClr val="028090"/>
                </a:solidFill>
                <a:latin typeface="Calibri" pitchFamily="34" charset="0"/>
                <a:ea typeface="Calibri" pitchFamily="34" charset="-122"/>
                <a:cs typeface="Calibri" pitchFamily="34" charset="-120"/>
              </a:rPr>
              <a:t>REST Assured 5.5.5</a:t>
            </a:r>
            <a:endParaRPr lang="en-US" sz="1150" dirty="0"/>
          </a:p>
        </p:txBody>
      </p:sp>
      <p:sp>
        <p:nvSpPr>
          <p:cNvPr id="19" name="Text 17"/>
          <p:cNvSpPr/>
          <p:nvPr/>
        </p:nvSpPr>
        <p:spPr>
          <a:xfrm>
            <a:off x="548640" y="3904488"/>
            <a:ext cx="3291840" cy="530352"/>
          </a:xfrm>
          <a:prstGeom prst="rect">
            <a:avLst/>
          </a:prstGeom>
          <a:noFill/>
          <a:ln/>
        </p:spPr>
        <p:txBody>
          <a:bodyPr wrap="square" lIns="0" tIns="0" rIns="0" bIns="0" rtlCol="0" anchor="ctr"/>
          <a:lstStyle/>
          <a:p>
            <a:pPr marL="0" indent="0">
              <a:buNone/>
            </a:pPr>
            <a:r>
              <a:rPr lang="en-US" sz="1150" b="1" dirty="0">
                <a:solidFill>
                  <a:srgbClr val="0B2027"/>
                </a:solidFill>
                <a:latin typeface="Calibri" pitchFamily="34" charset="0"/>
                <a:ea typeface="Calibri" pitchFamily="34" charset="-122"/>
                <a:cs typeface="Calibri" pitchFamily="34" charset="-120"/>
              </a:rPr>
              <a:t>UI testing</a:t>
            </a:r>
            <a:endParaRPr lang="en-US" sz="1150" dirty="0"/>
          </a:p>
        </p:txBody>
      </p:sp>
      <p:sp>
        <p:nvSpPr>
          <p:cNvPr id="20" name="Text 18"/>
          <p:cNvSpPr/>
          <p:nvPr/>
        </p:nvSpPr>
        <p:spPr>
          <a:xfrm>
            <a:off x="3931920" y="3904488"/>
            <a:ext cx="3566160" cy="530352"/>
          </a:xfrm>
          <a:prstGeom prst="rect">
            <a:avLst/>
          </a:prstGeom>
          <a:noFill/>
          <a:ln/>
        </p:spPr>
        <p:txBody>
          <a:bodyPr wrap="square" lIns="0" tIns="0" rIns="0" bIns="0" rtlCol="0" anchor="ctr"/>
          <a:lstStyle/>
          <a:p>
            <a:pPr marL="0" indent="0">
              <a:buNone/>
            </a:pPr>
            <a:r>
              <a:rPr lang="en-US" sz="1150" dirty="0">
                <a:solidFill>
                  <a:srgbClr val="0B2027"/>
                </a:solidFill>
                <a:latin typeface="Calibri" pitchFamily="34" charset="0"/>
                <a:ea typeface="Calibri" pitchFamily="34" charset="-122"/>
                <a:cs typeface="Calibri" pitchFamily="34" charset="-120"/>
              </a:rPr>
              <a:t>Selenide, dynamic XPath</a:t>
            </a:r>
            <a:endParaRPr lang="en-US" sz="1150" dirty="0"/>
          </a:p>
        </p:txBody>
      </p:sp>
      <p:sp>
        <p:nvSpPr>
          <p:cNvPr id="21" name="Text 19"/>
          <p:cNvSpPr/>
          <p:nvPr/>
        </p:nvSpPr>
        <p:spPr>
          <a:xfrm>
            <a:off x="7589520" y="3904488"/>
            <a:ext cx="4114800" cy="530352"/>
          </a:xfrm>
          <a:prstGeom prst="rect">
            <a:avLst/>
          </a:prstGeom>
          <a:noFill/>
          <a:ln/>
        </p:spPr>
        <p:txBody>
          <a:bodyPr wrap="square" lIns="0" tIns="0" rIns="0" bIns="0" rtlCol="0" anchor="ctr"/>
          <a:lstStyle/>
          <a:p>
            <a:pPr marL="0" indent="0">
              <a:buNone/>
            </a:pPr>
            <a:r>
              <a:rPr lang="en-US" sz="1150" dirty="0">
                <a:solidFill>
                  <a:srgbClr val="028090"/>
                </a:solidFill>
                <a:latin typeface="Calibri" pitchFamily="34" charset="0"/>
                <a:ea typeface="Calibri" pitchFamily="34" charset="-122"/>
                <a:cs typeface="Calibri" pitchFamily="34" charset="-120"/>
              </a:rPr>
              <a:t>Selenide 7.9.3, $x() in Xp.java</a:t>
            </a:r>
            <a:endParaRPr lang="en-US" sz="1150" dirty="0"/>
          </a:p>
        </p:txBody>
      </p:sp>
      <p:sp>
        <p:nvSpPr>
          <p:cNvPr id="22" name="Shape 20"/>
          <p:cNvSpPr/>
          <p:nvPr/>
        </p:nvSpPr>
        <p:spPr>
          <a:xfrm>
            <a:off x="548640" y="4434840"/>
            <a:ext cx="11155680" cy="530352"/>
          </a:xfrm>
          <a:prstGeom prst="rect">
            <a:avLst/>
          </a:prstGeom>
          <a:solidFill>
            <a:srgbClr val="F7FAFA"/>
          </a:solidFill>
          <a:ln/>
        </p:spPr>
        <p:txBody>
          <a:bodyPr/>
          <a:lstStyle/>
          <a:p>
            <a:endParaRPr lang="en-IN"/>
          </a:p>
        </p:txBody>
      </p:sp>
      <p:sp>
        <p:nvSpPr>
          <p:cNvPr id="23" name="Text 21"/>
          <p:cNvSpPr/>
          <p:nvPr/>
        </p:nvSpPr>
        <p:spPr>
          <a:xfrm>
            <a:off x="548640" y="4434840"/>
            <a:ext cx="3291840" cy="530352"/>
          </a:xfrm>
          <a:prstGeom prst="rect">
            <a:avLst/>
          </a:prstGeom>
          <a:noFill/>
          <a:ln/>
        </p:spPr>
        <p:txBody>
          <a:bodyPr wrap="square" lIns="0" tIns="0" rIns="0" bIns="0" rtlCol="0" anchor="ctr"/>
          <a:lstStyle/>
          <a:p>
            <a:pPr marL="0" indent="0">
              <a:buNone/>
            </a:pPr>
            <a:r>
              <a:rPr lang="en-US" sz="1150" b="1" dirty="0">
                <a:solidFill>
                  <a:srgbClr val="0B2027"/>
                </a:solidFill>
                <a:latin typeface="Calibri" pitchFamily="34" charset="0"/>
                <a:ea typeface="Calibri" pitchFamily="34" charset="-122"/>
                <a:cs typeface="Calibri" pitchFamily="34" charset="-120"/>
              </a:rPr>
              <a:t>Data / isolation</a:t>
            </a:r>
            <a:endParaRPr lang="en-US" sz="1150" dirty="0"/>
          </a:p>
        </p:txBody>
      </p:sp>
      <p:sp>
        <p:nvSpPr>
          <p:cNvPr id="24" name="Text 22"/>
          <p:cNvSpPr/>
          <p:nvPr/>
        </p:nvSpPr>
        <p:spPr>
          <a:xfrm>
            <a:off x="3931920" y="4434840"/>
            <a:ext cx="3566160" cy="530352"/>
          </a:xfrm>
          <a:prstGeom prst="rect">
            <a:avLst/>
          </a:prstGeom>
          <a:noFill/>
          <a:ln/>
        </p:spPr>
        <p:txBody>
          <a:bodyPr wrap="square" lIns="0" tIns="0" rIns="0" bIns="0" rtlCol="0" anchor="ctr"/>
          <a:lstStyle/>
          <a:p>
            <a:pPr marL="0" indent="0">
              <a:buNone/>
            </a:pPr>
            <a:r>
              <a:rPr lang="en-US" sz="1150" dirty="0">
                <a:solidFill>
                  <a:srgbClr val="0B2027"/>
                </a:solidFill>
                <a:latin typeface="Calibri" pitchFamily="34" charset="0"/>
                <a:ea typeface="Calibri" pitchFamily="34" charset="-122"/>
                <a:cs typeface="Calibri" pitchFamily="34" charset="-120"/>
              </a:rPr>
              <a:t>Testcontainers · Postgres · Flyway</a:t>
            </a:r>
            <a:endParaRPr lang="en-US" sz="1150" dirty="0"/>
          </a:p>
        </p:txBody>
      </p:sp>
      <p:sp>
        <p:nvSpPr>
          <p:cNvPr id="25" name="Text 23"/>
          <p:cNvSpPr/>
          <p:nvPr/>
        </p:nvSpPr>
        <p:spPr>
          <a:xfrm>
            <a:off x="7589520" y="4434840"/>
            <a:ext cx="4114800" cy="530352"/>
          </a:xfrm>
          <a:prstGeom prst="rect">
            <a:avLst/>
          </a:prstGeom>
          <a:noFill/>
          <a:ln/>
        </p:spPr>
        <p:txBody>
          <a:bodyPr wrap="square" lIns="0" tIns="0" rIns="0" bIns="0" rtlCol="0" anchor="ctr"/>
          <a:lstStyle/>
          <a:p>
            <a:pPr marL="0" indent="0">
              <a:buNone/>
            </a:pPr>
            <a:r>
              <a:rPr lang="en-US" sz="1150" dirty="0">
                <a:solidFill>
                  <a:srgbClr val="028090"/>
                </a:solidFill>
                <a:latin typeface="Calibri" pitchFamily="34" charset="0"/>
                <a:ea typeface="Calibri" pitchFamily="34" charset="-122"/>
                <a:cs typeface="Calibri" pitchFamily="34" charset="-120"/>
              </a:rPr>
              <a:t>Testcontainers 1.20.6 · MySQL 9.2.0 · Flyway 12.10.0</a:t>
            </a:r>
            <a:endParaRPr lang="en-US" sz="1150" dirty="0"/>
          </a:p>
        </p:txBody>
      </p:sp>
      <p:sp>
        <p:nvSpPr>
          <p:cNvPr id="26" name="Text 24"/>
          <p:cNvSpPr/>
          <p:nvPr/>
        </p:nvSpPr>
        <p:spPr>
          <a:xfrm>
            <a:off x="548640" y="4965192"/>
            <a:ext cx="3291840" cy="530352"/>
          </a:xfrm>
          <a:prstGeom prst="rect">
            <a:avLst/>
          </a:prstGeom>
          <a:noFill/>
          <a:ln/>
        </p:spPr>
        <p:txBody>
          <a:bodyPr wrap="square" lIns="0" tIns="0" rIns="0" bIns="0" rtlCol="0" anchor="ctr"/>
          <a:lstStyle/>
          <a:p>
            <a:pPr marL="0" indent="0">
              <a:buNone/>
            </a:pPr>
            <a:r>
              <a:rPr lang="en-US" sz="1150" b="1" dirty="0">
                <a:solidFill>
                  <a:srgbClr val="0B2027"/>
                </a:solidFill>
                <a:latin typeface="Calibri" pitchFamily="34" charset="0"/>
                <a:ea typeface="Calibri" pitchFamily="34" charset="-122"/>
                <a:cs typeface="Calibri" pitchFamily="34" charset="-120"/>
              </a:rPr>
              <a:t>Build</a:t>
            </a:r>
            <a:endParaRPr lang="en-US" sz="1150" dirty="0"/>
          </a:p>
        </p:txBody>
      </p:sp>
      <p:sp>
        <p:nvSpPr>
          <p:cNvPr id="27" name="Text 25"/>
          <p:cNvSpPr/>
          <p:nvPr/>
        </p:nvSpPr>
        <p:spPr>
          <a:xfrm>
            <a:off x="3931920" y="4965192"/>
            <a:ext cx="3566160" cy="530352"/>
          </a:xfrm>
          <a:prstGeom prst="rect">
            <a:avLst/>
          </a:prstGeom>
          <a:noFill/>
          <a:ln/>
        </p:spPr>
        <p:txBody>
          <a:bodyPr wrap="square" lIns="0" tIns="0" rIns="0" bIns="0" rtlCol="0" anchor="ctr"/>
          <a:lstStyle/>
          <a:p>
            <a:pPr marL="0" indent="0">
              <a:buNone/>
            </a:pPr>
            <a:r>
              <a:rPr lang="en-US" sz="1150" dirty="0">
                <a:solidFill>
                  <a:srgbClr val="0B2027"/>
                </a:solidFill>
                <a:latin typeface="Calibri" pitchFamily="34" charset="0"/>
                <a:ea typeface="Calibri" pitchFamily="34" charset="-122"/>
                <a:cs typeface="Calibri" pitchFamily="34" charset="-120"/>
              </a:rPr>
              <a:t>Gradle (primary) · Maven (variant)</a:t>
            </a:r>
            <a:endParaRPr lang="en-US" sz="1150" dirty="0"/>
          </a:p>
        </p:txBody>
      </p:sp>
      <p:sp>
        <p:nvSpPr>
          <p:cNvPr id="28" name="Text 26"/>
          <p:cNvSpPr/>
          <p:nvPr/>
        </p:nvSpPr>
        <p:spPr>
          <a:xfrm>
            <a:off x="7589520" y="4965192"/>
            <a:ext cx="4114800" cy="530352"/>
          </a:xfrm>
          <a:prstGeom prst="rect">
            <a:avLst/>
          </a:prstGeom>
          <a:noFill/>
          <a:ln/>
        </p:spPr>
        <p:txBody>
          <a:bodyPr wrap="square" lIns="0" tIns="0" rIns="0" bIns="0" rtlCol="0" anchor="ctr"/>
          <a:lstStyle/>
          <a:p>
            <a:pPr marL="0" indent="0">
              <a:buNone/>
            </a:pPr>
            <a:r>
              <a:rPr lang="en-US" sz="1150" dirty="0">
                <a:solidFill>
                  <a:srgbClr val="028090"/>
                </a:solidFill>
                <a:latin typeface="Calibri" pitchFamily="34" charset="0"/>
                <a:ea typeface="Calibri" pitchFamily="34" charset="-122"/>
                <a:cs typeface="Calibri" pitchFamily="34" charset="-120"/>
              </a:rPr>
              <a:t>Gradle Kotlin DSL</a:t>
            </a:r>
            <a:endParaRPr lang="en-US" sz="1150" dirty="0"/>
          </a:p>
        </p:txBody>
      </p:sp>
      <p:sp>
        <p:nvSpPr>
          <p:cNvPr id="29" name="Shape 27"/>
          <p:cNvSpPr/>
          <p:nvPr/>
        </p:nvSpPr>
        <p:spPr>
          <a:xfrm>
            <a:off x="548640" y="5495544"/>
            <a:ext cx="11155680" cy="530352"/>
          </a:xfrm>
          <a:prstGeom prst="rect">
            <a:avLst/>
          </a:prstGeom>
          <a:solidFill>
            <a:srgbClr val="F7FAFA"/>
          </a:solidFill>
          <a:ln/>
        </p:spPr>
        <p:txBody>
          <a:bodyPr/>
          <a:lstStyle/>
          <a:p>
            <a:endParaRPr lang="en-IN"/>
          </a:p>
        </p:txBody>
      </p:sp>
      <p:sp>
        <p:nvSpPr>
          <p:cNvPr id="30" name="Text 28"/>
          <p:cNvSpPr/>
          <p:nvPr/>
        </p:nvSpPr>
        <p:spPr>
          <a:xfrm>
            <a:off x="548640" y="5495544"/>
            <a:ext cx="3291840" cy="530352"/>
          </a:xfrm>
          <a:prstGeom prst="rect">
            <a:avLst/>
          </a:prstGeom>
          <a:noFill/>
          <a:ln/>
        </p:spPr>
        <p:txBody>
          <a:bodyPr wrap="square" lIns="0" tIns="0" rIns="0" bIns="0" rtlCol="0" anchor="ctr"/>
          <a:lstStyle/>
          <a:p>
            <a:pPr marL="0" indent="0">
              <a:buNone/>
            </a:pPr>
            <a:r>
              <a:rPr lang="en-US" sz="1150" b="1" dirty="0">
                <a:solidFill>
                  <a:srgbClr val="0B2027"/>
                </a:solidFill>
                <a:latin typeface="Calibri" pitchFamily="34" charset="0"/>
                <a:ea typeface="Calibri" pitchFamily="34" charset="-122"/>
                <a:cs typeface="Calibri" pitchFamily="34" charset="-120"/>
              </a:rPr>
              <a:t>Reporting</a:t>
            </a:r>
            <a:endParaRPr lang="en-US" sz="1150" dirty="0"/>
          </a:p>
        </p:txBody>
      </p:sp>
      <p:sp>
        <p:nvSpPr>
          <p:cNvPr id="31" name="Text 29"/>
          <p:cNvSpPr/>
          <p:nvPr/>
        </p:nvSpPr>
        <p:spPr>
          <a:xfrm>
            <a:off x="3931920" y="5495544"/>
            <a:ext cx="3566160" cy="530352"/>
          </a:xfrm>
          <a:prstGeom prst="rect">
            <a:avLst/>
          </a:prstGeom>
          <a:noFill/>
          <a:ln/>
        </p:spPr>
        <p:txBody>
          <a:bodyPr wrap="square" lIns="0" tIns="0" rIns="0" bIns="0" rtlCol="0" anchor="ctr"/>
          <a:lstStyle/>
          <a:p>
            <a:pPr marL="0" indent="0">
              <a:buNone/>
            </a:pPr>
            <a:r>
              <a:rPr lang="en-US" sz="1150" dirty="0">
                <a:solidFill>
                  <a:srgbClr val="0B2027"/>
                </a:solidFill>
                <a:latin typeface="Calibri" pitchFamily="34" charset="0"/>
                <a:ea typeface="Calibri" pitchFamily="34" charset="-122"/>
                <a:cs typeface="Calibri" pitchFamily="34" charset="-120"/>
              </a:rPr>
              <a:t>Allure — history, categories</a:t>
            </a:r>
            <a:endParaRPr lang="en-US" sz="1150" dirty="0"/>
          </a:p>
        </p:txBody>
      </p:sp>
      <p:sp>
        <p:nvSpPr>
          <p:cNvPr id="32" name="Text 30"/>
          <p:cNvSpPr/>
          <p:nvPr/>
        </p:nvSpPr>
        <p:spPr>
          <a:xfrm>
            <a:off x="7589520" y="5495544"/>
            <a:ext cx="4114800" cy="530352"/>
          </a:xfrm>
          <a:prstGeom prst="rect">
            <a:avLst/>
          </a:prstGeom>
          <a:noFill/>
          <a:ln/>
        </p:spPr>
        <p:txBody>
          <a:bodyPr wrap="square" lIns="0" tIns="0" rIns="0" bIns="0" rtlCol="0" anchor="ctr"/>
          <a:lstStyle/>
          <a:p>
            <a:pPr marL="0" indent="0">
              <a:buNone/>
            </a:pPr>
            <a:r>
              <a:rPr lang="en-US" sz="1150" dirty="0">
                <a:solidFill>
                  <a:srgbClr val="028090"/>
                </a:solidFill>
                <a:latin typeface="Calibri" pitchFamily="34" charset="0"/>
                <a:ea typeface="Calibri" pitchFamily="34" charset="-122"/>
                <a:cs typeface="Calibri" pitchFamily="34" charset="-120"/>
              </a:rPr>
              <a:t>Allure 2.35.2, GitHub Pages</a:t>
            </a:r>
            <a:endParaRPr lang="en-US" sz="1150" dirty="0"/>
          </a:p>
        </p:txBody>
      </p:sp>
      <p:sp>
        <p:nvSpPr>
          <p:cNvPr id="33" name="Text 31"/>
          <p:cNvSpPr/>
          <p:nvPr/>
        </p:nvSpPr>
        <p:spPr>
          <a:xfrm>
            <a:off x="548640" y="6208776"/>
            <a:ext cx="11155680" cy="365760"/>
          </a:xfrm>
          <a:prstGeom prst="rect">
            <a:avLst/>
          </a:prstGeom>
          <a:noFill/>
          <a:ln/>
        </p:spPr>
        <p:txBody>
          <a:bodyPr wrap="square" lIns="0" tIns="0" rIns="0" bIns="0" rtlCol="0" anchor="ctr"/>
          <a:lstStyle/>
          <a:p>
            <a:pPr marL="0" indent="0">
              <a:buNone/>
            </a:pPr>
            <a:r>
              <a:rPr lang="en-US" sz="1100" i="1" dirty="0">
                <a:solidFill>
                  <a:srgbClr val="5C6B6E"/>
                </a:solidFill>
                <a:latin typeface="Calibri" pitchFamily="34" charset="0"/>
                <a:ea typeface="Calibri" pitchFamily="34" charset="-122"/>
                <a:cs typeface="Calibri" pitchFamily="34" charset="-120"/>
              </a:rPr>
              <a:t>MySQL swapped in for Postgres, Java 22 for 21 — both same-family, deliberate substitutions.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10789920" cy="640080"/>
          </a:xfrm>
          <a:prstGeom prst="rect">
            <a:avLst/>
          </a:prstGeom>
          <a:noFill/>
          <a:ln/>
        </p:spPr>
        <p:txBody>
          <a:bodyPr wrap="square" lIns="0" tIns="0" rIns="0" bIns="0" rtlCol="0" anchor="ctr"/>
          <a:lstStyle/>
          <a:p>
            <a:pPr marL="0" indent="0">
              <a:buNone/>
            </a:pPr>
            <a:r>
              <a:rPr lang="en-US" sz="3000" b="1" dirty="0">
                <a:solidFill>
                  <a:srgbClr val="0B2027"/>
                </a:solidFill>
                <a:latin typeface="Cambria" pitchFamily="34" charset="0"/>
                <a:ea typeface="Cambria" pitchFamily="34" charset="-122"/>
                <a:cs typeface="Cambria" pitchFamily="34" charset="-120"/>
              </a:rPr>
              <a:t>The reporting stack</a:t>
            </a:r>
            <a:endParaRPr lang="en-US" sz="3000" dirty="0"/>
          </a:p>
        </p:txBody>
      </p:sp>
      <p:sp>
        <p:nvSpPr>
          <p:cNvPr id="3" name="Text 1"/>
          <p:cNvSpPr/>
          <p:nvPr/>
        </p:nvSpPr>
        <p:spPr>
          <a:xfrm>
            <a:off x="548640" y="1143000"/>
            <a:ext cx="10789920" cy="457200"/>
          </a:xfrm>
          <a:prstGeom prst="rect">
            <a:avLst/>
          </a:prstGeom>
          <a:noFill/>
          <a:ln/>
        </p:spPr>
        <p:txBody>
          <a:bodyPr wrap="square" lIns="0" tIns="0" rIns="0" bIns="0" rtlCol="0" anchor="ctr"/>
          <a:lstStyle/>
          <a:p>
            <a:pPr marL="0" indent="0">
              <a:buNone/>
            </a:pPr>
            <a:r>
              <a:rPr lang="en-US" sz="1500" dirty="0">
                <a:solidFill>
                  <a:srgbClr val="5C6B6E"/>
                </a:solidFill>
                <a:latin typeface="Calibri" pitchFamily="34" charset="0"/>
                <a:ea typeface="Calibri" pitchFamily="34" charset="-122"/>
                <a:cs typeface="Calibri" pitchFamily="34" charset="-120"/>
              </a:rPr>
              <a:t>Three small config files do the real work behind the Allure report.</a:t>
            </a:r>
            <a:endParaRPr lang="en-US" sz="1500" dirty="0"/>
          </a:p>
        </p:txBody>
      </p:sp>
      <p:sp>
        <p:nvSpPr>
          <p:cNvPr id="4" name="Shape 2"/>
          <p:cNvSpPr/>
          <p:nvPr/>
        </p:nvSpPr>
        <p:spPr>
          <a:xfrm>
            <a:off x="548640" y="1965960"/>
            <a:ext cx="3429000" cy="3108960"/>
          </a:xfrm>
          <a:prstGeom prst="roundRect">
            <a:avLst>
              <a:gd name="adj" fmla="val 3529"/>
            </a:avLst>
          </a:prstGeom>
          <a:solidFill>
            <a:srgbClr val="F7FAFA"/>
          </a:solidFill>
          <a:ln/>
          <a:effectLst>
            <a:outerShdw blurRad="101600" dist="38100" dir="5400000" algn="bl" rotWithShape="0">
              <a:srgbClr val="000000">
                <a:alpha val="10000"/>
              </a:srgbClr>
            </a:outerShdw>
          </a:effectLst>
        </p:spPr>
        <p:txBody>
          <a:bodyPr/>
          <a:lstStyle/>
          <a:p>
            <a:endParaRPr lang="en-IN"/>
          </a:p>
        </p:txBody>
      </p:sp>
      <p:sp>
        <p:nvSpPr>
          <p:cNvPr id="5" name="Shape 3"/>
          <p:cNvSpPr/>
          <p:nvPr/>
        </p:nvSpPr>
        <p:spPr>
          <a:xfrm>
            <a:off x="1851660" y="2286000"/>
            <a:ext cx="822960" cy="822960"/>
          </a:xfrm>
          <a:prstGeom prst="ellipse">
            <a:avLst/>
          </a:prstGeom>
          <a:solidFill>
            <a:srgbClr val="028090"/>
          </a:solidFill>
          <a:ln/>
        </p:spPr>
        <p:txBody>
          <a:bodyPr/>
          <a:lstStyle/>
          <a:p>
            <a:endParaRPr lang="en-IN"/>
          </a:p>
        </p:txBody>
      </p:sp>
      <p:pic>
        <p:nvPicPr>
          <p:cNvPr id="6" name="Image 0" descr="/home/claude/deck/icons/settings.png"/>
          <p:cNvPicPr>
            <a:picLocks noChangeAspect="1"/>
          </p:cNvPicPr>
          <p:nvPr/>
        </p:nvPicPr>
        <p:blipFill>
          <a:blip r:embed="rId3"/>
          <a:stretch>
            <a:fillRect/>
          </a:stretch>
        </p:blipFill>
        <p:spPr>
          <a:xfrm>
            <a:off x="2049170" y="2483510"/>
            <a:ext cx="427939" cy="427939"/>
          </a:xfrm>
          <a:prstGeom prst="rect">
            <a:avLst/>
          </a:prstGeom>
        </p:spPr>
      </p:pic>
      <p:sp>
        <p:nvSpPr>
          <p:cNvPr id="7" name="Text 4"/>
          <p:cNvSpPr/>
          <p:nvPr/>
        </p:nvSpPr>
        <p:spPr>
          <a:xfrm>
            <a:off x="731520" y="3291840"/>
            <a:ext cx="3063240" cy="365760"/>
          </a:xfrm>
          <a:prstGeom prst="rect">
            <a:avLst/>
          </a:prstGeom>
          <a:noFill/>
          <a:ln/>
        </p:spPr>
        <p:txBody>
          <a:bodyPr wrap="square" lIns="0" tIns="0" rIns="0" bIns="0" rtlCol="0" anchor="ctr"/>
          <a:lstStyle/>
          <a:p>
            <a:pPr marL="0" indent="0" algn="ctr">
              <a:buNone/>
            </a:pPr>
            <a:r>
              <a:rPr lang="en-US" sz="1400" b="1" dirty="0">
                <a:solidFill>
                  <a:srgbClr val="0B2027"/>
                </a:solidFill>
                <a:latin typeface="Courier New" pitchFamily="34" charset="0"/>
                <a:ea typeface="Courier New" pitchFamily="34" charset="-122"/>
                <a:cs typeface="Courier New" pitchFamily="34" charset="-120"/>
              </a:rPr>
              <a:t>allure.properties</a:t>
            </a:r>
            <a:endParaRPr lang="en-US" sz="1400" dirty="0"/>
          </a:p>
        </p:txBody>
      </p:sp>
      <p:sp>
        <p:nvSpPr>
          <p:cNvPr id="8" name="Text 5"/>
          <p:cNvSpPr/>
          <p:nvPr/>
        </p:nvSpPr>
        <p:spPr>
          <a:xfrm>
            <a:off x="822960" y="3749040"/>
            <a:ext cx="2880360" cy="1188720"/>
          </a:xfrm>
          <a:prstGeom prst="rect">
            <a:avLst/>
          </a:prstGeom>
          <a:noFill/>
          <a:ln/>
        </p:spPr>
        <p:txBody>
          <a:bodyPr wrap="square" lIns="0" tIns="0" rIns="0" bIns="0" rtlCol="0" anchor="ctr"/>
          <a:lstStyle/>
          <a:p>
            <a:pPr marL="0" indent="0" algn="ctr">
              <a:buNone/>
            </a:pPr>
            <a:r>
              <a:rPr lang="en-US" sz="1200" dirty="0">
                <a:solidFill>
                  <a:srgbClr val="5C6B6E"/>
                </a:solidFill>
                <a:latin typeface="Calibri" pitchFamily="34" charset="0"/>
                <a:ea typeface="Calibri" pitchFamily="34" charset="-122"/>
                <a:cs typeface="Calibri" pitchFamily="34" charset="-120"/>
              </a:rPr>
              <a:t>Points Allure at the results directory and links failures back to GitHub issues.</a:t>
            </a:r>
            <a:endParaRPr lang="en-US" sz="1200" dirty="0"/>
          </a:p>
        </p:txBody>
      </p:sp>
      <p:sp>
        <p:nvSpPr>
          <p:cNvPr id="9" name="Shape 6"/>
          <p:cNvSpPr/>
          <p:nvPr/>
        </p:nvSpPr>
        <p:spPr>
          <a:xfrm>
            <a:off x="4251960" y="1965960"/>
            <a:ext cx="3429000" cy="3108960"/>
          </a:xfrm>
          <a:prstGeom prst="roundRect">
            <a:avLst>
              <a:gd name="adj" fmla="val 3529"/>
            </a:avLst>
          </a:prstGeom>
          <a:solidFill>
            <a:srgbClr val="F7FAFA"/>
          </a:solidFill>
          <a:ln/>
          <a:effectLst>
            <a:outerShdw blurRad="101600" dist="38100" dir="5400000" algn="bl" rotWithShape="0">
              <a:srgbClr val="000000">
                <a:alpha val="10000"/>
              </a:srgbClr>
            </a:outerShdw>
          </a:effectLst>
        </p:spPr>
        <p:txBody>
          <a:bodyPr/>
          <a:lstStyle/>
          <a:p>
            <a:endParaRPr lang="en-IN"/>
          </a:p>
        </p:txBody>
      </p:sp>
      <p:sp>
        <p:nvSpPr>
          <p:cNvPr id="10" name="Shape 7"/>
          <p:cNvSpPr/>
          <p:nvPr/>
        </p:nvSpPr>
        <p:spPr>
          <a:xfrm>
            <a:off x="5554980" y="2286000"/>
            <a:ext cx="822960" cy="822960"/>
          </a:xfrm>
          <a:prstGeom prst="ellipse">
            <a:avLst/>
          </a:prstGeom>
          <a:solidFill>
            <a:srgbClr val="028090"/>
          </a:solidFill>
          <a:ln/>
        </p:spPr>
        <p:txBody>
          <a:bodyPr/>
          <a:lstStyle/>
          <a:p>
            <a:endParaRPr lang="en-IN"/>
          </a:p>
        </p:txBody>
      </p:sp>
      <p:pic>
        <p:nvPicPr>
          <p:cNvPr id="11" name="Image 1" descr="/home/claude/deck/icons/clipboard.png"/>
          <p:cNvPicPr>
            <a:picLocks noChangeAspect="1"/>
          </p:cNvPicPr>
          <p:nvPr/>
        </p:nvPicPr>
        <p:blipFill>
          <a:blip r:embed="rId4"/>
          <a:stretch>
            <a:fillRect/>
          </a:stretch>
        </p:blipFill>
        <p:spPr>
          <a:xfrm>
            <a:off x="5752490" y="2483510"/>
            <a:ext cx="427939" cy="427939"/>
          </a:xfrm>
          <a:prstGeom prst="rect">
            <a:avLst/>
          </a:prstGeom>
        </p:spPr>
      </p:pic>
      <p:sp>
        <p:nvSpPr>
          <p:cNvPr id="12" name="Text 8"/>
          <p:cNvSpPr/>
          <p:nvPr/>
        </p:nvSpPr>
        <p:spPr>
          <a:xfrm>
            <a:off x="4434840" y="3291840"/>
            <a:ext cx="3063240" cy="365760"/>
          </a:xfrm>
          <a:prstGeom prst="rect">
            <a:avLst/>
          </a:prstGeom>
          <a:noFill/>
          <a:ln/>
        </p:spPr>
        <p:txBody>
          <a:bodyPr wrap="square" lIns="0" tIns="0" rIns="0" bIns="0" rtlCol="0" anchor="ctr"/>
          <a:lstStyle/>
          <a:p>
            <a:pPr marL="0" indent="0" algn="ctr">
              <a:buNone/>
            </a:pPr>
            <a:r>
              <a:rPr lang="en-US" sz="1400" b="1" dirty="0">
                <a:solidFill>
                  <a:srgbClr val="0B2027"/>
                </a:solidFill>
                <a:latin typeface="Courier New" pitchFamily="34" charset="0"/>
                <a:ea typeface="Courier New" pitchFamily="34" charset="-122"/>
                <a:cs typeface="Courier New" pitchFamily="34" charset="-120"/>
              </a:rPr>
              <a:t>categories.json</a:t>
            </a:r>
            <a:endParaRPr lang="en-US" sz="1400" dirty="0"/>
          </a:p>
        </p:txBody>
      </p:sp>
      <p:sp>
        <p:nvSpPr>
          <p:cNvPr id="13" name="Text 9"/>
          <p:cNvSpPr/>
          <p:nvPr/>
        </p:nvSpPr>
        <p:spPr>
          <a:xfrm>
            <a:off x="4526280" y="3749040"/>
            <a:ext cx="2880360" cy="1188720"/>
          </a:xfrm>
          <a:prstGeom prst="rect">
            <a:avLst/>
          </a:prstGeom>
          <a:noFill/>
          <a:ln/>
        </p:spPr>
        <p:txBody>
          <a:bodyPr wrap="square" lIns="0" tIns="0" rIns="0" bIns="0" rtlCol="0" anchor="ctr"/>
          <a:lstStyle/>
          <a:p>
            <a:pPr marL="0" indent="0" algn="ctr">
              <a:buNone/>
            </a:pPr>
            <a:r>
              <a:rPr lang="en-US" sz="1200" dirty="0">
                <a:solidFill>
                  <a:srgbClr val="5C6B6E"/>
                </a:solidFill>
                <a:latin typeface="Calibri" pitchFamily="34" charset="0"/>
                <a:ea typeface="Calibri" pitchFamily="34" charset="-122"/>
                <a:cs typeface="Calibri" pitchFamily="34" charset="-120"/>
              </a:rPr>
              <a:t>Groups failures into Product defect, Test defect, and Flaky — instead of one big red pile.</a:t>
            </a:r>
            <a:endParaRPr lang="en-US" sz="1200" dirty="0"/>
          </a:p>
        </p:txBody>
      </p:sp>
      <p:sp>
        <p:nvSpPr>
          <p:cNvPr id="14" name="Shape 10"/>
          <p:cNvSpPr/>
          <p:nvPr/>
        </p:nvSpPr>
        <p:spPr>
          <a:xfrm>
            <a:off x="7955280" y="1965960"/>
            <a:ext cx="3429000" cy="3108960"/>
          </a:xfrm>
          <a:prstGeom prst="roundRect">
            <a:avLst>
              <a:gd name="adj" fmla="val 3529"/>
            </a:avLst>
          </a:prstGeom>
          <a:solidFill>
            <a:srgbClr val="F7FAFA"/>
          </a:solidFill>
          <a:ln/>
          <a:effectLst>
            <a:outerShdw blurRad="101600" dist="38100" dir="5400000" algn="bl" rotWithShape="0">
              <a:srgbClr val="000000">
                <a:alpha val="10000"/>
              </a:srgbClr>
            </a:outerShdw>
          </a:effectLst>
        </p:spPr>
        <p:txBody>
          <a:bodyPr/>
          <a:lstStyle/>
          <a:p>
            <a:endParaRPr lang="en-IN"/>
          </a:p>
        </p:txBody>
      </p:sp>
      <p:sp>
        <p:nvSpPr>
          <p:cNvPr id="15" name="Shape 11"/>
          <p:cNvSpPr/>
          <p:nvPr/>
        </p:nvSpPr>
        <p:spPr>
          <a:xfrm>
            <a:off x="9258300" y="2286000"/>
            <a:ext cx="822960" cy="822960"/>
          </a:xfrm>
          <a:prstGeom prst="ellipse">
            <a:avLst/>
          </a:prstGeom>
          <a:solidFill>
            <a:srgbClr val="028090"/>
          </a:solidFill>
          <a:ln/>
        </p:spPr>
        <p:txBody>
          <a:bodyPr/>
          <a:lstStyle/>
          <a:p>
            <a:endParaRPr lang="en-IN"/>
          </a:p>
        </p:txBody>
      </p:sp>
      <p:pic>
        <p:nvPicPr>
          <p:cNvPr id="16" name="Image 2" descr="/home/claude/deck/icons/clock.png"/>
          <p:cNvPicPr>
            <a:picLocks noChangeAspect="1"/>
          </p:cNvPicPr>
          <p:nvPr/>
        </p:nvPicPr>
        <p:blipFill>
          <a:blip r:embed="rId5"/>
          <a:stretch>
            <a:fillRect/>
          </a:stretch>
        </p:blipFill>
        <p:spPr>
          <a:xfrm>
            <a:off x="9455810" y="2483510"/>
            <a:ext cx="427939" cy="427939"/>
          </a:xfrm>
          <a:prstGeom prst="rect">
            <a:avLst/>
          </a:prstGeom>
        </p:spPr>
      </p:pic>
      <p:sp>
        <p:nvSpPr>
          <p:cNvPr id="17" name="Text 12"/>
          <p:cNvSpPr/>
          <p:nvPr/>
        </p:nvSpPr>
        <p:spPr>
          <a:xfrm>
            <a:off x="8138160" y="3291840"/>
            <a:ext cx="3063240" cy="365760"/>
          </a:xfrm>
          <a:prstGeom prst="rect">
            <a:avLst/>
          </a:prstGeom>
          <a:noFill/>
          <a:ln/>
        </p:spPr>
        <p:txBody>
          <a:bodyPr wrap="square" lIns="0" tIns="0" rIns="0" bIns="0" rtlCol="0" anchor="ctr"/>
          <a:lstStyle/>
          <a:p>
            <a:pPr marL="0" indent="0" algn="ctr">
              <a:buNone/>
            </a:pPr>
            <a:r>
              <a:rPr lang="en-US" sz="1400" b="1" dirty="0">
                <a:solidFill>
                  <a:srgbClr val="0B2027"/>
                </a:solidFill>
                <a:latin typeface="Courier New" pitchFamily="34" charset="0"/>
                <a:ea typeface="Courier New" pitchFamily="34" charset="-122"/>
                <a:cs typeface="Courier New" pitchFamily="34" charset="-120"/>
              </a:rPr>
              <a:t>environment.properties</a:t>
            </a:r>
            <a:endParaRPr lang="en-US" sz="1400" dirty="0"/>
          </a:p>
        </p:txBody>
      </p:sp>
      <p:sp>
        <p:nvSpPr>
          <p:cNvPr id="18" name="Text 13"/>
          <p:cNvSpPr/>
          <p:nvPr/>
        </p:nvSpPr>
        <p:spPr>
          <a:xfrm>
            <a:off x="8229600" y="3749040"/>
            <a:ext cx="2880360" cy="1188720"/>
          </a:xfrm>
          <a:prstGeom prst="rect">
            <a:avLst/>
          </a:prstGeom>
          <a:noFill/>
          <a:ln/>
        </p:spPr>
        <p:txBody>
          <a:bodyPr wrap="square" lIns="0" tIns="0" rIns="0" bIns="0" rtlCol="0" anchor="ctr"/>
          <a:lstStyle/>
          <a:p>
            <a:pPr marL="0" indent="0" algn="ctr">
              <a:buNone/>
            </a:pPr>
            <a:r>
              <a:rPr lang="en-US" sz="1200" dirty="0">
                <a:solidFill>
                  <a:srgbClr val="5C6B6E"/>
                </a:solidFill>
                <a:latin typeface="Calibri" pitchFamily="34" charset="0"/>
                <a:ea typeface="Calibri" pitchFamily="34" charset="-122"/>
                <a:cs typeface="Calibri" pitchFamily="34" charset="-120"/>
              </a:rPr>
              <a:t>Stamps every report with the stack, environment, and browser it ran against.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2027"/>
        </a:solidFill>
        <a:effectLst/>
      </p:bgPr>
    </p:bg>
    <p:spTree>
      <p:nvGrpSpPr>
        <p:cNvPr id="1" name=""/>
        <p:cNvGrpSpPr/>
        <p:nvPr/>
      </p:nvGrpSpPr>
      <p:grpSpPr>
        <a:xfrm>
          <a:off x="0" y="0"/>
          <a:ext cx="0" cy="0"/>
          <a:chOff x="0" y="0"/>
          <a:chExt cx="0" cy="0"/>
        </a:xfrm>
      </p:grpSpPr>
      <p:sp>
        <p:nvSpPr>
          <p:cNvPr id="2" name="Text 0"/>
          <p:cNvSpPr/>
          <p:nvPr/>
        </p:nvSpPr>
        <p:spPr>
          <a:xfrm>
            <a:off x="548640" y="457200"/>
            <a:ext cx="10789920"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The CI pipeline</a:t>
            </a:r>
            <a:endParaRPr lang="en-US" sz="3000" dirty="0"/>
          </a:p>
        </p:txBody>
      </p:sp>
      <p:sp>
        <p:nvSpPr>
          <p:cNvPr id="3" name="Text 1"/>
          <p:cNvSpPr/>
          <p:nvPr/>
        </p:nvSpPr>
        <p:spPr>
          <a:xfrm>
            <a:off x="548640" y="1143000"/>
            <a:ext cx="10789920" cy="457200"/>
          </a:xfrm>
          <a:prstGeom prst="rect">
            <a:avLst/>
          </a:prstGeom>
          <a:noFill/>
          <a:ln/>
        </p:spPr>
        <p:txBody>
          <a:bodyPr wrap="square" lIns="0" tIns="0" rIns="0" bIns="0" rtlCol="0" anchor="ctr"/>
          <a:lstStyle/>
          <a:p>
            <a:pPr marL="0" indent="0">
              <a:buNone/>
            </a:pPr>
            <a:r>
              <a:rPr lang="en-US" sz="1500" dirty="0">
                <a:solidFill>
                  <a:srgbClr val="B9D6D6"/>
                </a:solidFill>
                <a:latin typeface="Calibri" pitchFamily="34" charset="0"/>
                <a:ea typeface="Calibri" pitchFamily="34" charset="-122"/>
                <a:cs typeface="Calibri" pitchFamily="34" charset="-120"/>
              </a:rPr>
              <a:t>Every push runs the suite and republishes the report — no manual step.</a:t>
            </a:r>
            <a:endParaRPr lang="en-US" sz="1500" dirty="0"/>
          </a:p>
        </p:txBody>
      </p:sp>
      <p:sp>
        <p:nvSpPr>
          <p:cNvPr id="4" name="Shape 2"/>
          <p:cNvSpPr/>
          <p:nvPr/>
        </p:nvSpPr>
        <p:spPr>
          <a:xfrm>
            <a:off x="768096" y="2651760"/>
            <a:ext cx="2286000" cy="1554480"/>
          </a:xfrm>
          <a:prstGeom prst="roundRect">
            <a:avLst>
              <a:gd name="adj" fmla="val 7059"/>
            </a:avLst>
          </a:prstGeom>
          <a:solidFill>
            <a:srgbClr val="13323A"/>
          </a:solidFill>
          <a:ln/>
        </p:spPr>
        <p:txBody>
          <a:bodyPr/>
          <a:lstStyle/>
          <a:p>
            <a:endParaRPr lang="en-IN"/>
          </a:p>
        </p:txBody>
      </p:sp>
      <p:sp>
        <p:nvSpPr>
          <p:cNvPr id="5" name="Shape 3"/>
          <p:cNvSpPr/>
          <p:nvPr/>
        </p:nvSpPr>
        <p:spPr>
          <a:xfrm>
            <a:off x="1591056" y="2880360"/>
            <a:ext cx="640080" cy="640080"/>
          </a:xfrm>
          <a:prstGeom prst="ellipse">
            <a:avLst/>
          </a:prstGeom>
          <a:solidFill>
            <a:srgbClr val="02C39A"/>
          </a:solidFill>
          <a:ln/>
        </p:spPr>
        <p:txBody>
          <a:bodyPr/>
          <a:lstStyle/>
          <a:p>
            <a:endParaRPr lang="en-IN"/>
          </a:p>
        </p:txBody>
      </p:sp>
      <p:pic>
        <p:nvPicPr>
          <p:cNvPr id="6" name="Image 0" descr="/home/claude/deck/icons/github.png"/>
          <p:cNvPicPr>
            <a:picLocks noChangeAspect="1"/>
          </p:cNvPicPr>
          <p:nvPr/>
        </p:nvPicPr>
        <p:blipFill>
          <a:blip r:embed="rId3"/>
          <a:stretch>
            <a:fillRect/>
          </a:stretch>
        </p:blipFill>
        <p:spPr>
          <a:xfrm>
            <a:off x="1744675" y="3033979"/>
            <a:ext cx="332842" cy="332842"/>
          </a:xfrm>
          <a:prstGeom prst="rect">
            <a:avLst/>
          </a:prstGeom>
        </p:spPr>
      </p:pic>
      <p:sp>
        <p:nvSpPr>
          <p:cNvPr id="7" name="Text 4"/>
          <p:cNvSpPr/>
          <p:nvPr/>
        </p:nvSpPr>
        <p:spPr>
          <a:xfrm>
            <a:off x="905256" y="3611880"/>
            <a:ext cx="2011680" cy="50292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Push to GitHub</a:t>
            </a:r>
            <a:endParaRPr lang="en-US" sz="1250" dirty="0"/>
          </a:p>
        </p:txBody>
      </p:sp>
      <p:sp>
        <p:nvSpPr>
          <p:cNvPr id="8" name="Text 5"/>
          <p:cNvSpPr/>
          <p:nvPr/>
        </p:nvSpPr>
        <p:spPr>
          <a:xfrm>
            <a:off x="3054096" y="3154680"/>
            <a:ext cx="502920" cy="548640"/>
          </a:xfrm>
          <a:prstGeom prst="rect">
            <a:avLst/>
          </a:prstGeom>
          <a:noFill/>
          <a:ln/>
        </p:spPr>
        <p:txBody>
          <a:bodyPr wrap="square" lIns="0" tIns="0" rIns="0" bIns="0" rtlCol="0" anchor="ctr"/>
          <a:lstStyle/>
          <a:p>
            <a:pPr marL="0" indent="0" algn="ctr">
              <a:buNone/>
            </a:pPr>
            <a:r>
              <a:rPr lang="en-US" sz="2200" dirty="0">
                <a:solidFill>
                  <a:srgbClr val="02C39A"/>
                </a:solidFill>
                <a:latin typeface="Calibri" pitchFamily="34" charset="0"/>
                <a:ea typeface="Calibri" pitchFamily="34" charset="-122"/>
                <a:cs typeface="Calibri" pitchFamily="34" charset="-120"/>
              </a:rPr>
              <a:t>→</a:t>
            </a:r>
            <a:endParaRPr lang="en-US" sz="2200" dirty="0"/>
          </a:p>
        </p:txBody>
      </p:sp>
      <p:sp>
        <p:nvSpPr>
          <p:cNvPr id="9" name="Shape 6"/>
          <p:cNvSpPr/>
          <p:nvPr/>
        </p:nvSpPr>
        <p:spPr>
          <a:xfrm>
            <a:off x="3557016" y="2651760"/>
            <a:ext cx="2286000" cy="1554480"/>
          </a:xfrm>
          <a:prstGeom prst="roundRect">
            <a:avLst>
              <a:gd name="adj" fmla="val 7059"/>
            </a:avLst>
          </a:prstGeom>
          <a:solidFill>
            <a:srgbClr val="13323A"/>
          </a:solidFill>
          <a:ln/>
        </p:spPr>
        <p:txBody>
          <a:bodyPr/>
          <a:lstStyle/>
          <a:p>
            <a:endParaRPr lang="en-IN"/>
          </a:p>
        </p:txBody>
      </p:sp>
      <p:sp>
        <p:nvSpPr>
          <p:cNvPr id="10" name="Shape 7"/>
          <p:cNvSpPr/>
          <p:nvPr/>
        </p:nvSpPr>
        <p:spPr>
          <a:xfrm>
            <a:off x="4379976" y="2880360"/>
            <a:ext cx="640080" cy="640080"/>
          </a:xfrm>
          <a:prstGeom prst="ellipse">
            <a:avLst/>
          </a:prstGeom>
          <a:solidFill>
            <a:srgbClr val="02C39A"/>
          </a:solidFill>
          <a:ln/>
        </p:spPr>
        <p:txBody>
          <a:bodyPr/>
          <a:lstStyle/>
          <a:p>
            <a:endParaRPr lang="en-IN"/>
          </a:p>
        </p:txBody>
      </p:sp>
      <p:pic>
        <p:nvPicPr>
          <p:cNvPr id="11" name="Image 1" descr="/home/claude/deck/icons/settings.png"/>
          <p:cNvPicPr>
            <a:picLocks noChangeAspect="1"/>
          </p:cNvPicPr>
          <p:nvPr/>
        </p:nvPicPr>
        <p:blipFill>
          <a:blip r:embed="rId4"/>
          <a:stretch>
            <a:fillRect/>
          </a:stretch>
        </p:blipFill>
        <p:spPr>
          <a:xfrm>
            <a:off x="4533595" y="3033979"/>
            <a:ext cx="332842" cy="332842"/>
          </a:xfrm>
          <a:prstGeom prst="rect">
            <a:avLst/>
          </a:prstGeom>
        </p:spPr>
      </p:pic>
      <p:sp>
        <p:nvSpPr>
          <p:cNvPr id="12" name="Text 8"/>
          <p:cNvSpPr/>
          <p:nvPr/>
        </p:nvSpPr>
        <p:spPr>
          <a:xfrm>
            <a:off x="3694176" y="3611880"/>
            <a:ext cx="2011680" cy="50292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Actions runs ./gradlew test</a:t>
            </a:r>
            <a:endParaRPr lang="en-US" sz="1250" dirty="0"/>
          </a:p>
        </p:txBody>
      </p:sp>
      <p:sp>
        <p:nvSpPr>
          <p:cNvPr id="13" name="Text 9"/>
          <p:cNvSpPr/>
          <p:nvPr/>
        </p:nvSpPr>
        <p:spPr>
          <a:xfrm>
            <a:off x="5843016" y="3154680"/>
            <a:ext cx="502920" cy="548640"/>
          </a:xfrm>
          <a:prstGeom prst="rect">
            <a:avLst/>
          </a:prstGeom>
          <a:noFill/>
          <a:ln/>
        </p:spPr>
        <p:txBody>
          <a:bodyPr wrap="square" lIns="0" tIns="0" rIns="0" bIns="0" rtlCol="0" anchor="ctr"/>
          <a:lstStyle/>
          <a:p>
            <a:pPr marL="0" indent="0" algn="ctr">
              <a:buNone/>
            </a:pPr>
            <a:r>
              <a:rPr lang="en-US" sz="2200" dirty="0">
                <a:solidFill>
                  <a:srgbClr val="02C39A"/>
                </a:solidFill>
                <a:latin typeface="Calibri" pitchFamily="34" charset="0"/>
                <a:ea typeface="Calibri" pitchFamily="34" charset="-122"/>
                <a:cs typeface="Calibri" pitchFamily="34" charset="-120"/>
              </a:rPr>
              <a:t>→</a:t>
            </a:r>
            <a:endParaRPr lang="en-US" sz="2200" dirty="0"/>
          </a:p>
        </p:txBody>
      </p:sp>
      <p:sp>
        <p:nvSpPr>
          <p:cNvPr id="14" name="Shape 10"/>
          <p:cNvSpPr/>
          <p:nvPr/>
        </p:nvSpPr>
        <p:spPr>
          <a:xfrm>
            <a:off x="6345936" y="2651760"/>
            <a:ext cx="2286000" cy="1554480"/>
          </a:xfrm>
          <a:prstGeom prst="roundRect">
            <a:avLst>
              <a:gd name="adj" fmla="val 7059"/>
            </a:avLst>
          </a:prstGeom>
          <a:solidFill>
            <a:srgbClr val="13323A"/>
          </a:solidFill>
          <a:ln/>
        </p:spPr>
        <p:txBody>
          <a:bodyPr/>
          <a:lstStyle/>
          <a:p>
            <a:endParaRPr lang="en-IN"/>
          </a:p>
        </p:txBody>
      </p:sp>
      <p:sp>
        <p:nvSpPr>
          <p:cNvPr id="15" name="Shape 11"/>
          <p:cNvSpPr/>
          <p:nvPr/>
        </p:nvSpPr>
        <p:spPr>
          <a:xfrm>
            <a:off x="7168896" y="2880360"/>
            <a:ext cx="640080" cy="640080"/>
          </a:xfrm>
          <a:prstGeom prst="ellipse">
            <a:avLst/>
          </a:prstGeom>
          <a:solidFill>
            <a:srgbClr val="02C39A"/>
          </a:solidFill>
          <a:ln/>
        </p:spPr>
        <p:txBody>
          <a:bodyPr/>
          <a:lstStyle/>
          <a:p>
            <a:endParaRPr lang="en-IN"/>
          </a:p>
        </p:txBody>
      </p:sp>
      <p:pic>
        <p:nvPicPr>
          <p:cNvPr id="16" name="Image 2" descr="/home/claude/deck/icons/chart.png"/>
          <p:cNvPicPr>
            <a:picLocks noChangeAspect="1"/>
          </p:cNvPicPr>
          <p:nvPr/>
        </p:nvPicPr>
        <p:blipFill>
          <a:blip r:embed="rId5"/>
          <a:stretch>
            <a:fillRect/>
          </a:stretch>
        </p:blipFill>
        <p:spPr>
          <a:xfrm>
            <a:off x="7322515" y="3033979"/>
            <a:ext cx="332842" cy="332842"/>
          </a:xfrm>
          <a:prstGeom prst="rect">
            <a:avLst/>
          </a:prstGeom>
        </p:spPr>
      </p:pic>
      <p:sp>
        <p:nvSpPr>
          <p:cNvPr id="17" name="Text 12"/>
          <p:cNvSpPr/>
          <p:nvPr/>
        </p:nvSpPr>
        <p:spPr>
          <a:xfrm>
            <a:off x="6483096" y="3611880"/>
            <a:ext cx="2011680" cy="50292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Allure report generated</a:t>
            </a:r>
            <a:endParaRPr lang="en-US" sz="1250" dirty="0"/>
          </a:p>
        </p:txBody>
      </p:sp>
      <p:sp>
        <p:nvSpPr>
          <p:cNvPr id="18" name="Text 13"/>
          <p:cNvSpPr/>
          <p:nvPr/>
        </p:nvSpPr>
        <p:spPr>
          <a:xfrm>
            <a:off x="8631936" y="3154680"/>
            <a:ext cx="502920" cy="548640"/>
          </a:xfrm>
          <a:prstGeom prst="rect">
            <a:avLst/>
          </a:prstGeom>
          <a:noFill/>
          <a:ln/>
        </p:spPr>
        <p:txBody>
          <a:bodyPr wrap="square" lIns="0" tIns="0" rIns="0" bIns="0" rtlCol="0" anchor="ctr"/>
          <a:lstStyle/>
          <a:p>
            <a:pPr marL="0" indent="0" algn="ctr">
              <a:buNone/>
            </a:pPr>
            <a:r>
              <a:rPr lang="en-US" sz="2200" dirty="0">
                <a:solidFill>
                  <a:srgbClr val="02C39A"/>
                </a:solidFill>
                <a:latin typeface="Calibri" pitchFamily="34" charset="0"/>
                <a:ea typeface="Calibri" pitchFamily="34" charset="-122"/>
                <a:cs typeface="Calibri" pitchFamily="34" charset="-120"/>
              </a:rPr>
              <a:t>→</a:t>
            </a:r>
            <a:endParaRPr lang="en-US" sz="2200" dirty="0"/>
          </a:p>
        </p:txBody>
      </p:sp>
      <p:sp>
        <p:nvSpPr>
          <p:cNvPr id="19" name="Shape 14"/>
          <p:cNvSpPr/>
          <p:nvPr/>
        </p:nvSpPr>
        <p:spPr>
          <a:xfrm>
            <a:off x="9134856" y="2651760"/>
            <a:ext cx="2286000" cy="1554480"/>
          </a:xfrm>
          <a:prstGeom prst="roundRect">
            <a:avLst>
              <a:gd name="adj" fmla="val 7059"/>
            </a:avLst>
          </a:prstGeom>
          <a:solidFill>
            <a:srgbClr val="13323A"/>
          </a:solidFill>
          <a:ln/>
        </p:spPr>
        <p:txBody>
          <a:bodyPr/>
          <a:lstStyle/>
          <a:p>
            <a:endParaRPr lang="en-IN"/>
          </a:p>
        </p:txBody>
      </p:sp>
      <p:sp>
        <p:nvSpPr>
          <p:cNvPr id="20" name="Shape 15"/>
          <p:cNvSpPr/>
          <p:nvPr/>
        </p:nvSpPr>
        <p:spPr>
          <a:xfrm>
            <a:off x="9957816" y="2880360"/>
            <a:ext cx="640080" cy="640080"/>
          </a:xfrm>
          <a:prstGeom prst="ellipse">
            <a:avLst/>
          </a:prstGeom>
          <a:solidFill>
            <a:srgbClr val="02C39A"/>
          </a:solidFill>
          <a:ln/>
        </p:spPr>
        <p:txBody>
          <a:bodyPr/>
          <a:lstStyle/>
          <a:p>
            <a:endParaRPr lang="en-IN"/>
          </a:p>
        </p:txBody>
      </p:sp>
      <p:pic>
        <p:nvPicPr>
          <p:cNvPr id="21" name="Image 3" descr="/home/claude/deck/icons/cloud.png"/>
          <p:cNvPicPr>
            <a:picLocks noChangeAspect="1"/>
          </p:cNvPicPr>
          <p:nvPr/>
        </p:nvPicPr>
        <p:blipFill>
          <a:blip r:embed="rId6"/>
          <a:stretch>
            <a:fillRect/>
          </a:stretch>
        </p:blipFill>
        <p:spPr>
          <a:xfrm>
            <a:off x="10111435" y="3033979"/>
            <a:ext cx="332842" cy="332842"/>
          </a:xfrm>
          <a:prstGeom prst="rect">
            <a:avLst/>
          </a:prstGeom>
        </p:spPr>
      </p:pic>
      <p:sp>
        <p:nvSpPr>
          <p:cNvPr id="22" name="Text 16"/>
          <p:cNvSpPr/>
          <p:nvPr/>
        </p:nvSpPr>
        <p:spPr>
          <a:xfrm>
            <a:off x="9272016" y="3611880"/>
            <a:ext cx="2011680" cy="50292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Published to GitHub Pages</a:t>
            </a:r>
            <a:endParaRPr lang="en-US" sz="1250" dirty="0"/>
          </a:p>
        </p:txBody>
      </p:sp>
      <p:sp>
        <p:nvSpPr>
          <p:cNvPr id="23" name="Text 17"/>
          <p:cNvSpPr/>
          <p:nvPr/>
        </p:nvSpPr>
        <p:spPr>
          <a:xfrm>
            <a:off x="548640" y="4937760"/>
            <a:ext cx="11091672" cy="457200"/>
          </a:xfrm>
          <a:prstGeom prst="rect">
            <a:avLst/>
          </a:prstGeom>
          <a:noFill/>
          <a:ln/>
        </p:spPr>
        <p:txBody>
          <a:bodyPr wrap="square" lIns="0" tIns="0" rIns="0" bIns="0" rtlCol="0" anchor="ctr"/>
          <a:lstStyle/>
          <a:p>
            <a:pPr marL="0" indent="0" algn="ctr">
              <a:buNone/>
            </a:pPr>
            <a:r>
              <a:rPr lang="en-US" sz="1300" dirty="0">
                <a:solidFill>
                  <a:srgbClr val="00A896"/>
                </a:solidFill>
                <a:latin typeface="Courier New" pitchFamily="34" charset="0"/>
                <a:ea typeface="Courier New" pitchFamily="34" charset="-122"/>
                <a:cs typeface="Courier New" pitchFamily="34" charset="-120"/>
              </a:rPr>
              <a:t>Live at: manjushree12345.github.io/shopkart-automation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10789920" cy="640080"/>
          </a:xfrm>
          <a:prstGeom prst="rect">
            <a:avLst/>
          </a:prstGeom>
          <a:noFill/>
          <a:ln/>
        </p:spPr>
        <p:txBody>
          <a:bodyPr wrap="square" lIns="0" tIns="0" rIns="0" bIns="0" rtlCol="0" anchor="ctr"/>
          <a:lstStyle/>
          <a:p>
            <a:pPr marL="0" indent="0">
              <a:buNone/>
            </a:pPr>
            <a:r>
              <a:rPr lang="en-US" sz="3000" b="1" dirty="0">
                <a:solidFill>
                  <a:srgbClr val="0B2027"/>
                </a:solidFill>
                <a:latin typeface="Cambria" pitchFamily="34" charset="0"/>
                <a:ea typeface="Cambria" pitchFamily="34" charset="-122"/>
                <a:cs typeface="Cambria" pitchFamily="34" charset="-120"/>
              </a:rPr>
              <a:t>The live report</a:t>
            </a:r>
            <a:endParaRPr lang="en-US" sz="3000" dirty="0"/>
          </a:p>
        </p:txBody>
      </p:sp>
      <p:sp>
        <p:nvSpPr>
          <p:cNvPr id="3" name="Text 1"/>
          <p:cNvSpPr/>
          <p:nvPr/>
        </p:nvSpPr>
        <p:spPr>
          <a:xfrm>
            <a:off x="548640" y="1143000"/>
            <a:ext cx="10789920" cy="457200"/>
          </a:xfrm>
          <a:prstGeom prst="rect">
            <a:avLst/>
          </a:prstGeom>
          <a:noFill/>
          <a:ln/>
        </p:spPr>
        <p:txBody>
          <a:bodyPr wrap="square" lIns="0" tIns="0" rIns="0" bIns="0" rtlCol="0" anchor="ctr"/>
          <a:lstStyle/>
          <a:p>
            <a:pPr marL="0" indent="0">
              <a:buNone/>
            </a:pPr>
            <a:r>
              <a:rPr lang="en-US" sz="1500" dirty="0">
                <a:solidFill>
                  <a:srgbClr val="5C6B6E"/>
                </a:solidFill>
                <a:latin typeface="Calibri" pitchFamily="34" charset="0"/>
                <a:ea typeface="Calibri" pitchFamily="34" charset="-122"/>
                <a:cs typeface="Calibri" pitchFamily="34" charset="-120"/>
              </a:rPr>
              <a:t>Overview screen — first thing a reviewer sees.</a:t>
            </a:r>
            <a:endParaRPr lang="en-US" sz="1500" dirty="0"/>
          </a:p>
        </p:txBody>
      </p:sp>
      <p:sp>
        <p:nvSpPr>
          <p:cNvPr id="4" name="Shape 2"/>
          <p:cNvSpPr/>
          <p:nvPr/>
        </p:nvSpPr>
        <p:spPr>
          <a:xfrm>
            <a:off x="548640" y="1828800"/>
            <a:ext cx="5760720" cy="4206240"/>
          </a:xfrm>
          <a:prstGeom prst="roundRect">
            <a:avLst>
              <a:gd name="adj" fmla="val 2609"/>
            </a:avLst>
          </a:prstGeom>
          <a:solidFill>
            <a:srgbClr val="F7FAFA"/>
          </a:solidFill>
          <a:ln/>
        </p:spPr>
        <p:txBody>
          <a:bodyPr/>
          <a:lstStyle/>
          <a:p>
            <a:endParaRPr lang="en-IN"/>
          </a:p>
        </p:txBody>
      </p:sp>
      <p:sp>
        <p:nvSpPr>
          <p:cNvPr id="5" name="Text 3"/>
          <p:cNvSpPr/>
          <p:nvPr/>
        </p:nvSpPr>
        <p:spPr>
          <a:xfrm>
            <a:off x="868680" y="2057400"/>
            <a:ext cx="5120640" cy="365760"/>
          </a:xfrm>
          <a:prstGeom prst="rect">
            <a:avLst/>
          </a:prstGeom>
          <a:noFill/>
          <a:ln/>
        </p:spPr>
        <p:txBody>
          <a:bodyPr wrap="square" lIns="0" tIns="0" rIns="0" bIns="0" rtlCol="0" anchor="ctr"/>
          <a:lstStyle/>
          <a:p>
            <a:pPr marL="0" indent="0">
              <a:buNone/>
            </a:pPr>
            <a:r>
              <a:rPr lang="en-US" sz="1500" b="1" dirty="0">
                <a:solidFill>
                  <a:srgbClr val="0B2027"/>
                </a:solidFill>
                <a:latin typeface="Calibri" pitchFamily="34" charset="0"/>
                <a:ea typeface="Calibri" pitchFamily="34" charset="-122"/>
                <a:cs typeface="Calibri" pitchFamily="34" charset="-120"/>
              </a:rPr>
              <a:t>Allure Report with history</a:t>
            </a:r>
            <a:endParaRPr lang="en-US" sz="1500" dirty="0"/>
          </a:p>
        </p:txBody>
      </p:sp>
      <p:sp>
        <p:nvSpPr>
          <p:cNvPr id="6" name="Text 4"/>
          <p:cNvSpPr/>
          <p:nvPr/>
        </p:nvSpPr>
        <p:spPr>
          <a:xfrm>
            <a:off x="868680" y="2423160"/>
            <a:ext cx="5120640" cy="320040"/>
          </a:xfrm>
          <a:prstGeom prst="rect">
            <a:avLst/>
          </a:prstGeom>
          <a:noFill/>
          <a:ln/>
        </p:spPr>
        <p:txBody>
          <a:bodyPr wrap="square" lIns="0" tIns="0" rIns="0" bIns="0" rtlCol="0" anchor="ctr"/>
          <a:lstStyle/>
          <a:p>
            <a:pPr marL="0" indent="0">
              <a:buNone/>
            </a:pPr>
            <a:r>
              <a:rPr lang="en-US" sz="1150" dirty="0">
                <a:solidFill>
                  <a:srgbClr val="5C6B6E"/>
                </a:solidFill>
                <a:latin typeface="Calibri" pitchFamily="34" charset="0"/>
                <a:ea typeface="Calibri" pitchFamily="34" charset="-122"/>
                <a:cs typeface="Calibri" pitchFamily="34" charset="-120"/>
              </a:rPr>
              <a:t>Run: 23:04:52 (153ms)</a:t>
            </a:r>
            <a:endParaRPr lang="en-US" sz="1150" dirty="0"/>
          </a:p>
        </p:txBody>
      </p:sp>
      <p:sp>
        <p:nvSpPr>
          <p:cNvPr id="7" name="Shape 5"/>
          <p:cNvSpPr/>
          <p:nvPr/>
        </p:nvSpPr>
        <p:spPr>
          <a:xfrm>
            <a:off x="1188720" y="2880360"/>
            <a:ext cx="1920240" cy="1920240"/>
          </a:xfrm>
          <a:prstGeom prst="ellipse">
            <a:avLst/>
          </a:prstGeom>
          <a:solidFill>
            <a:srgbClr val="FFFFFF"/>
          </a:solidFill>
          <a:ln w="76200">
            <a:solidFill>
              <a:srgbClr val="02C39A"/>
            </a:solidFill>
            <a:prstDash val="solid"/>
          </a:ln>
        </p:spPr>
        <p:txBody>
          <a:bodyPr/>
          <a:lstStyle/>
          <a:p>
            <a:endParaRPr lang="en-IN"/>
          </a:p>
        </p:txBody>
      </p:sp>
      <p:sp>
        <p:nvSpPr>
          <p:cNvPr id="8" name="Text 6"/>
          <p:cNvSpPr/>
          <p:nvPr/>
        </p:nvSpPr>
        <p:spPr>
          <a:xfrm>
            <a:off x="1188720" y="2880360"/>
            <a:ext cx="1920240" cy="1920240"/>
          </a:xfrm>
          <a:prstGeom prst="rect">
            <a:avLst/>
          </a:prstGeom>
          <a:noFill/>
          <a:ln/>
        </p:spPr>
        <p:txBody>
          <a:bodyPr wrap="square" lIns="0" tIns="0" rIns="0" bIns="0" rtlCol="0" anchor="ctr"/>
          <a:lstStyle/>
          <a:p>
            <a:pPr marL="0" indent="0" algn="ctr">
              <a:buNone/>
            </a:pPr>
            <a:r>
              <a:rPr lang="en-US" sz="2600" b="1" dirty="0">
                <a:solidFill>
                  <a:srgbClr val="0B2027"/>
                </a:solidFill>
                <a:latin typeface="Calibri" pitchFamily="34" charset="0"/>
                <a:ea typeface="Calibri" pitchFamily="34" charset="-122"/>
                <a:cs typeface="Calibri" pitchFamily="34" charset="-120"/>
              </a:rPr>
              <a:t>100%</a:t>
            </a:r>
            <a:endParaRPr lang="en-US" sz="2600" dirty="0"/>
          </a:p>
        </p:txBody>
      </p:sp>
      <p:sp>
        <p:nvSpPr>
          <p:cNvPr id="9" name="Text 7"/>
          <p:cNvSpPr/>
          <p:nvPr/>
        </p:nvSpPr>
        <p:spPr>
          <a:xfrm>
            <a:off x="3383280" y="3108960"/>
            <a:ext cx="2560320" cy="640080"/>
          </a:xfrm>
          <a:prstGeom prst="rect">
            <a:avLst/>
          </a:prstGeom>
          <a:noFill/>
          <a:ln/>
        </p:spPr>
        <p:txBody>
          <a:bodyPr wrap="square" lIns="0" tIns="0" rIns="0" bIns="0" rtlCol="0" anchor="ctr"/>
          <a:lstStyle/>
          <a:p>
            <a:pPr marL="0" indent="0">
              <a:buNone/>
            </a:pPr>
            <a:r>
              <a:rPr lang="en-US" sz="3400" b="1" dirty="0">
                <a:solidFill>
                  <a:srgbClr val="028090"/>
                </a:solidFill>
                <a:latin typeface="Calibri" pitchFamily="34" charset="0"/>
                <a:ea typeface="Calibri" pitchFamily="34" charset="-122"/>
                <a:cs typeface="Calibri" pitchFamily="34" charset="-120"/>
              </a:rPr>
              <a:t>4</a:t>
            </a:r>
            <a:endParaRPr lang="en-US" sz="3400" dirty="0"/>
          </a:p>
        </p:txBody>
      </p:sp>
      <p:sp>
        <p:nvSpPr>
          <p:cNvPr id="10" name="Text 8"/>
          <p:cNvSpPr/>
          <p:nvPr/>
        </p:nvSpPr>
        <p:spPr>
          <a:xfrm>
            <a:off x="3383280" y="3749040"/>
            <a:ext cx="2560320" cy="548640"/>
          </a:xfrm>
          <a:prstGeom prst="rect">
            <a:avLst/>
          </a:prstGeom>
          <a:noFill/>
          <a:ln/>
        </p:spPr>
        <p:txBody>
          <a:bodyPr wrap="square" lIns="0" tIns="0" rIns="0" bIns="0" rtlCol="0" anchor="ctr"/>
          <a:lstStyle/>
          <a:p>
            <a:pPr marL="0" indent="0">
              <a:buNone/>
            </a:pPr>
            <a:r>
              <a:rPr lang="en-US" sz="1250" dirty="0">
                <a:solidFill>
                  <a:srgbClr val="5C6B6E"/>
                </a:solidFill>
                <a:latin typeface="Calibri" pitchFamily="34" charset="0"/>
                <a:ea typeface="Calibri" pitchFamily="34" charset="-122"/>
                <a:cs typeface="Calibri" pitchFamily="34" charset="-120"/>
              </a:rPr>
              <a:t>test cases, all passing</a:t>
            </a:r>
            <a:endParaRPr lang="en-US" sz="1250" dirty="0"/>
          </a:p>
        </p:txBody>
      </p:sp>
      <p:sp>
        <p:nvSpPr>
          <p:cNvPr id="11" name="Text 9"/>
          <p:cNvSpPr/>
          <p:nvPr/>
        </p:nvSpPr>
        <p:spPr>
          <a:xfrm>
            <a:off x="868680" y="5029200"/>
            <a:ext cx="5120640" cy="365760"/>
          </a:xfrm>
          <a:prstGeom prst="rect">
            <a:avLst/>
          </a:prstGeom>
          <a:noFill/>
          <a:ln/>
        </p:spPr>
        <p:txBody>
          <a:bodyPr wrap="square" lIns="0" tIns="0" rIns="0" bIns="0" rtlCol="0" anchor="ctr"/>
          <a:lstStyle/>
          <a:p>
            <a:pPr marL="0" indent="0">
              <a:buNone/>
            </a:pPr>
            <a:r>
              <a:rPr lang="en-US" sz="1150" dirty="0">
                <a:solidFill>
                  <a:srgbClr val="5C6B6E"/>
                </a:solidFill>
                <a:latin typeface="Calibri" pitchFamily="34" charset="0"/>
                <a:ea typeface="Calibri" pitchFamily="34" charset="-122"/>
                <a:cs typeface="Calibri" pitchFamily="34" charset="-120"/>
              </a:rPr>
              <a:t>Suite: com.shopkart.ReportingConfigurationTest</a:t>
            </a:r>
            <a:endParaRPr lang="en-US" sz="1150" dirty="0"/>
          </a:p>
        </p:txBody>
      </p:sp>
      <p:sp>
        <p:nvSpPr>
          <p:cNvPr id="12" name="Text 10"/>
          <p:cNvSpPr/>
          <p:nvPr/>
        </p:nvSpPr>
        <p:spPr>
          <a:xfrm>
            <a:off x="868680" y="5394960"/>
            <a:ext cx="5120640" cy="365760"/>
          </a:xfrm>
          <a:prstGeom prst="rect">
            <a:avLst/>
          </a:prstGeom>
          <a:noFill/>
          <a:ln/>
        </p:spPr>
        <p:txBody>
          <a:bodyPr wrap="square" lIns="0" tIns="0" rIns="0" bIns="0" rtlCol="0" anchor="ctr"/>
          <a:lstStyle/>
          <a:p>
            <a:pPr marL="0" indent="0">
              <a:buNone/>
            </a:pPr>
            <a:r>
              <a:rPr lang="en-US" sz="1150" dirty="0">
                <a:solidFill>
                  <a:srgbClr val="5C6B6E"/>
                </a:solidFill>
                <a:latin typeface="Calibri" pitchFamily="34" charset="0"/>
                <a:ea typeface="Calibri" pitchFamily="34" charset="-122"/>
                <a:cs typeface="Calibri" pitchFamily="34" charset="-120"/>
              </a:rPr>
              <a:t>Executor: GitHub Actions</a:t>
            </a:r>
            <a:endParaRPr lang="en-US" sz="1150" dirty="0"/>
          </a:p>
        </p:txBody>
      </p:sp>
      <p:sp>
        <p:nvSpPr>
          <p:cNvPr id="13" name="Shape 11"/>
          <p:cNvSpPr/>
          <p:nvPr/>
        </p:nvSpPr>
        <p:spPr>
          <a:xfrm>
            <a:off x="6537960" y="1828800"/>
            <a:ext cx="5120640" cy="4206240"/>
          </a:xfrm>
          <a:prstGeom prst="roundRect">
            <a:avLst>
              <a:gd name="adj" fmla="val 2609"/>
            </a:avLst>
          </a:prstGeom>
          <a:solidFill>
            <a:srgbClr val="0B2027"/>
          </a:solidFill>
          <a:ln/>
        </p:spPr>
        <p:txBody>
          <a:bodyPr/>
          <a:lstStyle/>
          <a:p>
            <a:endParaRPr lang="en-IN"/>
          </a:p>
        </p:txBody>
      </p:sp>
      <p:sp>
        <p:nvSpPr>
          <p:cNvPr id="14" name="Text 12"/>
          <p:cNvSpPr/>
          <p:nvPr/>
        </p:nvSpPr>
        <p:spPr>
          <a:xfrm>
            <a:off x="6858000" y="2057400"/>
            <a:ext cx="4572000" cy="36576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Trend</a:t>
            </a:r>
            <a:endParaRPr lang="en-US" sz="1500" dirty="0"/>
          </a:p>
        </p:txBody>
      </p:sp>
      <p:sp>
        <p:nvSpPr>
          <p:cNvPr id="15" name="Text 13"/>
          <p:cNvSpPr/>
          <p:nvPr/>
        </p:nvSpPr>
        <p:spPr>
          <a:xfrm>
            <a:off x="6858000" y="2697480"/>
            <a:ext cx="1005840" cy="365760"/>
          </a:xfrm>
          <a:prstGeom prst="rect">
            <a:avLst/>
          </a:prstGeom>
          <a:noFill/>
          <a:ln/>
        </p:spPr>
        <p:txBody>
          <a:bodyPr wrap="square" lIns="0" tIns="0" rIns="0" bIns="0" rtlCol="0" anchor="ctr"/>
          <a:lstStyle/>
          <a:p>
            <a:pPr marL="0" indent="0">
              <a:buNone/>
            </a:pPr>
            <a:r>
              <a:rPr lang="en-US" sz="1200" dirty="0">
                <a:solidFill>
                  <a:srgbClr val="B9D6D6"/>
                </a:solidFill>
                <a:latin typeface="Calibri" pitchFamily="34" charset="0"/>
                <a:ea typeface="Calibri" pitchFamily="34" charset="-122"/>
                <a:cs typeface="Calibri" pitchFamily="34" charset="-120"/>
              </a:rPr>
              <a:t>Run #5</a:t>
            </a:r>
            <a:endParaRPr lang="en-US" sz="1200" dirty="0"/>
          </a:p>
        </p:txBody>
      </p:sp>
      <p:sp>
        <p:nvSpPr>
          <p:cNvPr id="16" name="Shape 14"/>
          <p:cNvSpPr/>
          <p:nvPr/>
        </p:nvSpPr>
        <p:spPr>
          <a:xfrm>
            <a:off x="7955280" y="2743200"/>
            <a:ext cx="3291840" cy="457200"/>
          </a:xfrm>
          <a:prstGeom prst="rect">
            <a:avLst/>
          </a:prstGeom>
          <a:solidFill>
            <a:srgbClr val="B85042"/>
          </a:solidFill>
          <a:ln/>
        </p:spPr>
        <p:txBody>
          <a:bodyPr/>
          <a:lstStyle/>
          <a:p>
            <a:endParaRPr lang="en-IN"/>
          </a:p>
        </p:txBody>
      </p:sp>
      <p:sp>
        <p:nvSpPr>
          <p:cNvPr id="17" name="Shape 15"/>
          <p:cNvSpPr/>
          <p:nvPr/>
        </p:nvSpPr>
        <p:spPr>
          <a:xfrm>
            <a:off x="7955280" y="2743200"/>
            <a:ext cx="822960" cy="457200"/>
          </a:xfrm>
          <a:prstGeom prst="rect">
            <a:avLst/>
          </a:prstGeom>
          <a:solidFill>
            <a:srgbClr val="02C39A"/>
          </a:solidFill>
          <a:ln/>
        </p:spPr>
        <p:txBody>
          <a:bodyPr/>
          <a:lstStyle/>
          <a:p>
            <a:endParaRPr lang="en-IN"/>
          </a:p>
        </p:txBody>
      </p:sp>
      <p:sp>
        <p:nvSpPr>
          <p:cNvPr id="18" name="Text 16"/>
          <p:cNvSpPr/>
          <p:nvPr/>
        </p:nvSpPr>
        <p:spPr>
          <a:xfrm>
            <a:off x="7955280" y="3246120"/>
            <a:ext cx="3291840" cy="320040"/>
          </a:xfrm>
          <a:prstGeom prst="rect">
            <a:avLst/>
          </a:prstGeom>
          <a:noFill/>
          <a:ln/>
        </p:spPr>
        <p:txBody>
          <a:bodyPr wrap="square" lIns="0" tIns="0" rIns="0" bIns="0" rtlCol="0" anchor="ctr"/>
          <a:lstStyle/>
          <a:p>
            <a:pPr marL="0" indent="0">
              <a:buNone/>
            </a:pPr>
            <a:r>
              <a:rPr lang="en-US" sz="1050" dirty="0">
                <a:solidFill>
                  <a:srgbClr val="B9D6D6"/>
                </a:solidFill>
                <a:latin typeface="Calibri" pitchFamily="34" charset="0"/>
                <a:ea typeface="Calibri" pitchFamily="34" charset="-122"/>
                <a:cs typeface="Calibri" pitchFamily="34" charset="-120"/>
              </a:rPr>
              <a:t>1 of 4 passed</a:t>
            </a:r>
            <a:endParaRPr lang="en-US" sz="1050" dirty="0"/>
          </a:p>
        </p:txBody>
      </p:sp>
      <p:sp>
        <p:nvSpPr>
          <p:cNvPr id="19" name="Text 17"/>
          <p:cNvSpPr/>
          <p:nvPr/>
        </p:nvSpPr>
        <p:spPr>
          <a:xfrm>
            <a:off x="6858000" y="3977640"/>
            <a:ext cx="1005840" cy="365760"/>
          </a:xfrm>
          <a:prstGeom prst="rect">
            <a:avLst/>
          </a:prstGeom>
          <a:noFill/>
          <a:ln/>
        </p:spPr>
        <p:txBody>
          <a:bodyPr wrap="square" lIns="0" tIns="0" rIns="0" bIns="0" rtlCol="0" anchor="ctr"/>
          <a:lstStyle/>
          <a:p>
            <a:pPr marL="0" indent="0">
              <a:buNone/>
            </a:pPr>
            <a:r>
              <a:rPr lang="en-US" sz="1200" dirty="0">
                <a:solidFill>
                  <a:srgbClr val="B9D6D6"/>
                </a:solidFill>
                <a:latin typeface="Calibri" pitchFamily="34" charset="0"/>
                <a:ea typeface="Calibri" pitchFamily="34" charset="-122"/>
                <a:cs typeface="Calibri" pitchFamily="34" charset="-120"/>
              </a:rPr>
              <a:t>Run #6</a:t>
            </a:r>
            <a:endParaRPr lang="en-US" sz="1200" dirty="0"/>
          </a:p>
        </p:txBody>
      </p:sp>
      <p:sp>
        <p:nvSpPr>
          <p:cNvPr id="20" name="Shape 18"/>
          <p:cNvSpPr/>
          <p:nvPr/>
        </p:nvSpPr>
        <p:spPr>
          <a:xfrm>
            <a:off x="7955280" y="4023360"/>
            <a:ext cx="3291840" cy="457200"/>
          </a:xfrm>
          <a:prstGeom prst="rect">
            <a:avLst/>
          </a:prstGeom>
          <a:solidFill>
            <a:srgbClr val="02C39A"/>
          </a:solidFill>
          <a:ln/>
        </p:spPr>
        <p:txBody>
          <a:bodyPr/>
          <a:lstStyle/>
          <a:p>
            <a:endParaRPr lang="en-IN"/>
          </a:p>
        </p:txBody>
      </p:sp>
      <p:sp>
        <p:nvSpPr>
          <p:cNvPr id="21" name="Text 19"/>
          <p:cNvSpPr/>
          <p:nvPr/>
        </p:nvSpPr>
        <p:spPr>
          <a:xfrm>
            <a:off x="7955280" y="4526280"/>
            <a:ext cx="3291840" cy="320040"/>
          </a:xfrm>
          <a:prstGeom prst="rect">
            <a:avLst/>
          </a:prstGeom>
          <a:noFill/>
          <a:ln/>
        </p:spPr>
        <p:txBody>
          <a:bodyPr wrap="square" lIns="0" tIns="0" rIns="0" bIns="0" rtlCol="0" anchor="ctr"/>
          <a:lstStyle/>
          <a:p>
            <a:pPr marL="0" indent="0">
              <a:buNone/>
            </a:pPr>
            <a:r>
              <a:rPr lang="en-US" sz="1050" dirty="0">
                <a:solidFill>
                  <a:srgbClr val="B9D6D6"/>
                </a:solidFill>
                <a:latin typeface="Calibri" pitchFamily="34" charset="0"/>
                <a:ea typeface="Calibri" pitchFamily="34" charset="-122"/>
                <a:cs typeface="Calibri" pitchFamily="34" charset="-120"/>
              </a:rPr>
              <a:t>4 of 4 passed</a:t>
            </a:r>
            <a:endParaRPr lang="en-US" sz="1050" dirty="0"/>
          </a:p>
        </p:txBody>
      </p:sp>
      <p:sp>
        <p:nvSpPr>
          <p:cNvPr id="22" name="Text 20"/>
          <p:cNvSpPr/>
          <p:nvPr/>
        </p:nvSpPr>
        <p:spPr>
          <a:xfrm>
            <a:off x="6858000" y="5394960"/>
            <a:ext cx="4663440" cy="457200"/>
          </a:xfrm>
          <a:prstGeom prst="rect">
            <a:avLst/>
          </a:prstGeom>
          <a:noFill/>
          <a:ln/>
        </p:spPr>
        <p:txBody>
          <a:bodyPr wrap="square" lIns="0" tIns="0" rIns="0" bIns="0" rtlCol="0" anchor="ctr"/>
          <a:lstStyle/>
          <a:p>
            <a:pPr marL="0" indent="0">
              <a:buNone/>
            </a:pPr>
            <a:r>
              <a:rPr lang="en-US" sz="1100" i="1" dirty="0">
                <a:solidFill>
                  <a:srgbClr val="9FE3D9"/>
                </a:solidFill>
                <a:latin typeface="Calibri" pitchFamily="34" charset="0"/>
                <a:ea typeface="Calibri" pitchFamily="34" charset="-122"/>
                <a:cs typeface="Calibri" pitchFamily="34" charset="-120"/>
              </a:rPr>
              <a:t>history shows the fix landed between runs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10789920" cy="640080"/>
          </a:xfrm>
          <a:prstGeom prst="rect">
            <a:avLst/>
          </a:prstGeom>
          <a:noFill/>
          <a:ln/>
        </p:spPr>
        <p:txBody>
          <a:bodyPr wrap="square" lIns="0" tIns="0" rIns="0" bIns="0" rtlCol="0" anchor="ctr"/>
          <a:lstStyle/>
          <a:p>
            <a:pPr marL="0" indent="0">
              <a:buNone/>
            </a:pPr>
            <a:r>
              <a:rPr lang="en-US" sz="3000" b="1" dirty="0">
                <a:solidFill>
                  <a:srgbClr val="0B2027"/>
                </a:solidFill>
                <a:latin typeface="Cambria" pitchFamily="34" charset="0"/>
                <a:ea typeface="Cambria" pitchFamily="34" charset="-122"/>
                <a:cs typeface="Cambria" pitchFamily="34" charset="-120"/>
              </a:rPr>
              <a:t>Reading the trend chart</a:t>
            </a:r>
            <a:endParaRPr lang="en-US" sz="3000" dirty="0"/>
          </a:p>
        </p:txBody>
      </p:sp>
      <p:sp>
        <p:nvSpPr>
          <p:cNvPr id="3" name="Text 1"/>
          <p:cNvSpPr/>
          <p:nvPr/>
        </p:nvSpPr>
        <p:spPr>
          <a:xfrm>
            <a:off x="548640" y="1143000"/>
            <a:ext cx="10789920" cy="457200"/>
          </a:xfrm>
          <a:prstGeom prst="rect">
            <a:avLst/>
          </a:prstGeom>
          <a:noFill/>
          <a:ln/>
        </p:spPr>
        <p:txBody>
          <a:bodyPr wrap="square" lIns="0" tIns="0" rIns="0" bIns="0" rtlCol="0" anchor="ctr"/>
          <a:lstStyle/>
          <a:p>
            <a:pPr marL="0" indent="0">
              <a:buNone/>
            </a:pPr>
            <a:r>
              <a:rPr lang="en-US" sz="1500" dirty="0">
                <a:solidFill>
                  <a:srgbClr val="5C6B6E"/>
                </a:solidFill>
                <a:latin typeface="Calibri" pitchFamily="34" charset="0"/>
                <a:ea typeface="Calibri" pitchFamily="34" charset="-122"/>
                <a:cs typeface="Calibri" pitchFamily="34" charset="-120"/>
              </a:rPr>
              <a:t>This is exactly what §7 of the brief asks for: history, not just a single snapshot.</a:t>
            </a:r>
            <a:endParaRPr lang="en-US" sz="1500" dirty="0"/>
          </a:p>
        </p:txBody>
      </p:sp>
      <p:sp>
        <p:nvSpPr>
          <p:cNvPr id="4" name="Shape 2"/>
          <p:cNvSpPr/>
          <p:nvPr/>
        </p:nvSpPr>
        <p:spPr>
          <a:xfrm>
            <a:off x="548640" y="1920240"/>
            <a:ext cx="10789920" cy="868680"/>
          </a:xfrm>
          <a:prstGeom prst="roundRect">
            <a:avLst>
              <a:gd name="adj" fmla="val 10526"/>
            </a:avLst>
          </a:prstGeom>
          <a:solidFill>
            <a:srgbClr val="F7FAFA"/>
          </a:solidFill>
          <a:ln/>
        </p:spPr>
        <p:txBody>
          <a:bodyPr/>
          <a:lstStyle/>
          <a:p>
            <a:endParaRPr lang="en-IN"/>
          </a:p>
        </p:txBody>
      </p:sp>
      <p:sp>
        <p:nvSpPr>
          <p:cNvPr id="5" name="Shape 3"/>
          <p:cNvSpPr/>
          <p:nvPr/>
        </p:nvSpPr>
        <p:spPr>
          <a:xfrm>
            <a:off x="822960" y="2080260"/>
            <a:ext cx="548640" cy="548640"/>
          </a:xfrm>
          <a:prstGeom prst="ellipse">
            <a:avLst/>
          </a:prstGeom>
          <a:solidFill>
            <a:srgbClr val="00A896"/>
          </a:solidFill>
          <a:ln/>
        </p:spPr>
        <p:txBody>
          <a:bodyPr/>
          <a:lstStyle/>
          <a:p>
            <a:endParaRPr lang="en-IN"/>
          </a:p>
        </p:txBody>
      </p:sp>
      <p:pic>
        <p:nvPicPr>
          <p:cNvPr id="6" name="Image 0" descr="/home/claude/deck/icons/trending.png"/>
          <p:cNvPicPr>
            <a:picLocks noChangeAspect="1"/>
          </p:cNvPicPr>
          <p:nvPr/>
        </p:nvPicPr>
        <p:blipFill>
          <a:blip r:embed="rId3"/>
          <a:stretch>
            <a:fillRect/>
          </a:stretch>
        </p:blipFill>
        <p:spPr>
          <a:xfrm>
            <a:off x="954634" y="2211934"/>
            <a:ext cx="285293" cy="285293"/>
          </a:xfrm>
          <a:prstGeom prst="rect">
            <a:avLst/>
          </a:prstGeom>
        </p:spPr>
      </p:pic>
      <p:sp>
        <p:nvSpPr>
          <p:cNvPr id="7" name="Text 4"/>
          <p:cNvSpPr/>
          <p:nvPr/>
        </p:nvSpPr>
        <p:spPr>
          <a:xfrm>
            <a:off x="1691640" y="2029968"/>
            <a:ext cx="8686800" cy="320040"/>
          </a:xfrm>
          <a:prstGeom prst="rect">
            <a:avLst/>
          </a:prstGeom>
          <a:noFill/>
          <a:ln/>
        </p:spPr>
        <p:txBody>
          <a:bodyPr wrap="square" lIns="0" tIns="0" rIns="0" bIns="0" rtlCol="0" anchor="ctr"/>
          <a:lstStyle/>
          <a:p>
            <a:pPr marL="0" indent="0">
              <a:buNone/>
            </a:pPr>
            <a:r>
              <a:rPr lang="en-US" sz="1450" b="1" dirty="0">
                <a:solidFill>
                  <a:srgbClr val="0B2027"/>
                </a:solidFill>
                <a:latin typeface="Calibri" pitchFamily="34" charset="0"/>
                <a:ea typeface="Calibri" pitchFamily="34" charset="-122"/>
                <a:cs typeface="Calibri" pitchFamily="34" charset="-120"/>
              </a:rPr>
              <a:t>Run #5 had failures</a:t>
            </a:r>
            <a:endParaRPr lang="en-US" sz="1450" dirty="0"/>
          </a:p>
        </p:txBody>
      </p:sp>
      <p:sp>
        <p:nvSpPr>
          <p:cNvPr id="8" name="Text 5"/>
          <p:cNvSpPr/>
          <p:nvPr/>
        </p:nvSpPr>
        <p:spPr>
          <a:xfrm>
            <a:off x="1691640" y="2377440"/>
            <a:ext cx="8686800" cy="365760"/>
          </a:xfrm>
          <a:prstGeom prst="rect">
            <a:avLst/>
          </a:prstGeom>
          <a:noFill/>
          <a:ln/>
        </p:spPr>
        <p:txBody>
          <a:bodyPr wrap="square" lIns="0" tIns="0" rIns="0" bIns="0" rtlCol="0" anchor="ctr"/>
          <a:lstStyle/>
          <a:p>
            <a:pPr marL="0" indent="0">
              <a:buNone/>
            </a:pPr>
            <a:r>
              <a:rPr lang="en-US" sz="1200" dirty="0">
                <a:solidFill>
                  <a:srgbClr val="5C6B6E"/>
                </a:solidFill>
                <a:latin typeface="Calibri" pitchFamily="34" charset="0"/>
                <a:ea typeface="Calibri" pitchFamily="34" charset="-122"/>
                <a:cs typeface="Calibri" pitchFamily="34" charset="-120"/>
              </a:rPr>
              <a:t>The red band shows tests that failed in the previous run.</a:t>
            </a:r>
            <a:endParaRPr lang="en-US" sz="1200" dirty="0"/>
          </a:p>
        </p:txBody>
      </p:sp>
      <p:sp>
        <p:nvSpPr>
          <p:cNvPr id="9" name="Shape 6"/>
          <p:cNvSpPr/>
          <p:nvPr/>
        </p:nvSpPr>
        <p:spPr>
          <a:xfrm>
            <a:off x="548640" y="2880360"/>
            <a:ext cx="10789920" cy="868680"/>
          </a:xfrm>
          <a:prstGeom prst="roundRect">
            <a:avLst>
              <a:gd name="adj" fmla="val 10526"/>
            </a:avLst>
          </a:prstGeom>
          <a:solidFill>
            <a:srgbClr val="F7FAFA"/>
          </a:solidFill>
          <a:ln/>
        </p:spPr>
        <p:txBody>
          <a:bodyPr/>
          <a:lstStyle/>
          <a:p>
            <a:endParaRPr lang="en-IN"/>
          </a:p>
        </p:txBody>
      </p:sp>
      <p:sp>
        <p:nvSpPr>
          <p:cNvPr id="10" name="Shape 7"/>
          <p:cNvSpPr/>
          <p:nvPr/>
        </p:nvSpPr>
        <p:spPr>
          <a:xfrm>
            <a:off x="822960" y="3040380"/>
            <a:ext cx="548640" cy="548640"/>
          </a:xfrm>
          <a:prstGeom prst="ellipse">
            <a:avLst/>
          </a:prstGeom>
          <a:solidFill>
            <a:srgbClr val="00A896"/>
          </a:solidFill>
          <a:ln/>
        </p:spPr>
        <p:txBody>
          <a:bodyPr/>
          <a:lstStyle/>
          <a:p>
            <a:endParaRPr lang="en-IN"/>
          </a:p>
        </p:txBody>
      </p:sp>
      <p:pic>
        <p:nvPicPr>
          <p:cNvPr id="11" name="Image 1" descr="/home/claude/deck/icons/check.png"/>
          <p:cNvPicPr>
            <a:picLocks noChangeAspect="1"/>
          </p:cNvPicPr>
          <p:nvPr/>
        </p:nvPicPr>
        <p:blipFill>
          <a:blip r:embed="rId4"/>
          <a:stretch>
            <a:fillRect/>
          </a:stretch>
        </p:blipFill>
        <p:spPr>
          <a:xfrm>
            <a:off x="954634" y="3172054"/>
            <a:ext cx="285293" cy="285293"/>
          </a:xfrm>
          <a:prstGeom prst="rect">
            <a:avLst/>
          </a:prstGeom>
        </p:spPr>
      </p:pic>
      <p:sp>
        <p:nvSpPr>
          <p:cNvPr id="12" name="Text 8"/>
          <p:cNvSpPr/>
          <p:nvPr/>
        </p:nvSpPr>
        <p:spPr>
          <a:xfrm>
            <a:off x="1691640" y="2990088"/>
            <a:ext cx="8686800" cy="320040"/>
          </a:xfrm>
          <a:prstGeom prst="rect">
            <a:avLst/>
          </a:prstGeom>
          <a:noFill/>
          <a:ln/>
        </p:spPr>
        <p:txBody>
          <a:bodyPr wrap="square" lIns="0" tIns="0" rIns="0" bIns="0" rtlCol="0" anchor="ctr"/>
          <a:lstStyle/>
          <a:p>
            <a:pPr marL="0" indent="0">
              <a:buNone/>
            </a:pPr>
            <a:r>
              <a:rPr lang="en-US" sz="1450" b="1" dirty="0">
                <a:solidFill>
                  <a:srgbClr val="0B2027"/>
                </a:solidFill>
                <a:latin typeface="Calibri" pitchFamily="34" charset="0"/>
                <a:ea typeface="Calibri" pitchFamily="34" charset="-122"/>
                <a:cs typeface="Calibri" pitchFamily="34" charset="-120"/>
              </a:rPr>
              <a:t>Run #6 is fully green</a:t>
            </a:r>
            <a:endParaRPr lang="en-US" sz="1450" dirty="0"/>
          </a:p>
        </p:txBody>
      </p:sp>
      <p:sp>
        <p:nvSpPr>
          <p:cNvPr id="13" name="Text 9"/>
          <p:cNvSpPr/>
          <p:nvPr/>
        </p:nvSpPr>
        <p:spPr>
          <a:xfrm>
            <a:off x="1691640" y="3337560"/>
            <a:ext cx="8686800" cy="365760"/>
          </a:xfrm>
          <a:prstGeom prst="rect">
            <a:avLst/>
          </a:prstGeom>
          <a:noFill/>
          <a:ln/>
        </p:spPr>
        <p:txBody>
          <a:bodyPr wrap="square" lIns="0" tIns="0" rIns="0" bIns="0" rtlCol="0" anchor="ctr"/>
          <a:lstStyle/>
          <a:p>
            <a:pPr marL="0" indent="0">
              <a:buNone/>
            </a:pPr>
            <a:r>
              <a:rPr lang="en-US" sz="1200" dirty="0">
                <a:solidFill>
                  <a:srgbClr val="5C6B6E"/>
                </a:solidFill>
                <a:latin typeface="Calibri" pitchFamily="34" charset="0"/>
                <a:ea typeface="Calibri" pitchFamily="34" charset="-122"/>
                <a:cs typeface="Calibri" pitchFamily="34" charset="-120"/>
              </a:rPr>
              <a:t>Every test case passed after the fix — 100%, 4 of 4.</a:t>
            </a:r>
            <a:endParaRPr lang="en-US" sz="1200" dirty="0"/>
          </a:p>
        </p:txBody>
      </p:sp>
      <p:sp>
        <p:nvSpPr>
          <p:cNvPr id="14" name="Shape 10"/>
          <p:cNvSpPr/>
          <p:nvPr/>
        </p:nvSpPr>
        <p:spPr>
          <a:xfrm>
            <a:off x="548640" y="3840480"/>
            <a:ext cx="10789920" cy="868680"/>
          </a:xfrm>
          <a:prstGeom prst="roundRect">
            <a:avLst>
              <a:gd name="adj" fmla="val 10526"/>
            </a:avLst>
          </a:prstGeom>
          <a:solidFill>
            <a:srgbClr val="F7FAFA"/>
          </a:solidFill>
          <a:ln/>
        </p:spPr>
        <p:txBody>
          <a:bodyPr/>
          <a:lstStyle/>
          <a:p>
            <a:endParaRPr lang="en-IN"/>
          </a:p>
        </p:txBody>
      </p:sp>
      <p:sp>
        <p:nvSpPr>
          <p:cNvPr id="15" name="Shape 11"/>
          <p:cNvSpPr/>
          <p:nvPr/>
        </p:nvSpPr>
        <p:spPr>
          <a:xfrm>
            <a:off x="822960" y="4000500"/>
            <a:ext cx="548640" cy="548640"/>
          </a:xfrm>
          <a:prstGeom prst="ellipse">
            <a:avLst/>
          </a:prstGeom>
          <a:solidFill>
            <a:srgbClr val="00A896"/>
          </a:solidFill>
          <a:ln/>
        </p:spPr>
        <p:txBody>
          <a:bodyPr/>
          <a:lstStyle/>
          <a:p>
            <a:endParaRPr lang="en-IN"/>
          </a:p>
        </p:txBody>
      </p:sp>
      <p:pic>
        <p:nvPicPr>
          <p:cNvPr id="16" name="Image 2" descr="/home/claude/deck/icons/clock.png"/>
          <p:cNvPicPr>
            <a:picLocks noChangeAspect="1"/>
          </p:cNvPicPr>
          <p:nvPr/>
        </p:nvPicPr>
        <p:blipFill>
          <a:blip r:embed="rId5"/>
          <a:stretch>
            <a:fillRect/>
          </a:stretch>
        </p:blipFill>
        <p:spPr>
          <a:xfrm>
            <a:off x="954634" y="4132174"/>
            <a:ext cx="285293" cy="285293"/>
          </a:xfrm>
          <a:prstGeom prst="rect">
            <a:avLst/>
          </a:prstGeom>
        </p:spPr>
      </p:pic>
      <p:sp>
        <p:nvSpPr>
          <p:cNvPr id="17" name="Text 12"/>
          <p:cNvSpPr/>
          <p:nvPr/>
        </p:nvSpPr>
        <p:spPr>
          <a:xfrm>
            <a:off x="1691640" y="3950208"/>
            <a:ext cx="8686800" cy="320040"/>
          </a:xfrm>
          <a:prstGeom prst="rect">
            <a:avLst/>
          </a:prstGeom>
          <a:noFill/>
          <a:ln/>
        </p:spPr>
        <p:txBody>
          <a:bodyPr wrap="square" lIns="0" tIns="0" rIns="0" bIns="0" rtlCol="0" anchor="ctr"/>
          <a:lstStyle/>
          <a:p>
            <a:pPr marL="0" indent="0">
              <a:buNone/>
            </a:pPr>
            <a:r>
              <a:rPr lang="en-US" sz="1450" b="1" dirty="0">
                <a:solidFill>
                  <a:srgbClr val="0B2027"/>
                </a:solidFill>
                <a:latin typeface="Calibri" pitchFamily="34" charset="0"/>
                <a:ea typeface="Calibri" pitchFamily="34" charset="-122"/>
                <a:cs typeface="Calibri" pitchFamily="34" charset="-120"/>
              </a:rPr>
              <a:t>History persists across runs</a:t>
            </a:r>
            <a:endParaRPr lang="en-US" sz="1450" dirty="0"/>
          </a:p>
        </p:txBody>
      </p:sp>
      <p:sp>
        <p:nvSpPr>
          <p:cNvPr id="18" name="Text 13"/>
          <p:cNvSpPr/>
          <p:nvPr/>
        </p:nvSpPr>
        <p:spPr>
          <a:xfrm>
            <a:off x="1691640" y="4297680"/>
            <a:ext cx="8686800" cy="365760"/>
          </a:xfrm>
          <a:prstGeom prst="rect">
            <a:avLst/>
          </a:prstGeom>
          <a:noFill/>
          <a:ln/>
        </p:spPr>
        <p:txBody>
          <a:bodyPr wrap="square" lIns="0" tIns="0" rIns="0" bIns="0" rtlCol="0" anchor="ctr"/>
          <a:lstStyle/>
          <a:p>
            <a:pPr marL="0" indent="0">
              <a:buNone/>
            </a:pPr>
            <a:r>
              <a:rPr lang="en-US" sz="1200" dirty="0">
                <a:solidFill>
                  <a:srgbClr val="5C6B6E"/>
                </a:solidFill>
                <a:latin typeface="Calibri" pitchFamily="34" charset="0"/>
                <a:ea typeface="Calibri" pitchFamily="34" charset="-122"/>
                <a:cs typeface="Calibri" pitchFamily="34" charset="-120"/>
              </a:rPr>
              <a:t>Enabled by allure-results retained between CI jobs, not wiped each time.</a:t>
            </a:r>
            <a:endParaRPr lang="en-US" sz="1200" dirty="0"/>
          </a:p>
        </p:txBody>
      </p:sp>
      <p:sp>
        <p:nvSpPr>
          <p:cNvPr id="19" name="Shape 14"/>
          <p:cNvSpPr/>
          <p:nvPr/>
        </p:nvSpPr>
        <p:spPr>
          <a:xfrm>
            <a:off x="548640" y="4800600"/>
            <a:ext cx="10789920" cy="868680"/>
          </a:xfrm>
          <a:prstGeom prst="roundRect">
            <a:avLst>
              <a:gd name="adj" fmla="val 10526"/>
            </a:avLst>
          </a:prstGeom>
          <a:solidFill>
            <a:srgbClr val="F7FAFA"/>
          </a:solidFill>
          <a:ln/>
        </p:spPr>
        <p:txBody>
          <a:bodyPr/>
          <a:lstStyle/>
          <a:p>
            <a:endParaRPr lang="en-IN"/>
          </a:p>
        </p:txBody>
      </p:sp>
      <p:sp>
        <p:nvSpPr>
          <p:cNvPr id="20" name="Shape 15"/>
          <p:cNvSpPr/>
          <p:nvPr/>
        </p:nvSpPr>
        <p:spPr>
          <a:xfrm>
            <a:off x="822960" y="4960620"/>
            <a:ext cx="548640" cy="548640"/>
          </a:xfrm>
          <a:prstGeom prst="ellipse">
            <a:avLst/>
          </a:prstGeom>
          <a:solidFill>
            <a:srgbClr val="00A896"/>
          </a:solidFill>
          <a:ln/>
        </p:spPr>
        <p:txBody>
          <a:bodyPr/>
          <a:lstStyle/>
          <a:p>
            <a:endParaRPr lang="en-IN"/>
          </a:p>
        </p:txBody>
      </p:sp>
      <p:pic>
        <p:nvPicPr>
          <p:cNvPr id="21" name="Image 3" descr="/home/claude/deck/icons/chart.png"/>
          <p:cNvPicPr>
            <a:picLocks noChangeAspect="1"/>
          </p:cNvPicPr>
          <p:nvPr/>
        </p:nvPicPr>
        <p:blipFill>
          <a:blip r:embed="rId6"/>
          <a:stretch>
            <a:fillRect/>
          </a:stretch>
        </p:blipFill>
        <p:spPr>
          <a:xfrm>
            <a:off x="954634" y="5092294"/>
            <a:ext cx="285293" cy="285293"/>
          </a:xfrm>
          <a:prstGeom prst="rect">
            <a:avLst/>
          </a:prstGeom>
        </p:spPr>
      </p:pic>
      <p:sp>
        <p:nvSpPr>
          <p:cNvPr id="22" name="Text 16"/>
          <p:cNvSpPr/>
          <p:nvPr/>
        </p:nvSpPr>
        <p:spPr>
          <a:xfrm>
            <a:off x="1691640" y="4910328"/>
            <a:ext cx="8686800" cy="320040"/>
          </a:xfrm>
          <a:prstGeom prst="rect">
            <a:avLst/>
          </a:prstGeom>
          <a:noFill/>
          <a:ln/>
        </p:spPr>
        <p:txBody>
          <a:bodyPr wrap="square" lIns="0" tIns="0" rIns="0" bIns="0" rtlCol="0" anchor="ctr"/>
          <a:lstStyle/>
          <a:p>
            <a:pPr marL="0" indent="0">
              <a:buNone/>
            </a:pPr>
            <a:r>
              <a:rPr lang="en-US" sz="1450" b="1" dirty="0">
                <a:solidFill>
                  <a:srgbClr val="0B2027"/>
                </a:solidFill>
                <a:latin typeface="Calibri" pitchFamily="34" charset="0"/>
                <a:ea typeface="Calibri" pitchFamily="34" charset="-122"/>
                <a:cs typeface="Calibri" pitchFamily="34" charset="-120"/>
              </a:rPr>
              <a:t>This is what a reviewer checks first</a:t>
            </a:r>
            <a:endParaRPr lang="en-US" sz="1450" dirty="0"/>
          </a:p>
        </p:txBody>
      </p:sp>
      <p:sp>
        <p:nvSpPr>
          <p:cNvPr id="23" name="Text 17"/>
          <p:cNvSpPr/>
          <p:nvPr/>
        </p:nvSpPr>
        <p:spPr>
          <a:xfrm>
            <a:off x="1691640" y="5257800"/>
            <a:ext cx="8686800" cy="365760"/>
          </a:xfrm>
          <a:prstGeom prst="rect">
            <a:avLst/>
          </a:prstGeom>
          <a:noFill/>
          <a:ln/>
        </p:spPr>
        <p:txBody>
          <a:bodyPr wrap="square" lIns="0" tIns="0" rIns="0" bIns="0" rtlCol="0" anchor="ctr"/>
          <a:lstStyle/>
          <a:p>
            <a:pPr marL="0" indent="0">
              <a:buNone/>
            </a:pPr>
            <a:r>
              <a:rPr lang="en-US" sz="1200" dirty="0">
                <a:solidFill>
                  <a:srgbClr val="5C6B6E"/>
                </a:solidFill>
                <a:latin typeface="Calibri" pitchFamily="34" charset="0"/>
                <a:ea typeface="Calibri" pitchFamily="34" charset="-122"/>
                <a:cs typeface="Calibri" pitchFamily="34" charset="-120"/>
              </a:rPr>
              <a:t>A single green run proves nothing; a trend proves the suite is stable.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2027"/>
        </a:solidFill>
        <a:effectLst/>
      </p:bgPr>
    </p:bg>
    <p:spTree>
      <p:nvGrpSpPr>
        <p:cNvPr id="1" name=""/>
        <p:cNvGrpSpPr/>
        <p:nvPr/>
      </p:nvGrpSpPr>
      <p:grpSpPr>
        <a:xfrm>
          <a:off x="0" y="0"/>
          <a:ext cx="0" cy="0"/>
          <a:chOff x="0" y="0"/>
          <a:chExt cx="0" cy="0"/>
        </a:xfrm>
      </p:grpSpPr>
      <p:sp>
        <p:nvSpPr>
          <p:cNvPr id="2" name="Text 0"/>
          <p:cNvSpPr/>
          <p:nvPr/>
        </p:nvSpPr>
        <p:spPr>
          <a:xfrm>
            <a:off x="548640" y="457200"/>
            <a:ext cx="10789920"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Why this matters for the gate</a:t>
            </a:r>
            <a:endParaRPr lang="en-US" sz="3000" dirty="0"/>
          </a:p>
        </p:txBody>
      </p:sp>
      <p:sp>
        <p:nvSpPr>
          <p:cNvPr id="3" name="Text 1"/>
          <p:cNvSpPr/>
          <p:nvPr/>
        </p:nvSpPr>
        <p:spPr>
          <a:xfrm>
            <a:off x="548640" y="1143000"/>
            <a:ext cx="10789920" cy="457200"/>
          </a:xfrm>
          <a:prstGeom prst="rect">
            <a:avLst/>
          </a:prstGeom>
          <a:noFill/>
          <a:ln/>
        </p:spPr>
        <p:txBody>
          <a:bodyPr wrap="square" lIns="0" tIns="0" rIns="0" bIns="0" rtlCol="0" anchor="ctr"/>
          <a:lstStyle/>
          <a:p>
            <a:pPr marL="0" indent="0">
              <a:buNone/>
            </a:pPr>
            <a:r>
              <a:rPr lang="en-US" sz="1500" dirty="0">
                <a:solidFill>
                  <a:srgbClr val="B9D6D6"/>
                </a:solidFill>
                <a:latin typeface="Calibri" pitchFamily="34" charset="0"/>
                <a:ea typeface="Calibri" pitchFamily="34" charset="-122"/>
                <a:cs typeface="Calibri" pitchFamily="34" charset="-120"/>
              </a:rPr>
              <a:t>Mapping tonight's work directly to the brief's scoring criteria.</a:t>
            </a:r>
            <a:endParaRPr lang="en-US" sz="1500" dirty="0"/>
          </a:p>
        </p:txBody>
      </p:sp>
      <p:sp>
        <p:nvSpPr>
          <p:cNvPr id="4" name="Shape 2"/>
          <p:cNvSpPr/>
          <p:nvPr/>
        </p:nvSpPr>
        <p:spPr>
          <a:xfrm>
            <a:off x="548640" y="1920240"/>
            <a:ext cx="10789920" cy="713232"/>
          </a:xfrm>
          <a:prstGeom prst="roundRect">
            <a:avLst>
              <a:gd name="adj" fmla="val 10256"/>
            </a:avLst>
          </a:prstGeom>
          <a:solidFill>
            <a:srgbClr val="13323A"/>
          </a:solidFill>
          <a:ln/>
        </p:spPr>
        <p:txBody>
          <a:bodyPr/>
          <a:lstStyle/>
          <a:p>
            <a:endParaRPr lang="en-IN"/>
          </a:p>
        </p:txBody>
      </p:sp>
      <p:sp>
        <p:nvSpPr>
          <p:cNvPr id="5" name="Shape 3"/>
          <p:cNvSpPr/>
          <p:nvPr/>
        </p:nvSpPr>
        <p:spPr>
          <a:xfrm>
            <a:off x="777240" y="2093976"/>
            <a:ext cx="365760" cy="365760"/>
          </a:xfrm>
          <a:prstGeom prst="ellipse">
            <a:avLst/>
          </a:prstGeom>
          <a:solidFill>
            <a:srgbClr val="02C39A"/>
          </a:solidFill>
          <a:ln/>
        </p:spPr>
        <p:txBody>
          <a:bodyPr/>
          <a:lstStyle/>
          <a:p>
            <a:endParaRPr lang="en-IN"/>
          </a:p>
        </p:txBody>
      </p:sp>
      <p:pic>
        <p:nvPicPr>
          <p:cNvPr id="6" name="Image 0" descr="/home/claude/deck/icons/check.png"/>
          <p:cNvPicPr>
            <a:picLocks noChangeAspect="1"/>
          </p:cNvPicPr>
          <p:nvPr/>
        </p:nvPicPr>
        <p:blipFill>
          <a:blip r:embed="rId3"/>
          <a:stretch>
            <a:fillRect/>
          </a:stretch>
        </p:blipFill>
        <p:spPr>
          <a:xfrm>
            <a:off x="865022" y="2181758"/>
            <a:ext cx="190195" cy="190195"/>
          </a:xfrm>
          <a:prstGeom prst="rect">
            <a:avLst/>
          </a:prstGeom>
        </p:spPr>
      </p:pic>
      <p:sp>
        <p:nvSpPr>
          <p:cNvPr id="7" name="Text 4"/>
          <p:cNvSpPr/>
          <p:nvPr/>
        </p:nvSpPr>
        <p:spPr>
          <a:xfrm>
            <a:off x="1371600" y="1920240"/>
            <a:ext cx="5486400" cy="7132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Allure report with history</a:t>
            </a:r>
            <a:endParaRPr lang="en-US" sz="1400" dirty="0"/>
          </a:p>
        </p:txBody>
      </p:sp>
      <p:sp>
        <p:nvSpPr>
          <p:cNvPr id="8" name="Text 5"/>
          <p:cNvSpPr/>
          <p:nvPr/>
        </p:nvSpPr>
        <p:spPr>
          <a:xfrm>
            <a:off x="6949440" y="1920240"/>
            <a:ext cx="4297680" cy="713232"/>
          </a:xfrm>
          <a:prstGeom prst="rect">
            <a:avLst/>
          </a:prstGeom>
          <a:noFill/>
          <a:ln/>
        </p:spPr>
        <p:txBody>
          <a:bodyPr wrap="square" lIns="0" tIns="0" rIns="0" bIns="0" rtlCol="0" anchor="ctr"/>
          <a:lstStyle/>
          <a:p>
            <a:pPr marL="0" indent="0">
              <a:buNone/>
            </a:pPr>
            <a:r>
              <a:rPr lang="en-US" sz="1250" dirty="0">
                <a:solidFill>
                  <a:srgbClr val="9FE3D9"/>
                </a:solidFill>
                <a:latin typeface="Calibri" pitchFamily="34" charset="0"/>
                <a:ea typeface="Calibri" pitchFamily="34" charset="-122"/>
                <a:cs typeface="Calibri" pitchFamily="34" charset="-120"/>
              </a:rPr>
              <a:t>Done — trend chart live across runs</a:t>
            </a:r>
            <a:endParaRPr lang="en-US" sz="1250" dirty="0"/>
          </a:p>
        </p:txBody>
      </p:sp>
      <p:sp>
        <p:nvSpPr>
          <p:cNvPr id="9" name="Shape 6"/>
          <p:cNvSpPr/>
          <p:nvPr/>
        </p:nvSpPr>
        <p:spPr>
          <a:xfrm>
            <a:off x="548640" y="2688336"/>
            <a:ext cx="10789920" cy="713232"/>
          </a:xfrm>
          <a:prstGeom prst="roundRect">
            <a:avLst>
              <a:gd name="adj" fmla="val 10256"/>
            </a:avLst>
          </a:prstGeom>
          <a:solidFill>
            <a:srgbClr val="13323A"/>
          </a:solidFill>
          <a:ln/>
        </p:spPr>
        <p:txBody>
          <a:bodyPr/>
          <a:lstStyle/>
          <a:p>
            <a:endParaRPr lang="en-IN"/>
          </a:p>
        </p:txBody>
      </p:sp>
      <p:sp>
        <p:nvSpPr>
          <p:cNvPr id="10" name="Shape 7"/>
          <p:cNvSpPr/>
          <p:nvPr/>
        </p:nvSpPr>
        <p:spPr>
          <a:xfrm>
            <a:off x="777240" y="2862072"/>
            <a:ext cx="365760" cy="365760"/>
          </a:xfrm>
          <a:prstGeom prst="ellipse">
            <a:avLst/>
          </a:prstGeom>
          <a:solidFill>
            <a:srgbClr val="02C39A"/>
          </a:solidFill>
          <a:ln/>
        </p:spPr>
        <p:txBody>
          <a:bodyPr/>
          <a:lstStyle/>
          <a:p>
            <a:endParaRPr lang="en-IN"/>
          </a:p>
        </p:txBody>
      </p:sp>
      <p:pic>
        <p:nvPicPr>
          <p:cNvPr id="11" name="Image 1" descr="/home/claude/deck/icons/check.png"/>
          <p:cNvPicPr>
            <a:picLocks noChangeAspect="1"/>
          </p:cNvPicPr>
          <p:nvPr/>
        </p:nvPicPr>
        <p:blipFill>
          <a:blip r:embed="rId3"/>
          <a:stretch>
            <a:fillRect/>
          </a:stretch>
        </p:blipFill>
        <p:spPr>
          <a:xfrm>
            <a:off x="865022" y="2949854"/>
            <a:ext cx="190195" cy="190195"/>
          </a:xfrm>
          <a:prstGeom prst="rect">
            <a:avLst/>
          </a:prstGeom>
        </p:spPr>
      </p:pic>
      <p:sp>
        <p:nvSpPr>
          <p:cNvPr id="12" name="Text 8"/>
          <p:cNvSpPr/>
          <p:nvPr/>
        </p:nvSpPr>
        <p:spPr>
          <a:xfrm>
            <a:off x="1371600" y="2688336"/>
            <a:ext cx="5486400" cy="7132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Categories configured</a:t>
            </a:r>
            <a:endParaRPr lang="en-US" sz="1400" dirty="0"/>
          </a:p>
        </p:txBody>
      </p:sp>
      <p:sp>
        <p:nvSpPr>
          <p:cNvPr id="13" name="Text 9"/>
          <p:cNvSpPr/>
          <p:nvPr/>
        </p:nvSpPr>
        <p:spPr>
          <a:xfrm>
            <a:off x="6949440" y="2688336"/>
            <a:ext cx="4297680" cy="713232"/>
          </a:xfrm>
          <a:prstGeom prst="rect">
            <a:avLst/>
          </a:prstGeom>
          <a:noFill/>
          <a:ln/>
        </p:spPr>
        <p:txBody>
          <a:bodyPr wrap="square" lIns="0" tIns="0" rIns="0" bIns="0" rtlCol="0" anchor="ctr"/>
          <a:lstStyle/>
          <a:p>
            <a:pPr marL="0" indent="0">
              <a:buNone/>
            </a:pPr>
            <a:r>
              <a:rPr lang="en-US" sz="1250" dirty="0">
                <a:solidFill>
                  <a:srgbClr val="9FE3D9"/>
                </a:solidFill>
                <a:latin typeface="Calibri" pitchFamily="34" charset="0"/>
                <a:ea typeface="Calibri" pitchFamily="34" charset="-122"/>
                <a:cs typeface="Calibri" pitchFamily="34" charset="-120"/>
              </a:rPr>
              <a:t>Done — categories.json in place</a:t>
            </a:r>
            <a:endParaRPr lang="en-US" sz="1250" dirty="0"/>
          </a:p>
        </p:txBody>
      </p:sp>
      <p:sp>
        <p:nvSpPr>
          <p:cNvPr id="14" name="Shape 10"/>
          <p:cNvSpPr/>
          <p:nvPr/>
        </p:nvSpPr>
        <p:spPr>
          <a:xfrm>
            <a:off x="548640" y="3456432"/>
            <a:ext cx="10789920" cy="713232"/>
          </a:xfrm>
          <a:prstGeom prst="roundRect">
            <a:avLst>
              <a:gd name="adj" fmla="val 10256"/>
            </a:avLst>
          </a:prstGeom>
          <a:solidFill>
            <a:srgbClr val="13323A"/>
          </a:solidFill>
          <a:ln/>
        </p:spPr>
        <p:txBody>
          <a:bodyPr/>
          <a:lstStyle/>
          <a:p>
            <a:endParaRPr lang="en-IN"/>
          </a:p>
        </p:txBody>
      </p:sp>
      <p:sp>
        <p:nvSpPr>
          <p:cNvPr id="15" name="Shape 11"/>
          <p:cNvSpPr/>
          <p:nvPr/>
        </p:nvSpPr>
        <p:spPr>
          <a:xfrm>
            <a:off x="777240" y="3630168"/>
            <a:ext cx="365760" cy="365760"/>
          </a:xfrm>
          <a:prstGeom prst="ellipse">
            <a:avLst/>
          </a:prstGeom>
          <a:solidFill>
            <a:srgbClr val="02C39A"/>
          </a:solidFill>
          <a:ln/>
        </p:spPr>
        <p:txBody>
          <a:bodyPr/>
          <a:lstStyle/>
          <a:p>
            <a:endParaRPr lang="en-IN"/>
          </a:p>
        </p:txBody>
      </p:sp>
      <p:pic>
        <p:nvPicPr>
          <p:cNvPr id="16" name="Image 2" descr="/home/claude/deck/icons/check.png"/>
          <p:cNvPicPr>
            <a:picLocks noChangeAspect="1"/>
          </p:cNvPicPr>
          <p:nvPr/>
        </p:nvPicPr>
        <p:blipFill>
          <a:blip r:embed="rId3"/>
          <a:stretch>
            <a:fillRect/>
          </a:stretch>
        </p:blipFill>
        <p:spPr>
          <a:xfrm>
            <a:off x="865022" y="3717950"/>
            <a:ext cx="190195" cy="190195"/>
          </a:xfrm>
          <a:prstGeom prst="rect">
            <a:avLst/>
          </a:prstGeom>
        </p:spPr>
      </p:pic>
      <p:sp>
        <p:nvSpPr>
          <p:cNvPr id="17" name="Text 12"/>
          <p:cNvSpPr/>
          <p:nvPr/>
        </p:nvSpPr>
        <p:spPr>
          <a:xfrm>
            <a:off x="1371600" y="3456432"/>
            <a:ext cx="5486400" cy="7132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Environment info captured</a:t>
            </a:r>
            <a:endParaRPr lang="en-US" sz="1400" dirty="0"/>
          </a:p>
        </p:txBody>
      </p:sp>
      <p:sp>
        <p:nvSpPr>
          <p:cNvPr id="18" name="Text 13"/>
          <p:cNvSpPr/>
          <p:nvPr/>
        </p:nvSpPr>
        <p:spPr>
          <a:xfrm>
            <a:off x="6949440" y="3456432"/>
            <a:ext cx="4297680" cy="713232"/>
          </a:xfrm>
          <a:prstGeom prst="rect">
            <a:avLst/>
          </a:prstGeom>
          <a:noFill/>
          <a:ln/>
        </p:spPr>
        <p:txBody>
          <a:bodyPr wrap="square" lIns="0" tIns="0" rIns="0" bIns="0" rtlCol="0" anchor="ctr"/>
          <a:lstStyle/>
          <a:p>
            <a:pPr marL="0" indent="0">
              <a:buNone/>
            </a:pPr>
            <a:r>
              <a:rPr lang="en-US" sz="1250" dirty="0">
                <a:solidFill>
                  <a:srgbClr val="9FE3D9"/>
                </a:solidFill>
                <a:latin typeface="Calibri" pitchFamily="34" charset="0"/>
                <a:ea typeface="Calibri" pitchFamily="34" charset="-122"/>
                <a:cs typeface="Calibri" pitchFamily="34" charset="-120"/>
              </a:rPr>
              <a:t>Done — environment.properties in place</a:t>
            </a:r>
            <a:endParaRPr lang="en-US" sz="1250" dirty="0"/>
          </a:p>
        </p:txBody>
      </p:sp>
      <p:sp>
        <p:nvSpPr>
          <p:cNvPr id="19" name="Shape 14"/>
          <p:cNvSpPr/>
          <p:nvPr/>
        </p:nvSpPr>
        <p:spPr>
          <a:xfrm>
            <a:off x="548640" y="4224528"/>
            <a:ext cx="10789920" cy="713232"/>
          </a:xfrm>
          <a:prstGeom prst="roundRect">
            <a:avLst>
              <a:gd name="adj" fmla="val 10256"/>
            </a:avLst>
          </a:prstGeom>
          <a:solidFill>
            <a:srgbClr val="13323A"/>
          </a:solidFill>
          <a:ln/>
        </p:spPr>
        <p:txBody>
          <a:bodyPr/>
          <a:lstStyle/>
          <a:p>
            <a:endParaRPr lang="en-IN"/>
          </a:p>
        </p:txBody>
      </p:sp>
      <p:sp>
        <p:nvSpPr>
          <p:cNvPr id="20" name="Shape 15"/>
          <p:cNvSpPr/>
          <p:nvPr/>
        </p:nvSpPr>
        <p:spPr>
          <a:xfrm>
            <a:off x="777240" y="4398264"/>
            <a:ext cx="365760" cy="365760"/>
          </a:xfrm>
          <a:prstGeom prst="ellipse">
            <a:avLst/>
          </a:prstGeom>
          <a:solidFill>
            <a:srgbClr val="02C39A"/>
          </a:solidFill>
          <a:ln/>
        </p:spPr>
        <p:txBody>
          <a:bodyPr/>
          <a:lstStyle/>
          <a:p>
            <a:endParaRPr lang="en-IN"/>
          </a:p>
        </p:txBody>
      </p:sp>
      <p:pic>
        <p:nvPicPr>
          <p:cNvPr id="21" name="Image 3" descr="/home/claude/deck/icons/check.png"/>
          <p:cNvPicPr>
            <a:picLocks noChangeAspect="1"/>
          </p:cNvPicPr>
          <p:nvPr/>
        </p:nvPicPr>
        <p:blipFill>
          <a:blip r:embed="rId3"/>
          <a:stretch>
            <a:fillRect/>
          </a:stretch>
        </p:blipFill>
        <p:spPr>
          <a:xfrm>
            <a:off x="865022" y="4486046"/>
            <a:ext cx="190195" cy="190195"/>
          </a:xfrm>
          <a:prstGeom prst="rect">
            <a:avLst/>
          </a:prstGeom>
        </p:spPr>
      </p:pic>
      <p:sp>
        <p:nvSpPr>
          <p:cNvPr id="22" name="Text 16"/>
          <p:cNvSpPr/>
          <p:nvPr/>
        </p:nvSpPr>
        <p:spPr>
          <a:xfrm>
            <a:off x="1371600" y="4224528"/>
            <a:ext cx="5486400" cy="7132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Runs automatically, no manual step</a:t>
            </a:r>
            <a:endParaRPr lang="en-US" sz="1400" dirty="0"/>
          </a:p>
        </p:txBody>
      </p:sp>
      <p:sp>
        <p:nvSpPr>
          <p:cNvPr id="23" name="Text 17"/>
          <p:cNvSpPr/>
          <p:nvPr/>
        </p:nvSpPr>
        <p:spPr>
          <a:xfrm>
            <a:off x="6949440" y="4224528"/>
            <a:ext cx="4297680" cy="713232"/>
          </a:xfrm>
          <a:prstGeom prst="rect">
            <a:avLst/>
          </a:prstGeom>
          <a:noFill/>
          <a:ln/>
        </p:spPr>
        <p:txBody>
          <a:bodyPr wrap="square" lIns="0" tIns="0" rIns="0" bIns="0" rtlCol="0" anchor="ctr"/>
          <a:lstStyle/>
          <a:p>
            <a:pPr marL="0" indent="0">
              <a:buNone/>
            </a:pPr>
            <a:r>
              <a:rPr lang="en-US" sz="1250" dirty="0">
                <a:solidFill>
                  <a:srgbClr val="9FE3D9"/>
                </a:solidFill>
                <a:latin typeface="Calibri" pitchFamily="34" charset="0"/>
                <a:ea typeface="Calibri" pitchFamily="34" charset="-122"/>
                <a:cs typeface="Calibri" pitchFamily="34" charset="-120"/>
              </a:rPr>
              <a:t>Done — GitHub Actions on every push</a:t>
            </a:r>
            <a:endParaRPr lang="en-US" sz="1250" dirty="0"/>
          </a:p>
        </p:txBody>
      </p:sp>
      <p:sp>
        <p:nvSpPr>
          <p:cNvPr id="24" name="Shape 18"/>
          <p:cNvSpPr/>
          <p:nvPr/>
        </p:nvSpPr>
        <p:spPr>
          <a:xfrm>
            <a:off x="548640" y="4992624"/>
            <a:ext cx="10789920" cy="713232"/>
          </a:xfrm>
          <a:prstGeom prst="roundRect">
            <a:avLst>
              <a:gd name="adj" fmla="val 10256"/>
            </a:avLst>
          </a:prstGeom>
          <a:solidFill>
            <a:srgbClr val="13323A"/>
          </a:solidFill>
          <a:ln/>
        </p:spPr>
        <p:txBody>
          <a:bodyPr/>
          <a:lstStyle/>
          <a:p>
            <a:endParaRPr lang="en-IN"/>
          </a:p>
        </p:txBody>
      </p:sp>
      <p:sp>
        <p:nvSpPr>
          <p:cNvPr id="25" name="Shape 19"/>
          <p:cNvSpPr/>
          <p:nvPr/>
        </p:nvSpPr>
        <p:spPr>
          <a:xfrm>
            <a:off x="777240" y="5166360"/>
            <a:ext cx="365760" cy="365760"/>
          </a:xfrm>
          <a:prstGeom prst="ellipse">
            <a:avLst/>
          </a:prstGeom>
          <a:solidFill>
            <a:srgbClr val="02C39A"/>
          </a:solidFill>
          <a:ln/>
        </p:spPr>
        <p:txBody>
          <a:bodyPr/>
          <a:lstStyle/>
          <a:p>
            <a:endParaRPr lang="en-IN"/>
          </a:p>
        </p:txBody>
      </p:sp>
      <p:pic>
        <p:nvPicPr>
          <p:cNvPr id="26" name="Image 4" descr="/home/claude/deck/icons/check.png"/>
          <p:cNvPicPr>
            <a:picLocks noChangeAspect="1"/>
          </p:cNvPicPr>
          <p:nvPr/>
        </p:nvPicPr>
        <p:blipFill>
          <a:blip r:embed="rId3"/>
          <a:stretch>
            <a:fillRect/>
          </a:stretch>
        </p:blipFill>
        <p:spPr>
          <a:xfrm>
            <a:off x="865022" y="5254142"/>
            <a:ext cx="190195" cy="190195"/>
          </a:xfrm>
          <a:prstGeom prst="rect">
            <a:avLst/>
          </a:prstGeom>
        </p:spPr>
      </p:pic>
      <p:sp>
        <p:nvSpPr>
          <p:cNvPr id="27" name="Text 20"/>
          <p:cNvSpPr/>
          <p:nvPr/>
        </p:nvSpPr>
        <p:spPr>
          <a:xfrm>
            <a:off x="1371600" y="4992624"/>
            <a:ext cx="5486400" cy="7132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Publicly viewable report</a:t>
            </a:r>
            <a:endParaRPr lang="en-US" sz="1400" dirty="0"/>
          </a:p>
        </p:txBody>
      </p:sp>
      <p:sp>
        <p:nvSpPr>
          <p:cNvPr id="28" name="Text 21"/>
          <p:cNvSpPr/>
          <p:nvPr/>
        </p:nvSpPr>
        <p:spPr>
          <a:xfrm>
            <a:off x="6949440" y="4992624"/>
            <a:ext cx="4297680" cy="713232"/>
          </a:xfrm>
          <a:prstGeom prst="rect">
            <a:avLst/>
          </a:prstGeom>
          <a:noFill/>
          <a:ln/>
        </p:spPr>
        <p:txBody>
          <a:bodyPr wrap="square" lIns="0" tIns="0" rIns="0" bIns="0" rtlCol="0" anchor="ctr"/>
          <a:lstStyle/>
          <a:p>
            <a:pPr marL="0" indent="0">
              <a:buNone/>
            </a:pPr>
            <a:r>
              <a:rPr lang="en-US" sz="1250" dirty="0">
                <a:solidFill>
                  <a:srgbClr val="9FE3D9"/>
                </a:solidFill>
                <a:latin typeface="Calibri" pitchFamily="34" charset="0"/>
                <a:ea typeface="Calibri" pitchFamily="34" charset="-122"/>
                <a:cs typeface="Calibri" pitchFamily="34" charset="-120"/>
              </a:rPr>
              <a:t>Done — hosted on GitHub Pages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57200"/>
            <a:ext cx="10789920" cy="640080"/>
          </a:xfrm>
          <a:prstGeom prst="rect">
            <a:avLst/>
          </a:prstGeom>
          <a:noFill/>
          <a:ln/>
        </p:spPr>
        <p:txBody>
          <a:bodyPr wrap="square" lIns="0" tIns="0" rIns="0" bIns="0" rtlCol="0" anchor="ctr"/>
          <a:lstStyle/>
          <a:p>
            <a:pPr marL="0" indent="0">
              <a:buNone/>
            </a:pPr>
            <a:r>
              <a:rPr lang="en-US" sz="3000" b="1" dirty="0">
                <a:solidFill>
                  <a:srgbClr val="0B2027"/>
                </a:solidFill>
                <a:latin typeface="Cambria" pitchFamily="34" charset="0"/>
                <a:ea typeface="Cambria" pitchFamily="34" charset="-122"/>
                <a:cs typeface="Cambria" pitchFamily="34" charset="-120"/>
              </a:rPr>
              <a:t>What's next</a:t>
            </a:r>
            <a:endParaRPr lang="en-US" sz="3000" dirty="0"/>
          </a:p>
        </p:txBody>
      </p:sp>
      <p:sp>
        <p:nvSpPr>
          <p:cNvPr id="3" name="Text 1"/>
          <p:cNvSpPr/>
          <p:nvPr/>
        </p:nvSpPr>
        <p:spPr>
          <a:xfrm>
            <a:off x="548640" y="1143000"/>
            <a:ext cx="10789920" cy="457200"/>
          </a:xfrm>
          <a:prstGeom prst="rect">
            <a:avLst/>
          </a:prstGeom>
          <a:noFill/>
          <a:ln/>
        </p:spPr>
        <p:txBody>
          <a:bodyPr wrap="square" lIns="0" tIns="0" rIns="0" bIns="0" rtlCol="0" anchor="ctr"/>
          <a:lstStyle/>
          <a:p>
            <a:pPr marL="0" indent="0">
              <a:buNone/>
            </a:pPr>
            <a:r>
              <a:rPr lang="en-US" sz="1500" dirty="0">
                <a:solidFill>
                  <a:srgbClr val="5C6B6E"/>
                </a:solidFill>
                <a:latin typeface="Calibri" pitchFamily="34" charset="0"/>
                <a:ea typeface="Calibri" pitchFamily="34" charset="-122"/>
                <a:cs typeface="Calibri" pitchFamily="34" charset="-120"/>
              </a:rPr>
              <a:t>Reporting is solid — the six functional scenarios are the remaining work.</a:t>
            </a:r>
            <a:endParaRPr lang="en-US" sz="1500" dirty="0"/>
          </a:p>
        </p:txBody>
      </p:sp>
      <p:sp>
        <p:nvSpPr>
          <p:cNvPr id="4" name="Shape 2"/>
          <p:cNvSpPr/>
          <p:nvPr/>
        </p:nvSpPr>
        <p:spPr>
          <a:xfrm>
            <a:off x="548640" y="1920240"/>
            <a:ext cx="10789920" cy="685800"/>
          </a:xfrm>
          <a:prstGeom prst="roundRect">
            <a:avLst>
              <a:gd name="adj" fmla="val 13333"/>
            </a:avLst>
          </a:prstGeom>
          <a:solidFill>
            <a:srgbClr val="F7FAFA"/>
          </a:solidFill>
          <a:ln/>
        </p:spPr>
        <p:txBody>
          <a:bodyPr/>
          <a:lstStyle/>
          <a:p>
            <a:endParaRPr lang="en-IN"/>
          </a:p>
        </p:txBody>
      </p:sp>
      <p:sp>
        <p:nvSpPr>
          <p:cNvPr id="5" name="Shape 3"/>
          <p:cNvSpPr/>
          <p:nvPr/>
        </p:nvSpPr>
        <p:spPr>
          <a:xfrm>
            <a:off x="822960" y="2089404"/>
            <a:ext cx="347472" cy="347472"/>
          </a:xfrm>
          <a:prstGeom prst="ellipse">
            <a:avLst/>
          </a:prstGeom>
          <a:solidFill>
            <a:srgbClr val="028090"/>
          </a:solidFill>
          <a:ln/>
        </p:spPr>
        <p:txBody>
          <a:bodyPr/>
          <a:lstStyle/>
          <a:p>
            <a:endParaRPr lang="en-IN"/>
          </a:p>
        </p:txBody>
      </p:sp>
      <p:sp>
        <p:nvSpPr>
          <p:cNvPr id="6" name="Text 4"/>
          <p:cNvSpPr/>
          <p:nvPr/>
        </p:nvSpPr>
        <p:spPr>
          <a:xfrm>
            <a:off x="822960" y="2089404"/>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371600" y="1920240"/>
            <a:ext cx="9601200" cy="685800"/>
          </a:xfrm>
          <a:prstGeom prst="rect">
            <a:avLst/>
          </a:prstGeom>
          <a:noFill/>
          <a:ln/>
        </p:spPr>
        <p:txBody>
          <a:bodyPr wrap="square" lIns="0" tIns="0" rIns="0" bIns="0" rtlCol="0" anchor="ctr"/>
          <a:lstStyle/>
          <a:p>
            <a:pPr marL="0" indent="0">
              <a:buNone/>
            </a:pPr>
            <a:r>
              <a:rPr lang="en-US" sz="1400" dirty="0">
                <a:solidFill>
                  <a:srgbClr val="0B2027"/>
                </a:solidFill>
                <a:latin typeface="Calibri" pitchFamily="34" charset="0"/>
                <a:ea typeface="Calibri" pitchFamily="34" charset="-122"/>
                <a:cs typeface="Calibri" pitchFamily="34" charset="-120"/>
              </a:rPr>
              <a:t>Product search, cart totals, checkout end-to-end</a:t>
            </a:r>
            <a:endParaRPr lang="en-US" sz="1400" dirty="0"/>
          </a:p>
        </p:txBody>
      </p:sp>
      <p:sp>
        <p:nvSpPr>
          <p:cNvPr id="8" name="Shape 6"/>
          <p:cNvSpPr/>
          <p:nvPr/>
        </p:nvSpPr>
        <p:spPr>
          <a:xfrm>
            <a:off x="548640" y="2697480"/>
            <a:ext cx="10789920" cy="685800"/>
          </a:xfrm>
          <a:prstGeom prst="roundRect">
            <a:avLst>
              <a:gd name="adj" fmla="val 13333"/>
            </a:avLst>
          </a:prstGeom>
          <a:solidFill>
            <a:srgbClr val="F7FAFA"/>
          </a:solidFill>
          <a:ln/>
        </p:spPr>
        <p:txBody>
          <a:bodyPr/>
          <a:lstStyle/>
          <a:p>
            <a:endParaRPr lang="en-IN"/>
          </a:p>
        </p:txBody>
      </p:sp>
      <p:sp>
        <p:nvSpPr>
          <p:cNvPr id="9" name="Shape 7"/>
          <p:cNvSpPr/>
          <p:nvPr/>
        </p:nvSpPr>
        <p:spPr>
          <a:xfrm>
            <a:off x="822960" y="2866644"/>
            <a:ext cx="347472" cy="347472"/>
          </a:xfrm>
          <a:prstGeom prst="ellipse">
            <a:avLst/>
          </a:prstGeom>
          <a:solidFill>
            <a:srgbClr val="028090"/>
          </a:solidFill>
          <a:ln/>
        </p:spPr>
        <p:txBody>
          <a:bodyPr/>
          <a:lstStyle/>
          <a:p>
            <a:endParaRPr lang="en-IN"/>
          </a:p>
        </p:txBody>
      </p:sp>
      <p:sp>
        <p:nvSpPr>
          <p:cNvPr id="10" name="Text 8"/>
          <p:cNvSpPr/>
          <p:nvPr/>
        </p:nvSpPr>
        <p:spPr>
          <a:xfrm>
            <a:off x="822960" y="2866644"/>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371600" y="2697480"/>
            <a:ext cx="9601200" cy="685800"/>
          </a:xfrm>
          <a:prstGeom prst="rect">
            <a:avLst/>
          </a:prstGeom>
          <a:noFill/>
          <a:ln/>
        </p:spPr>
        <p:txBody>
          <a:bodyPr wrap="square" lIns="0" tIns="0" rIns="0" bIns="0" rtlCol="0" anchor="ctr"/>
          <a:lstStyle/>
          <a:p>
            <a:pPr marL="0" indent="0">
              <a:buNone/>
            </a:pPr>
            <a:r>
              <a:rPr lang="en-US" sz="1400" dirty="0">
                <a:solidFill>
                  <a:srgbClr val="0B2027"/>
                </a:solidFill>
                <a:latin typeface="Calibri" pitchFamily="34" charset="0"/>
                <a:ea typeface="Calibri" pitchFamily="34" charset="-122"/>
                <a:cs typeface="Calibri" pitchFamily="34" charset="-120"/>
              </a:rPr>
              <a:t>Order access (403) and cancel rules (409)</a:t>
            </a:r>
            <a:endParaRPr lang="en-US" sz="1400" dirty="0"/>
          </a:p>
        </p:txBody>
      </p:sp>
      <p:sp>
        <p:nvSpPr>
          <p:cNvPr id="12" name="Shape 10"/>
          <p:cNvSpPr/>
          <p:nvPr/>
        </p:nvSpPr>
        <p:spPr>
          <a:xfrm>
            <a:off x="548640" y="3474720"/>
            <a:ext cx="10789920" cy="685800"/>
          </a:xfrm>
          <a:prstGeom prst="roundRect">
            <a:avLst>
              <a:gd name="adj" fmla="val 13333"/>
            </a:avLst>
          </a:prstGeom>
          <a:solidFill>
            <a:srgbClr val="F7FAFA"/>
          </a:solidFill>
          <a:ln/>
        </p:spPr>
        <p:txBody>
          <a:bodyPr/>
          <a:lstStyle/>
          <a:p>
            <a:endParaRPr lang="en-IN"/>
          </a:p>
        </p:txBody>
      </p:sp>
      <p:sp>
        <p:nvSpPr>
          <p:cNvPr id="13" name="Shape 11"/>
          <p:cNvSpPr/>
          <p:nvPr/>
        </p:nvSpPr>
        <p:spPr>
          <a:xfrm>
            <a:off x="822960" y="3643884"/>
            <a:ext cx="347472" cy="347472"/>
          </a:xfrm>
          <a:prstGeom prst="ellipse">
            <a:avLst/>
          </a:prstGeom>
          <a:solidFill>
            <a:srgbClr val="028090"/>
          </a:solidFill>
          <a:ln/>
        </p:spPr>
        <p:txBody>
          <a:bodyPr/>
          <a:lstStyle/>
          <a:p>
            <a:endParaRPr lang="en-IN"/>
          </a:p>
        </p:txBody>
      </p:sp>
      <p:sp>
        <p:nvSpPr>
          <p:cNvPr id="14" name="Text 12"/>
          <p:cNvSpPr/>
          <p:nvPr/>
        </p:nvSpPr>
        <p:spPr>
          <a:xfrm>
            <a:off x="822960" y="3643884"/>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1371600" y="3474720"/>
            <a:ext cx="9601200" cy="685800"/>
          </a:xfrm>
          <a:prstGeom prst="rect">
            <a:avLst/>
          </a:prstGeom>
          <a:noFill/>
          <a:ln/>
        </p:spPr>
        <p:txBody>
          <a:bodyPr wrap="square" lIns="0" tIns="0" rIns="0" bIns="0" rtlCol="0" anchor="ctr"/>
          <a:lstStyle/>
          <a:p>
            <a:pPr marL="0" indent="0">
              <a:buNone/>
            </a:pPr>
            <a:r>
              <a:rPr lang="en-US" sz="1400" dirty="0">
                <a:solidFill>
                  <a:srgbClr val="0B2027"/>
                </a:solidFill>
                <a:latin typeface="Calibri" pitchFamily="34" charset="0"/>
                <a:ea typeface="Calibri" pitchFamily="34" charset="-122"/>
                <a:cs typeface="Calibri" pitchFamily="34" charset="-120"/>
              </a:rPr>
              <a:t>Out-of-stock rejection (409)</a:t>
            </a:r>
            <a:endParaRPr lang="en-US" sz="1400" dirty="0"/>
          </a:p>
        </p:txBody>
      </p:sp>
      <p:sp>
        <p:nvSpPr>
          <p:cNvPr id="16" name="Shape 14"/>
          <p:cNvSpPr/>
          <p:nvPr/>
        </p:nvSpPr>
        <p:spPr>
          <a:xfrm>
            <a:off x="548640" y="4251960"/>
            <a:ext cx="10789920" cy="685800"/>
          </a:xfrm>
          <a:prstGeom prst="roundRect">
            <a:avLst>
              <a:gd name="adj" fmla="val 13333"/>
            </a:avLst>
          </a:prstGeom>
          <a:solidFill>
            <a:srgbClr val="F7FAFA"/>
          </a:solidFill>
          <a:ln/>
        </p:spPr>
        <p:txBody>
          <a:bodyPr/>
          <a:lstStyle/>
          <a:p>
            <a:endParaRPr lang="en-IN"/>
          </a:p>
        </p:txBody>
      </p:sp>
      <p:sp>
        <p:nvSpPr>
          <p:cNvPr id="17" name="Shape 15"/>
          <p:cNvSpPr/>
          <p:nvPr/>
        </p:nvSpPr>
        <p:spPr>
          <a:xfrm>
            <a:off x="822960" y="4421124"/>
            <a:ext cx="347472" cy="347472"/>
          </a:xfrm>
          <a:prstGeom prst="ellipse">
            <a:avLst/>
          </a:prstGeom>
          <a:solidFill>
            <a:srgbClr val="028090"/>
          </a:solidFill>
          <a:ln/>
        </p:spPr>
        <p:txBody>
          <a:bodyPr/>
          <a:lstStyle/>
          <a:p>
            <a:endParaRPr lang="en-IN"/>
          </a:p>
        </p:txBody>
      </p:sp>
      <p:sp>
        <p:nvSpPr>
          <p:cNvPr id="18" name="Text 16"/>
          <p:cNvSpPr/>
          <p:nvPr/>
        </p:nvSpPr>
        <p:spPr>
          <a:xfrm>
            <a:off x="822960" y="4421124"/>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p:nvPr/>
        </p:nvSpPr>
        <p:spPr>
          <a:xfrm>
            <a:off x="1371600" y="4251960"/>
            <a:ext cx="9601200" cy="685800"/>
          </a:xfrm>
          <a:prstGeom prst="rect">
            <a:avLst/>
          </a:prstGeom>
          <a:noFill/>
          <a:ln/>
        </p:spPr>
        <p:txBody>
          <a:bodyPr wrap="square" lIns="0" tIns="0" rIns="0" bIns="0" rtlCol="0" anchor="ctr"/>
          <a:lstStyle/>
          <a:p>
            <a:pPr marL="0" indent="0">
              <a:buNone/>
            </a:pPr>
            <a:r>
              <a:rPr lang="en-US" sz="1400" dirty="0">
                <a:solidFill>
                  <a:srgbClr val="0B2027"/>
                </a:solidFill>
                <a:latin typeface="Calibri" pitchFamily="34" charset="0"/>
                <a:ea typeface="Calibri" pitchFamily="34" charset="-122"/>
                <a:cs typeface="Calibri" pitchFamily="34" charset="-120"/>
              </a:rPr>
              <a:t>Real seeded passwords + secrets wiring</a:t>
            </a:r>
            <a:endParaRPr lang="en-US" sz="1400" dirty="0"/>
          </a:p>
        </p:txBody>
      </p:sp>
      <p:sp>
        <p:nvSpPr>
          <p:cNvPr id="20" name="Shape 18"/>
          <p:cNvSpPr/>
          <p:nvPr/>
        </p:nvSpPr>
        <p:spPr>
          <a:xfrm>
            <a:off x="548640" y="5029200"/>
            <a:ext cx="10789920" cy="685800"/>
          </a:xfrm>
          <a:prstGeom prst="roundRect">
            <a:avLst>
              <a:gd name="adj" fmla="val 13333"/>
            </a:avLst>
          </a:prstGeom>
          <a:solidFill>
            <a:srgbClr val="F7FAFA"/>
          </a:solidFill>
          <a:ln/>
        </p:spPr>
        <p:txBody>
          <a:bodyPr/>
          <a:lstStyle/>
          <a:p>
            <a:endParaRPr lang="en-IN"/>
          </a:p>
        </p:txBody>
      </p:sp>
      <p:sp>
        <p:nvSpPr>
          <p:cNvPr id="21" name="Shape 19"/>
          <p:cNvSpPr/>
          <p:nvPr/>
        </p:nvSpPr>
        <p:spPr>
          <a:xfrm>
            <a:off x="822960" y="5198364"/>
            <a:ext cx="347472" cy="347472"/>
          </a:xfrm>
          <a:prstGeom prst="ellipse">
            <a:avLst/>
          </a:prstGeom>
          <a:solidFill>
            <a:srgbClr val="028090"/>
          </a:solidFill>
          <a:ln/>
        </p:spPr>
        <p:txBody>
          <a:bodyPr/>
          <a:lstStyle/>
          <a:p>
            <a:endParaRPr lang="en-IN"/>
          </a:p>
        </p:txBody>
      </p:sp>
      <p:sp>
        <p:nvSpPr>
          <p:cNvPr id="22" name="Text 20"/>
          <p:cNvSpPr/>
          <p:nvPr/>
        </p:nvSpPr>
        <p:spPr>
          <a:xfrm>
            <a:off x="822960" y="5198364"/>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3" name="Text 21"/>
          <p:cNvSpPr/>
          <p:nvPr/>
        </p:nvSpPr>
        <p:spPr>
          <a:xfrm>
            <a:off x="1371600" y="5029200"/>
            <a:ext cx="9601200" cy="685800"/>
          </a:xfrm>
          <a:prstGeom prst="rect">
            <a:avLst/>
          </a:prstGeom>
          <a:noFill/>
          <a:ln/>
        </p:spPr>
        <p:txBody>
          <a:bodyPr wrap="square" lIns="0" tIns="0" rIns="0" bIns="0" rtlCol="0" anchor="ctr"/>
          <a:lstStyle/>
          <a:p>
            <a:pPr marL="0" indent="0">
              <a:buNone/>
            </a:pPr>
            <a:r>
              <a:rPr lang="en-US" sz="1400" dirty="0">
                <a:solidFill>
                  <a:srgbClr val="0B2027"/>
                </a:solidFill>
                <a:latin typeface="Calibri" pitchFamily="34" charset="0"/>
                <a:ea typeface="Calibri" pitchFamily="34" charset="-122"/>
                <a:cs typeface="Calibri" pitchFamily="34" charset="-120"/>
              </a:rPr>
              <a:t>MySQL + Testcontainers wired into every scenario</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2027"/>
        </a:solidFill>
        <a:effectLst/>
      </p:bgPr>
    </p:bg>
    <p:spTree>
      <p:nvGrpSpPr>
        <p:cNvPr id="1" name=""/>
        <p:cNvGrpSpPr/>
        <p:nvPr/>
      </p:nvGrpSpPr>
      <p:grpSpPr>
        <a:xfrm>
          <a:off x="0" y="0"/>
          <a:ext cx="0" cy="0"/>
          <a:chOff x="0" y="0"/>
          <a:chExt cx="0" cy="0"/>
        </a:xfrm>
      </p:grpSpPr>
      <p:sp>
        <p:nvSpPr>
          <p:cNvPr id="2" name="Shape 0"/>
          <p:cNvSpPr/>
          <p:nvPr/>
        </p:nvSpPr>
        <p:spPr>
          <a:xfrm>
            <a:off x="-1371600" y="4114800"/>
            <a:ext cx="4572000" cy="4572000"/>
          </a:xfrm>
          <a:prstGeom prst="ellipse">
            <a:avLst/>
          </a:prstGeom>
          <a:solidFill>
            <a:srgbClr val="028090">
              <a:alpha val="28000"/>
            </a:srgbClr>
          </a:solidFill>
          <a:ln/>
        </p:spPr>
        <p:txBody>
          <a:bodyPr/>
          <a:lstStyle/>
          <a:p>
            <a:endParaRPr lang="en-IN"/>
          </a:p>
        </p:txBody>
      </p:sp>
      <p:sp>
        <p:nvSpPr>
          <p:cNvPr id="3" name="Shape 1"/>
          <p:cNvSpPr/>
          <p:nvPr/>
        </p:nvSpPr>
        <p:spPr>
          <a:xfrm>
            <a:off x="9692640" y="-1188720"/>
            <a:ext cx="4572000" cy="4572000"/>
          </a:xfrm>
          <a:prstGeom prst="ellipse">
            <a:avLst/>
          </a:prstGeom>
          <a:solidFill>
            <a:srgbClr val="02C39A">
              <a:alpha val="22000"/>
            </a:srgbClr>
          </a:solidFill>
          <a:ln/>
        </p:spPr>
        <p:txBody>
          <a:bodyPr/>
          <a:lstStyle/>
          <a:p>
            <a:endParaRPr lang="en-IN"/>
          </a:p>
        </p:txBody>
      </p:sp>
      <p:sp>
        <p:nvSpPr>
          <p:cNvPr id="4" name="Shape 2"/>
          <p:cNvSpPr/>
          <p:nvPr/>
        </p:nvSpPr>
        <p:spPr>
          <a:xfrm>
            <a:off x="5641848" y="1737360"/>
            <a:ext cx="914400" cy="914400"/>
          </a:xfrm>
          <a:prstGeom prst="ellipse">
            <a:avLst/>
          </a:prstGeom>
          <a:solidFill>
            <a:srgbClr val="028090"/>
          </a:solidFill>
          <a:ln/>
        </p:spPr>
        <p:txBody>
          <a:bodyPr/>
          <a:lstStyle/>
          <a:p>
            <a:endParaRPr lang="en-IN"/>
          </a:p>
        </p:txBody>
      </p:sp>
      <p:pic>
        <p:nvPicPr>
          <p:cNvPr id="5" name="Image 0" descr="/home/claude/deck/icons/cart.png"/>
          <p:cNvPicPr>
            <a:picLocks noChangeAspect="1"/>
          </p:cNvPicPr>
          <p:nvPr/>
        </p:nvPicPr>
        <p:blipFill>
          <a:blip r:embed="rId3"/>
          <a:stretch>
            <a:fillRect/>
          </a:stretch>
        </p:blipFill>
        <p:spPr>
          <a:xfrm>
            <a:off x="5861304" y="1956816"/>
            <a:ext cx="475488" cy="475488"/>
          </a:xfrm>
          <a:prstGeom prst="rect">
            <a:avLst/>
          </a:prstGeom>
        </p:spPr>
      </p:pic>
      <p:sp>
        <p:nvSpPr>
          <p:cNvPr id="6" name="Text 3"/>
          <p:cNvSpPr/>
          <p:nvPr/>
        </p:nvSpPr>
        <p:spPr>
          <a:xfrm>
            <a:off x="548640" y="2926080"/>
            <a:ext cx="11091672" cy="914400"/>
          </a:xfrm>
          <a:prstGeom prst="rect">
            <a:avLst/>
          </a:prstGeom>
          <a:noFill/>
          <a:ln/>
        </p:spPr>
        <p:txBody>
          <a:bodyPr wrap="square" lIns="0" tIns="0" rIns="0" bIns="0" rtlCol="0" anchor="ctr"/>
          <a:lstStyle/>
          <a:p>
            <a:pPr marL="0" indent="0" algn="ctr">
              <a:buNone/>
            </a:pPr>
            <a:r>
              <a:rPr lang="en-US" sz="4000" b="1" dirty="0">
                <a:solidFill>
                  <a:srgbClr val="FFFFFF"/>
                </a:solidFill>
                <a:latin typeface="Cambria" pitchFamily="34" charset="0"/>
                <a:ea typeface="Cambria" pitchFamily="34" charset="-122"/>
                <a:cs typeface="Cambria" pitchFamily="34" charset="-120"/>
              </a:rPr>
              <a:t>Thank you</a:t>
            </a:r>
            <a:endParaRPr lang="en-US" sz="4000" dirty="0"/>
          </a:p>
        </p:txBody>
      </p:sp>
      <p:sp>
        <p:nvSpPr>
          <p:cNvPr id="7" name="Text 4"/>
          <p:cNvSpPr/>
          <p:nvPr/>
        </p:nvSpPr>
        <p:spPr>
          <a:xfrm>
            <a:off x="548640" y="3840480"/>
            <a:ext cx="11091672" cy="457200"/>
          </a:xfrm>
          <a:prstGeom prst="rect">
            <a:avLst/>
          </a:prstGeom>
          <a:noFill/>
          <a:ln/>
        </p:spPr>
        <p:txBody>
          <a:bodyPr wrap="square" lIns="0" tIns="0" rIns="0" bIns="0" rtlCol="0" anchor="ctr"/>
          <a:lstStyle/>
          <a:p>
            <a:pPr marL="0" indent="0" algn="ctr">
              <a:buNone/>
            </a:pPr>
            <a:r>
              <a:rPr lang="en-US" sz="1600" dirty="0">
                <a:solidFill>
                  <a:srgbClr val="B9D6D6"/>
                </a:solidFill>
                <a:latin typeface="Calibri" pitchFamily="34" charset="0"/>
                <a:ea typeface="Calibri" pitchFamily="34" charset="-122"/>
                <a:cs typeface="Calibri" pitchFamily="34" charset="-120"/>
              </a:rPr>
              <a:t>ShopKart Automation Framework</a:t>
            </a:r>
            <a:endParaRPr lang="en-US" sz="1600" dirty="0"/>
          </a:p>
        </p:txBody>
      </p:sp>
      <p:sp>
        <p:nvSpPr>
          <p:cNvPr id="8" name="Shape 5"/>
          <p:cNvSpPr/>
          <p:nvPr/>
        </p:nvSpPr>
        <p:spPr>
          <a:xfrm>
            <a:off x="2889504" y="4480560"/>
            <a:ext cx="6400800" cy="548640"/>
          </a:xfrm>
          <a:prstGeom prst="roundRect">
            <a:avLst>
              <a:gd name="adj" fmla="val 16667"/>
            </a:avLst>
          </a:prstGeom>
          <a:solidFill>
            <a:srgbClr val="13323A"/>
          </a:solidFill>
          <a:ln/>
        </p:spPr>
        <p:txBody>
          <a:bodyPr/>
          <a:lstStyle/>
          <a:p>
            <a:endParaRPr lang="en-IN"/>
          </a:p>
        </p:txBody>
      </p:sp>
      <p:sp>
        <p:nvSpPr>
          <p:cNvPr id="9" name="Text 6"/>
          <p:cNvSpPr/>
          <p:nvPr/>
        </p:nvSpPr>
        <p:spPr>
          <a:xfrm>
            <a:off x="2889504" y="4480560"/>
            <a:ext cx="6400800" cy="548640"/>
          </a:xfrm>
          <a:prstGeom prst="rect">
            <a:avLst/>
          </a:prstGeom>
          <a:noFill/>
          <a:ln/>
        </p:spPr>
        <p:txBody>
          <a:bodyPr wrap="square" lIns="0" tIns="0" rIns="0" bIns="0" rtlCol="0" anchor="ctr"/>
          <a:lstStyle/>
          <a:p>
            <a:pPr marL="0" indent="0" algn="ctr">
              <a:buNone/>
            </a:pPr>
            <a:r>
              <a:rPr lang="en-US" sz="1350" dirty="0">
                <a:solidFill>
                  <a:srgbClr val="02C39A"/>
                </a:solidFill>
                <a:latin typeface="Courier New" pitchFamily="34" charset="0"/>
                <a:ea typeface="Courier New" pitchFamily="34" charset="-122"/>
                <a:cs typeface="Courier New" pitchFamily="34" charset="-120"/>
              </a:rPr>
              <a:t>github.com/Manjushree12345/shopkart-automation</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1611</Words>
  <Application>Microsoft Office PowerPoint</Application>
  <PresentationFormat>Widescreen</PresentationFormat>
  <Paragraphs>153</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Manjushree Handiganala Ramachandra(UST,IN)</cp:lastModifiedBy>
  <cp:revision>1</cp:revision>
  <dcterms:created xsi:type="dcterms:W3CDTF">2026-07-12T17:58:15Z</dcterms:created>
  <dcterms:modified xsi:type="dcterms:W3CDTF">2026-07-12T18:00:27Z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5ffddfa-74ad-4c1f-9757-a38a11902f1c_Enabled">
    <vt:lpwstr>true</vt:lpwstr>
  </property>
  <property fmtid="{D5CDD505-2E9C-101B-9397-08002B2CF9AE}" pid="3" name="MSIP_Label_15ffddfa-74ad-4c1f-9757-a38a11902f1c_SetDate">
    <vt:lpwstr>2026-07-12T18:00:26Z</vt:lpwstr>
  </property>
  <property fmtid="{D5CDD505-2E9C-101B-9397-08002B2CF9AE}" pid="4" name="MSIP_Label_15ffddfa-74ad-4c1f-9757-a38a11902f1c_Method">
    <vt:lpwstr>Standard</vt:lpwstr>
  </property>
  <property fmtid="{D5CDD505-2E9C-101B-9397-08002B2CF9AE}" pid="5" name="MSIP_Label_15ffddfa-74ad-4c1f-9757-a38a11902f1c_Name">
    <vt:lpwstr>UST Internal</vt:lpwstr>
  </property>
  <property fmtid="{D5CDD505-2E9C-101B-9397-08002B2CF9AE}" pid="6" name="MSIP_Label_15ffddfa-74ad-4c1f-9757-a38a11902f1c_SiteId">
    <vt:lpwstr>a4431f4b-c207-4733-9530-34c08a9b2b8d</vt:lpwstr>
  </property>
  <property fmtid="{D5CDD505-2E9C-101B-9397-08002B2CF9AE}" pid="7" name="MSIP_Label_15ffddfa-74ad-4c1f-9757-a38a11902f1c_ActionId">
    <vt:lpwstr>eb8abf60-a2f3-4048-a614-4cb3d877f5f9</vt:lpwstr>
  </property>
  <property fmtid="{D5CDD505-2E9C-101B-9397-08002B2CF9AE}" pid="8" name="MSIP_Label_15ffddfa-74ad-4c1f-9757-a38a11902f1c_ContentBits">
    <vt:lpwstr>0</vt:lpwstr>
  </property>
  <property fmtid="{D5CDD505-2E9C-101B-9397-08002B2CF9AE}" pid="9" name="MSIP_Label_15ffddfa-74ad-4c1f-9757-a38a11902f1c_Tag">
    <vt:lpwstr>10, 3, 0, 1</vt:lpwstr>
  </property>
</Properties>
</file>