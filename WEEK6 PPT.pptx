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5324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yothsna-056/shopkart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0E6E71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332720" y="4389120"/>
            <a:ext cx="2926080" cy="2926080"/>
          </a:xfrm>
          <a:prstGeom prst="ellipse">
            <a:avLst/>
          </a:prstGeom>
          <a:solidFill>
            <a:srgbClr val="F2A93B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1FA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TEST AUTOMATION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 BDD Framework Walkthrough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794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· API · Database · Security — one framework, four layers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4754880"/>
            <a:ext cx="502920" cy="73152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4892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– Gate 6 Assessment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journey, tested from four angles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shopping flow — search, cart, checkout — touches a browser, a REST API, and a database. Testing only the UI misses backend bugs; testing only the API misses what the customer sees. This framework hits every layer on purpose.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101600" dist="38100" dir="5400000" algn="bl" rotWithShape="0">
              <a:srgbClr val="1B2A3D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440180" y="2606040"/>
            <a:ext cx="822960" cy="822960"/>
          </a:xfrm>
          <a:prstGeom prst="ellipse">
            <a:avLst/>
          </a:prstGeom>
          <a:solidFill>
            <a:srgbClr val="1FA2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🖥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36118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0690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Selenide + Page Objects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10712" y="22860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101600" dist="38100" dir="5400000" algn="bl" rotWithShape="0">
              <a:srgbClr val="1B2A3D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302252" y="260604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410712" y="26060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🔌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47872" y="36118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47872" y="40690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clients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72784" y="22860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101600" dist="38100" dir="5400000" algn="bl" rotWithShape="0">
              <a:srgbClr val="1B2A3D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164324" y="2606040"/>
            <a:ext cx="822960" cy="822960"/>
          </a:xfrm>
          <a:prstGeom prst="ellipse">
            <a:avLst/>
          </a:prstGeom>
          <a:solidFill>
            <a:srgbClr val="6C8C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72784" y="26060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🗄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09944" y="36118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9944" y="40690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repositories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34856" y="22860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101600" dist="38100" dir="5400000" algn="bl" rotWithShape="0">
              <a:srgbClr val="1B2A3D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0026396" y="2606040"/>
            <a:ext cx="822960" cy="822960"/>
          </a:xfrm>
          <a:prstGeom prst="ellipse">
            <a:avLst/>
          </a:prstGeom>
          <a:solidFill>
            <a:srgbClr val="C955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134856" y="26060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272016" y="36118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272016" y="40690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Negative/auth checks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A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scenario flows through the framework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1630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2296" cy="777240"/>
          </a:xfrm>
          <a:prstGeom prst="rect">
            <a:avLst/>
          </a:prstGeom>
          <a:solidFill>
            <a:srgbClr val="1FA2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1426464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files (Gherkin)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51960" y="1426464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scenarios, tagged @smoke @api @db @ui @e2e @negative @security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130552"/>
            <a:ext cx="10607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A2A6"/>
                </a:solidFill>
              </a:rPr>
              <a:t>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1630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82296" cy="777240"/>
          </a:xfrm>
          <a:prstGeom prst="rect">
            <a:avLst/>
          </a:prstGeom>
          <a:solidFill>
            <a:srgbClr val="3FA9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8680" y="2340864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definitions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51960" y="2340864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classes mapping each Gherkin line to real code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044952"/>
            <a:ext cx="10607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A2A6"/>
                </a:solidFill>
              </a:rPr>
              <a:t>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1630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82296" cy="777240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68680" y="3255264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clients  →  UI page objects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51960" y="3255264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AuthClient / CartClient / OrderClient / ProductClient   —   LoginPage / HomePage / CartPage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10607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A2A6"/>
                </a:solidFill>
              </a:rPr>
              <a:t>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1630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82296" cy="777240"/>
          </a:xfrm>
          <a:prstGeom prst="rect">
            <a:avLst/>
          </a:prstGeom>
          <a:solidFill>
            <a:srgbClr val="6C8C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68680" y="4169664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repositories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51960" y="4169664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CartRepository / OrderRepository run JDBC queries to verify persistence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873752"/>
            <a:ext cx="10607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A2A6"/>
                </a:solidFill>
              </a:rPr>
              <a:t>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029200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1630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48640" y="5029200"/>
            <a:ext cx="82296" cy="777240"/>
          </a:xfrm>
          <a:prstGeom prst="rect">
            <a:avLst/>
          </a:prstGeom>
          <a:solidFill>
            <a:srgbClr val="C955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68680" y="5084064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WorldContext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251960" y="5084064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(token, cartId, orderId) passed across steps in one scenario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files: the scenario in plain English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760720" cy="4480560"/>
          </a:xfrm>
          <a:prstGeom prst="roundRect">
            <a:avLst>
              <a:gd name="adj" fmla="val 2041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@api @negative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FA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Feature: Cancel rules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Scenario: Cancel a placed order only once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Given Alice has placed an order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Alice cancels the order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Then the order status should become "CANCELLED"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Alice cancels the same order again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Then the response status should be 409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/ When / Then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0" y="17373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1:1 to a step definition method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0" y="2514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(@api, @db…)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8803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Gradle run just one slice: ./gradlew api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0" y="3657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scenario, one flow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40233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like a QA test case a non-coder can review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definitions glue Gherkin to code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definition class is thin on purpose — it just calls an API client or a page object, then asserts. State that needs to travel between steps (login token, cart id, order id) lives in one shared object: WorldContext.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CancelOrderSteps.java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6634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E6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@When("Alice cancels the order")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cancelOrder() {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orderClient.cancelOrder(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context.getToken(),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context.getOrderId());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2011680"/>
            <a:ext cx="5486400" cy="3566160"/>
          </a:xfrm>
          <a:prstGeom prst="roundRect">
            <a:avLst>
              <a:gd name="adj" fmla="val 2564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0" y="21945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WorldContext — shared per scenario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651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token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0" y="30358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customerId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0" y="341985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cartId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0" y="380390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orderId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418795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responseStatus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0" y="4572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loginPage / homePage / cartPage / checkoutPage / orderPage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layer: REST Assured clients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REST call the app supports is wrapped once, in one place. Step definitions call these clients instead of writing raw HTTP requests, so a scenario stays readable and a change to an endpoint is fixed in a single file.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606040" cy="73152"/>
          </a:xfrm>
          <a:prstGeom prst="rect">
            <a:avLst/>
          </a:prstGeom>
          <a:solidFill>
            <a:srgbClr val="1FA2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AuthClient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login() → token + customer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4160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6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/auth/login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10712" y="210312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410712" y="2103120"/>
            <a:ext cx="2606040" cy="73152"/>
          </a:xfrm>
          <a:prstGeom prst="rect">
            <a:avLst/>
          </a:prstGeom>
          <a:solidFill>
            <a:srgbClr val="1FA2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547872" y="2331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ProductClient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47872" y="27432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search(keyword) → products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47872" y="4160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6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/products?q=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72784" y="210312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272784" y="2103120"/>
            <a:ext cx="2606040" cy="73152"/>
          </a:xfrm>
          <a:prstGeom prst="rect">
            <a:avLst/>
          </a:prstGeom>
          <a:solidFill>
            <a:srgbClr val="1FA2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9944" y="2331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CartClient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09944" y="27432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createCart, addItem, getCart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9944" y="4160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6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/carts/{id}/items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34856" y="210312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134856" y="2103120"/>
            <a:ext cx="2606040" cy="73152"/>
          </a:xfrm>
          <a:prstGeom prst="rect">
            <a:avLst/>
          </a:prstGeom>
          <a:solidFill>
            <a:srgbClr val="1FA2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272016" y="2331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OrderClient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272016" y="27432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placeOrder, getOrder, cancelOrder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272016" y="4160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6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/orders/{id}/cancel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4 &amp;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UI: Page Object Model  —  DB: verify what the API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Selenide Page Objects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LoginPage, HomePage, CartPage, CheckoutPage, OrderPage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page hides its own locators — step defs never touch a By.id() directly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homePage.searchProduct("lamp") reads like the Gherkin step it implements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0690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Hooks.java sets browser/timeout config before each scenario, closes the driver after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92240" y="1554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JDBC Repositories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0116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CartRepository.cartTotal(cartId) runs SQL directly against MySQL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OrderRepository.orderStatus(orderId) checks the row actually changed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33832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Proves the API isn't lying — the database, not just the response, agrees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40690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Used in cart-totals and cancel-rules scenarios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PIECES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Config, secrets, and Allure reporting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474720" cy="39319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457200" cy="457200"/>
          </a:xfrm>
          <a:prstGeom prst="ellipse">
            <a:avLst/>
          </a:prstGeom>
          <a:solidFill>
            <a:srgbClr val="1FA2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/ Secrets / AppConfig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env vars, system properties, then .env — in that order. No hardcoded URLs or passwords in test code.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1463040"/>
            <a:ext cx="3474720" cy="39319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26280" y="173736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26280" y="23317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environment.properties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26280" y="297180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app, browser, base URL, and DB used for a run — shown at the top of the Allure report.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1463040"/>
            <a:ext cx="3474720" cy="39319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229600" y="1737360"/>
            <a:ext cx="457200" cy="457200"/>
          </a:xfrm>
          <a:prstGeom prst="ellipse">
            <a:avLst/>
          </a:prstGeom>
          <a:solidFill>
            <a:srgbClr val="6C8C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0" y="23317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categories.json (Allure)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29600" y="297180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failures: assertion, UI, database, config, infrastructure — so a failed run points you at the right layer instantly.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A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scenarios — one per Week-6 skill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448056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A2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A2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A2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A2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A2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search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returns matching products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+ 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@smoke @ui @api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 totals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= Σ(qty × price), in paise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+ DB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@api @db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30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 E2E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→ search → add → cart → checkout → PLACED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UI→API→DB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@e2e @smoke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200; another customer 403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@api @negative @security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30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 rules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 PLACED→CANCELLED; again→409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@api @negative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 of stock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qty &gt; stock → 409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@api @negative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30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tags decide what runs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build.gradle.kts registers one Test task per tag. Each filters Cucumber by @tag, so you can run a fast smoke pass or a full nightly run of everything.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./gradlew smoke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19659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confidence check — @smoke only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349240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0" y="19659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./gradlew api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823960" y="19659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API-layer scenarios — @api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5349240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77240" y="28803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./gradlew ui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28803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Browser-driven scenarios — @ui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2880360"/>
            <a:ext cx="5349240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0" y="28803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./gradlew db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823960" y="28803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verification scenarios — @db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5349240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77240" y="37947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./gradlew negative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0" y="37947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Failure-path scenarios — @negative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3794760"/>
            <a:ext cx="5349240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0" y="37947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./gradlew security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23960" y="37947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Auth/access-control scenarios — @security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5349240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77240" y="47091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./gradlew e2e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00400" y="47091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user journey — @e2e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4709160"/>
            <a:ext cx="5349240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400800" y="47091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./gradlew test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823960" y="47091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Everything, all tags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E6E71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66928" y="45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A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design matters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126187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Layered, not stacked everything on UI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62763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tests are slow and flaky — push logic checks down to API/DB where they're fast and stable.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2313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Gherkin is documentation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67919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— not just developers — can read what's being verified.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68680" y="336499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context per scenario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373075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WorldContext avoids static/global state while still passing data between steps.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68680" y="441655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= selective execution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478231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codebase, many run profiles: smoke, full regression, security-only, etc.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072714-45EF-937E-421E-6066FDF80F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6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878831-877C-3362-6335-77E13036D2CC}"/>
              </a:ext>
            </a:extLst>
          </p:cNvPr>
          <p:cNvSpPr txBox="1"/>
          <p:nvPr/>
        </p:nvSpPr>
        <p:spPr>
          <a:xfrm>
            <a:off x="772160" y="609600"/>
            <a:ext cx="837184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hlinkClick r:id="rId2"/>
              </a:rPr>
              <a:t>Jyothsna-056/</a:t>
            </a:r>
            <a:r>
              <a:rPr lang="en-IN" b="1" dirty="0" err="1">
                <a:hlinkClick r:id="rId2"/>
              </a:rPr>
              <a:t>shopkart</a:t>
            </a:r>
            <a:r>
              <a:rPr lang="en-IN" b="1" dirty="0"/>
              <a:t>: </a:t>
            </a:r>
            <a:r>
              <a:rPr lang="en-IN" b="1" dirty="0" err="1"/>
              <a:t>Github</a:t>
            </a:r>
            <a:r>
              <a:rPr lang="en-IN" b="1" dirty="0"/>
              <a:t> link.</a:t>
            </a: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pPr algn="ctr"/>
            <a:r>
              <a:rPr lang="en-IN" sz="8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50166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1090</Words>
  <Application>Microsoft Office PowerPoint</Application>
  <PresentationFormat>Widescreen</PresentationFormat>
  <Paragraphs>191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Jyothsna Vaidyanath(UST,IN)</cp:lastModifiedBy>
  <cp:revision>2</cp:revision>
  <dcterms:created xsi:type="dcterms:W3CDTF">2026-07-12T11:38:21Z</dcterms:created>
  <dcterms:modified xsi:type="dcterms:W3CDTF">2026-07-12T12:25:27Z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2026-07-12T12:25:27Z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3d699c5c-6a04-48b6-80c7-2ad6592c0e44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