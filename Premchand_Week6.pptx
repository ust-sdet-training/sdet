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4513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.png"/><Relationship Id="rId10" Type="http://schemas.openxmlformats.org/officeDocument/2006/relationships/image" Target="../media/image12.png"/><Relationship Id="rId4" Type="http://schemas.openxmlformats.org/officeDocument/2006/relationships/image" Target="../media/image8.png"/><Relationship Id="rId9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4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0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0.png"/><Relationship Id="rId9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9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2.png"/><Relationship Id="rId10" Type="http://schemas.openxmlformats.org/officeDocument/2006/relationships/image" Target="../media/image25.png"/><Relationship Id="rId4" Type="http://schemas.openxmlformats.org/officeDocument/2006/relationships/image" Target="../media/image4.png"/><Relationship Id="rId9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0"/>
          </a:xfrm>
          <a:prstGeom prst="roundRect">
            <a:avLst>
              <a:gd name="adj" fmla="val 3000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SDET 7-WEEK AUTOMATION ENGINEERING PROGRAMME  ·  WEEK 6 PRE-CAPSTONE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30352" y="86868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ShopKart Automation Framework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Automation Capstone — UI, API, Database, CI/CD &amp; Reporting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784098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2235708"/>
            <a:ext cx="78409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479042" y="2240280"/>
            <a:ext cx="708660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479042" y="2235708"/>
            <a:ext cx="7086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34006" y="2240280"/>
            <a:ext cx="1010412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334006" y="2235708"/>
            <a:ext cx="10104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Cucumber 7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90722" y="2240280"/>
            <a:ext cx="859536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90722" y="2235708"/>
            <a:ext cx="8595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Selenide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697480"/>
            <a:ext cx="1161288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48640" y="2692908"/>
            <a:ext cx="1161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56232" y="2697480"/>
            <a:ext cx="633222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856232" y="2692908"/>
            <a:ext cx="63322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635758" y="2697480"/>
            <a:ext cx="1312164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2635758" y="2692908"/>
            <a:ext cx="13121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094226" y="2697480"/>
            <a:ext cx="708660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094226" y="2692908"/>
            <a:ext cx="7086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3337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built — a walkthrough of my submitted assessment against the Gate 6 build brief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github.com/Premchand-302/Premchand-Week6-Assessment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844C0CD2-8155-20ED-44D9-B7B37D08EBF4}"/>
              </a:ext>
            </a:extLst>
          </p:cNvPr>
          <p:cNvSpPr/>
          <p:nvPr/>
        </p:nvSpPr>
        <p:spPr>
          <a:xfrm>
            <a:off x="457200" y="4467352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  </a:t>
            </a:r>
            <a:r>
              <a:rPr lang="en-US" sz="1200" dirty="0">
                <a:solidFill>
                  <a:srgbClr val="002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github.com/Premchand-302/Premchand-Week6-Assessment
</a:t>
            </a: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 </a:t>
            </a:r>
            <a:r>
              <a:rPr lang="en-US" sz="14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Premchand Chellisseril Pramod</a:t>
            </a:r>
            <a:endParaRPr lang="en-US" sz="14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6692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7043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submission delivers, in one paragraph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11247120" cy="914400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Cucumber + REST Assured + Selenide framework automating ShopKart's checkout domain across UI, API, and database layers, wired into a GitHub Actions pipeline that publishes an Allure report with history to GitHub Pages on every push to main.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788920"/>
            <a:ext cx="5349240" cy="1051560"/>
          </a:xfrm>
          <a:prstGeom prst="roundRect">
            <a:avLst>
              <a:gd name="adj" fmla="val 5217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/home/claude/icons/gitbranch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6324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2916936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framework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371600" y="3264408"/>
            <a:ext cx="42976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3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/ api / ui / data / support / stepdefs — the same separation the gate scores first</a:t>
            </a:r>
            <a:endParaRPr lang="en-US" sz="1030" dirty="0"/>
          </a:p>
        </p:txBody>
      </p:sp>
      <p:sp>
        <p:nvSpPr>
          <p:cNvPr id="10" name="Shape 7"/>
          <p:cNvSpPr/>
          <p:nvPr/>
        </p:nvSpPr>
        <p:spPr>
          <a:xfrm>
            <a:off x="457200" y="3995928"/>
            <a:ext cx="5349240" cy="1051560"/>
          </a:xfrm>
          <a:prstGeom prst="roundRect">
            <a:avLst>
              <a:gd name="adj" fmla="val 5217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/home/claude/icons/layers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270248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4123944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3-layer E2E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371600" y="4471416"/>
            <a:ext cx="42976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3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checkout_e2e.feature verified through the UI, the orders API, and a direct SQL check in one run</a:t>
            </a:r>
            <a:endParaRPr lang="en-US" sz="1030" dirty="0"/>
          </a:p>
        </p:txBody>
      </p:sp>
      <p:sp>
        <p:nvSpPr>
          <p:cNvPr id="14" name="Shape 10"/>
          <p:cNvSpPr/>
          <p:nvPr/>
        </p:nvSpPr>
        <p:spPr>
          <a:xfrm>
            <a:off x="457200" y="5202936"/>
            <a:ext cx="5349240" cy="1051560"/>
          </a:xfrm>
          <a:prstGeom prst="roundRect">
            <a:avLst>
              <a:gd name="adj" fmla="val 5217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/home/claude/icons/lock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5477256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533095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Off-repo secrets, live CI/CD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371600" y="5678424"/>
            <a:ext cx="42976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3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→ Secrets → AppConfig off a git-ignored .env; GitHub Actions deploys Allure history to gh-pages</a:t>
            </a:r>
            <a:endParaRPr lang="en-US" sz="1030" dirty="0"/>
          </a:p>
        </p:txBody>
      </p:sp>
      <p:sp>
        <p:nvSpPr>
          <p:cNvPr id="18" name="Shape 13"/>
          <p:cNvSpPr/>
          <p:nvPr/>
        </p:nvSpPr>
        <p:spPr>
          <a:xfrm>
            <a:off x="6035040" y="2788920"/>
            <a:ext cx="5669280" cy="3611880"/>
          </a:xfrm>
          <a:prstGeom prst="roundRect">
            <a:avLst>
              <a:gd name="adj" fmla="val 1519"/>
            </a:avLst>
          </a:prstGeom>
          <a:solidFill>
            <a:srgbClr val="EAF0FA"/>
          </a:solidFill>
          <a:ln w="19050">
            <a:solidFill>
              <a:srgbClr val="4A6FA5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3" descr="/home/claude/icons/image_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8220" y="4091940"/>
            <a:ext cx="502920" cy="5029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217920" y="4649724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Overview / Cucumber Run Screenshot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6217920" y="494233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 here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github.com/Premchand-302/Premchand-Week6-Assessment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F9F8A63-6F31-61AF-810D-7D1DCA30BA4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0" y="2693416"/>
            <a:ext cx="6112237" cy="378053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6692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— As Implemented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7043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choices actually wired up in the repo</a:t>
            </a:r>
            <a:endParaRPr lang="en-US" sz="12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6400800" cy="3621024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Concern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What's actually wired up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233"/>
                          </a:solidFill>
                        </a:rPr>
                        <a:t>Language / runtime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233"/>
                          </a:solidFill>
                        </a:rPr>
                        <a:t>Java 22 (Gradle toolchain)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233"/>
                          </a:solidFill>
                        </a:rPr>
                        <a:t>BDD / runner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233"/>
                          </a:solidFill>
                        </a:rPr>
                        <a:t>Cucumber 7.14 · JUnit Platform Suite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233"/>
                          </a:solidFill>
                        </a:rPr>
                        <a:t>API testing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233"/>
                          </a:solidFill>
                        </a:rPr>
                        <a:t>REST Assured 5.5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233"/>
                          </a:solidFill>
                        </a:rPr>
                        <a:t>UI testing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233"/>
                          </a:solidFill>
                        </a:rPr>
                        <a:t>Selenide 7.9 (dynamic XPath via $x-style locators)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233"/>
                          </a:solidFill>
                        </a:rPr>
                        <a:t>Database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233"/>
                          </a:solidFill>
                        </a:rPr>
                        <a:t>MySQL, via plain JDBC (mysql-connector-j)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233"/>
                          </a:solidFill>
                        </a:rPr>
                        <a:t>Config / secrets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233"/>
                          </a:solidFill>
                        </a:rPr>
                        <a:t>dotenv-java — env var → system property → .env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233"/>
                          </a:solidFill>
                        </a:rPr>
                        <a:t>Build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233"/>
                          </a:solidFill>
                        </a:rPr>
                        <a:t>Gradle Kotlin DSL (build.gradle.kts)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233"/>
                          </a:solidFill>
                        </a:rPr>
                        <a:t>Reporting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233"/>
                          </a:solidFill>
                        </a:rPr>
                        <a:t>Allure 2.35 (Cucumber7, REST Assured, Selenide, JUnit5 adapters)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178040" y="1600200"/>
            <a:ext cx="4553712" cy="4572000"/>
          </a:xfrm>
          <a:prstGeom prst="roundRect">
            <a:avLst>
              <a:gd name="adj" fmla="val 1205"/>
            </a:avLst>
          </a:prstGeom>
          <a:solidFill>
            <a:srgbClr val="EAF0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7452360" y="17830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vs. the Reference Brief</a:t>
            </a:r>
            <a:endParaRPr lang="en-US" sz="1300" dirty="0"/>
          </a:p>
        </p:txBody>
      </p:sp>
      <p:pic>
        <p:nvPicPr>
          <p:cNvPr id="7" name="Image 0" descr="/home/claude/icons/alert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2286000"/>
            <a:ext cx="292608" cy="2926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882128" y="2231136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22 + MySQL, where the reference brief specifies Java 21 + PostgreSQL</a:t>
            </a:r>
            <a:endParaRPr lang="en-US" sz="1100" dirty="0"/>
          </a:p>
        </p:txBody>
      </p:sp>
      <p:pic>
        <p:nvPicPr>
          <p:cNvPr id="9" name="Image 1" descr="/home/claude/icons/alert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3584448"/>
            <a:ext cx="292608" cy="29260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882128" y="3529584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resolved via dotenv rather than a custom off-repo Secrets file only — same effect, different library</a:t>
            </a:r>
            <a:endParaRPr lang="en-US" sz="1100" dirty="0"/>
          </a:p>
        </p:txBody>
      </p:sp>
      <p:pic>
        <p:nvPicPr>
          <p:cNvPr id="11" name="Image 2" descr="/home/claude/icons/alert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4882896"/>
            <a:ext cx="292608" cy="29260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882128" y="4828032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access is direct JDBC — no Testcontainers, so isolation relies on discipline, not a throwaway instance per class</a:t>
            </a:r>
            <a:endParaRPr lang="en-US" sz="1100" dirty="0"/>
          </a:p>
        </p:txBody>
      </p:sp>
      <p:sp>
        <p:nvSpPr>
          <p:cNvPr id="13" name="Text 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github.com/Premchand-302/Premchand-Week6-Assessment</a:t>
            </a:r>
            <a:endParaRPr lang="en-US" sz="1000" dirty="0"/>
          </a:p>
        </p:txBody>
      </p:sp>
      <p:sp>
        <p:nvSpPr>
          <p:cNvPr id="14" name="Text 8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6692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7043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layered architecture, as built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349240" cy="658368"/>
          </a:xfrm>
          <a:prstGeom prst="roundRect">
            <a:avLst>
              <a:gd name="adj" fmla="val 8333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/home/claude/icons/file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728216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600200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Files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3291840" y="160020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files, secret-free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57200" y="2258568"/>
            <a:ext cx="53492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404872"/>
            <a:ext cx="5349240" cy="658368"/>
          </a:xfrm>
          <a:prstGeom prst="roundRect">
            <a:avLst>
              <a:gd name="adj" fmla="val 8333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/home/claude/icons/play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2532888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2404872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Definitions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3291840" y="2404872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glue — no logic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57200" y="3063240"/>
            <a:ext cx="53492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3209544"/>
            <a:ext cx="5349240" cy="658368"/>
          </a:xfrm>
          <a:prstGeom prst="roundRect">
            <a:avLst>
              <a:gd name="adj" fmla="val 8333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/home/claude/icons/layers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3337560"/>
            <a:ext cx="402336" cy="4023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88720" y="3209544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 |  API  |  Database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3291840" y="3209544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Selenide · REST Assured · JDBC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457200" y="3867912"/>
            <a:ext cx="53492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57200" y="4014216"/>
            <a:ext cx="5349240" cy="658368"/>
          </a:xfrm>
          <a:prstGeom prst="roundRect">
            <a:avLst>
              <a:gd name="adj" fmla="val 8333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3" descr="/home/claude/icons/barchart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" y="4142232"/>
            <a:ext cx="402336" cy="40233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188720" y="4014216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Reports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3291840" y="4014216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Allure, with history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457200" y="4672584"/>
            <a:ext cx="53492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57200" y="4818888"/>
            <a:ext cx="5349240" cy="658368"/>
          </a:xfrm>
          <a:prstGeom prst="roundRect">
            <a:avLst>
              <a:gd name="adj" fmla="val 8333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4" descr="/home/claude/icons/github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792" y="4946904"/>
            <a:ext cx="402336" cy="40233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188720" y="4818888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Pipeline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3291840" y="4818888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457200" y="5477256"/>
            <a:ext cx="53492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457200" y="5623560"/>
            <a:ext cx="5349240" cy="658368"/>
          </a:xfrm>
          <a:prstGeom prst="roundRect">
            <a:avLst>
              <a:gd name="adj" fmla="val 8333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0" name="Image 5" descr="/home/claude/icons/cloud_nav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792" y="5751576"/>
            <a:ext cx="402336" cy="40233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188720" y="5623560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Report</a:t>
            </a:r>
            <a:endParaRPr lang="en-US" sz="1250" dirty="0"/>
          </a:p>
        </p:txBody>
      </p:sp>
      <p:sp>
        <p:nvSpPr>
          <p:cNvPr id="32" name="Text 24"/>
          <p:cNvSpPr/>
          <p:nvPr/>
        </p:nvSpPr>
        <p:spPr>
          <a:xfrm>
            <a:off x="3291840" y="562356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gh-pages</a:t>
            </a:r>
            <a:endParaRPr lang="en-US" sz="1050" dirty="0"/>
          </a:p>
        </p:txBody>
      </p:sp>
      <p:pic>
        <p:nvPicPr>
          <p:cNvPr id="34" name="Image 6" descr="/home/claude/icons/image_blu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18220" y="3383280"/>
            <a:ext cx="502920" cy="50292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6217920" y="3941064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 Screenshot</a:t>
            </a:r>
            <a:endParaRPr lang="en-US" sz="1200" dirty="0"/>
          </a:p>
        </p:txBody>
      </p:sp>
      <p:sp>
        <p:nvSpPr>
          <p:cNvPr id="36" name="Text 27"/>
          <p:cNvSpPr/>
          <p:nvPr/>
        </p:nvSpPr>
        <p:spPr>
          <a:xfrm>
            <a:off x="6217920" y="423367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 here</a:t>
            </a:r>
            <a:endParaRPr lang="en-US" sz="1000" dirty="0"/>
          </a:p>
        </p:txBody>
      </p:sp>
      <p:sp>
        <p:nvSpPr>
          <p:cNvPr id="37" name="Text 2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github.com/Premchand-302/Premchand-Week6-Assessment</a:t>
            </a:r>
            <a:endParaRPr lang="en-US" sz="1000" dirty="0"/>
          </a:p>
        </p:txBody>
      </p:sp>
      <p:sp>
        <p:nvSpPr>
          <p:cNvPr id="38" name="Text 29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A285A4BB-6022-5606-5124-023FDC00A61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88757" y="205740"/>
            <a:ext cx="5075483" cy="63139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6692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Locator Strategy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7043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XPath — what's in the repo</a:t>
            </a:r>
            <a:endParaRPr lang="en-US" sz="1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1247120" cy="3072384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Class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Elements Covered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Representative XPath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</a:rPr>
                        <a:t>LoginLocators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233"/>
                          </a:solidFill>
                        </a:rPr>
                        <a:t>EMAIL, PASSWORD, SIGN_IN, ERROR_MESSAGE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A6FA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//input[@id='email']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</a:rPr>
                        <a:t>HomeLocators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233"/>
                          </a:solidFill>
                        </a:rPr>
                        <a:t>SEARCH_BOX, PRODUCT_BY_NAME(%s)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A6FA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//div[...][.//h2/button[normalize-space()='%s']]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</a:rPr>
                        <a:t>CartLocators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233"/>
                          </a:solidFill>
                        </a:rPr>
                        <a:t>CART_LINE(%s), LINE_TOTAL, CART_TOTAL, CHECKOUT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A6FA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//tr[...][td[normalize-space()='%s']]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</a:rPr>
                        <a:t>CheckoutLocators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233"/>
                          </a:solidFill>
                        </a:rPr>
                        <a:t>address field, place-order button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A6FA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(same pattern — id / attribute anchored)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</a:rPr>
                        <a:t>OrderLocators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233"/>
                          </a:solidFill>
                        </a:rPr>
                        <a:t>order status, order total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A6FA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//*[@data-field=...] style attribute anchors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617720"/>
            <a:ext cx="11247120" cy="16002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3"/>
          <p:cNvSpPr/>
          <p:nvPr/>
        </p:nvSpPr>
        <p:spPr>
          <a:xfrm>
            <a:off x="621792" y="4754880"/>
            <a:ext cx="82296" cy="82296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804672" y="4754880"/>
            <a:ext cx="82296" cy="82296"/>
          </a:xfrm>
          <a:prstGeom prst="ellipse">
            <a:avLst/>
          </a:prstGeom>
          <a:solidFill>
            <a:srgbClr val="E5A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987552" y="4754880"/>
            <a:ext cx="82296" cy="82296"/>
          </a:xfrm>
          <a:prstGeom prst="ellipse">
            <a:avLst/>
          </a:prstGeom>
          <a:solidFill>
            <a:srgbClr val="3FA7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58368" y="4983480"/>
            <a:ext cx="108447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8CA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HomeLocators.PRODUCT_BY_NAME — one template, reused for every product card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B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static final String PRODUCT_BY_NAME =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3FA7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"//div[contains(@class,'product-card')][.//h2/button[normalize-space()='%s']]";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github.com/Premchand-302/Premchand-Week6-Assessment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6692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Coverage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7043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feature files, all passing tags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5943600" cy="3657600"/>
        </p:xfrm>
        <a:graphic>
          <a:graphicData uri="http://schemas.openxmlformats.org/drawingml/2006/table">
            <a:tbl>
              <a:tblPr/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03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0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95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Scenario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UI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API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DB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login.feature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3FA796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7CEDD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7CEDD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product_search.feature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3FA796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3FA796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7CEDD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checkout_e2e.feature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3FA796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3FA796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3FA796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cart_totals.feature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7CEDD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3FA796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3FA796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order_access.feature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7CEDD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3FA796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7CEDD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cancel_rules.feature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7CEDD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3FA796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3FA796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out_of_stock.feature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7CEDD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3FA796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7CEDD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0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6" name="Image 0" descr="/home/claude/icons/image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8260" y="3177540"/>
            <a:ext cx="502920" cy="502920"/>
          </a:xfrm>
          <a:prstGeom prst="rect">
            <a:avLst/>
          </a:prstGeom>
        </p:spPr>
      </p:pic>
      <p:sp>
        <p:nvSpPr>
          <p:cNvPr id="4" name="Text 3"/>
          <p:cNvSpPr/>
          <p:nvPr/>
        </p:nvSpPr>
        <p:spPr>
          <a:xfrm>
            <a:off x="6858000" y="3735324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Files Screenshot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858000" y="4027932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 here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login.feature is an extra beyond the required six — an isolated smoke check the other scenarios build on. Negative scenarios (order_access, cancel_rules, out_of_stock) each assert a specific 403/409 status.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github.com/Premchand-302/Premchand-Week6-Assessment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6A92B7F-C020-0A67-DC41-25443CC537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4509" y="1330452"/>
            <a:ext cx="5345125" cy="35798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6692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Flagship E2E, As Written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7043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checkout_e2e.feature — proven three ways in one run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6263640" cy="4617720"/>
          </a:xfrm>
          <a:prstGeom prst="roundRect">
            <a:avLst>
              <a:gd name="adj" fmla="val 138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21792" y="1737360"/>
            <a:ext cx="82296" cy="82296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04672" y="1737360"/>
            <a:ext cx="82296" cy="82296"/>
          </a:xfrm>
          <a:prstGeom prst="ellipse">
            <a:avLst/>
          </a:prstGeom>
          <a:solidFill>
            <a:srgbClr val="E5A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87552" y="1737360"/>
            <a:ext cx="82296" cy="82296"/>
          </a:xfrm>
          <a:prstGeom prst="ellipse">
            <a:avLst/>
          </a:prstGeom>
          <a:solidFill>
            <a:srgbClr val="3FA7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58368" y="1965960"/>
            <a:ext cx="5861304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3FA7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@e2e @smoke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CB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Feature: Checkout places an order and the backend agrees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CB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Scenario: Alice checks out a single-item cart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CB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Given "alice" opens the ShopKart login page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CB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"alice" logs in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CB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Then she should be redirected to the home page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CB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"alice" searches for "Focus Desk Lamp"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CB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"alice" adds "Focus Desk Lamp" to the cart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CB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"alice" opens the cart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CB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Then the cart total should be "₹799.00"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CB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the line total for "SKU-LMP" should be "₹799.00"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CB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"alice" proceeds to checkout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CB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"alice" enters the delivery address "Hyderabad, Telangana"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CB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"alice" places the order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3FA7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Then the order status should be "PLACED"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CB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the order total should be "₹799.00"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CB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Then the order should be available through the API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CB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exactly one PLACED order should exist in the database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949440" y="16002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in CheckoutSteps.java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949440" y="2057400"/>
            <a:ext cx="4754880" cy="1298448"/>
          </a:xfrm>
          <a:prstGeom prst="roundRect">
            <a:avLst>
              <a:gd name="adj" fmla="val 4225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0" descr="/home/claude/icons/crosshair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08" y="2240280"/>
            <a:ext cx="365760" cy="36576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635240" y="2221992"/>
            <a:ext cx="400050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7635240" y="2217420"/>
            <a:ext cx="40005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150608" y="2606040"/>
            <a:ext cx="4343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OrderPage reads status / total straight off the confirmation page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949440" y="3520440"/>
            <a:ext cx="4754880" cy="1298448"/>
          </a:xfrm>
          <a:prstGeom prst="roundRect">
            <a:avLst>
              <a:gd name="adj" fmla="val 4225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1" descr="/home/claude/icons/code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608" y="3703320"/>
            <a:ext cx="365760" cy="36576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7635240" y="3685032"/>
            <a:ext cx="472059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4"/>
          <p:cNvSpPr/>
          <p:nvPr/>
        </p:nvSpPr>
        <p:spPr>
          <a:xfrm>
            <a:off x="7635240" y="3680460"/>
            <a:ext cx="47205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7150608" y="4069080"/>
            <a:ext cx="4343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orderClient.getOrder(...) asserts id + status == PLACED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949440" y="4983480"/>
            <a:ext cx="4754880" cy="1298448"/>
          </a:xfrm>
          <a:prstGeom prst="roundRect">
            <a:avLst>
              <a:gd name="adj" fmla="val 4225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2" descr="/home/claude/icons/database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0608" y="5166360"/>
            <a:ext cx="365760" cy="36576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7635240" y="5148072"/>
            <a:ext cx="400050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18"/>
          <p:cNvSpPr/>
          <p:nvPr/>
        </p:nvSpPr>
        <p:spPr>
          <a:xfrm>
            <a:off x="7635240" y="5143500"/>
            <a:ext cx="40005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7150608" y="5532120"/>
            <a:ext cx="4343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OrderRepository confirms the row exists, is PLACED, and is the only PLACED row for that customer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github.com/Premchand-302/Premchand-Week6-Assessment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6692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Security Negative, As Written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7043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order_access.feature — object-level authorization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486400" cy="1874520"/>
          </a:xfrm>
          <a:prstGeom prst="roundRect">
            <a:avLst>
              <a:gd name="adj" fmla="val 341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21792" y="1737360"/>
            <a:ext cx="82296" cy="82296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04672" y="1737360"/>
            <a:ext cx="82296" cy="82296"/>
          </a:xfrm>
          <a:prstGeom prst="ellipse">
            <a:avLst/>
          </a:prstGeom>
          <a:solidFill>
            <a:srgbClr val="E5A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87552" y="1737360"/>
            <a:ext cx="82296" cy="82296"/>
          </a:xfrm>
          <a:prstGeom prst="ellipse">
            <a:avLst/>
          </a:prstGeom>
          <a:solidFill>
            <a:srgbClr val="3FA7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58368" y="1965960"/>
            <a:ext cx="508406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3FA7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@api @negative @security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B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Feature: Order access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B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Scenario: Bob cannot access Alice's order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B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Given Alice has placed an order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B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Bob requests that order through the API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3FA7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Then the response status should be 403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172200" y="1600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pic>
        <p:nvPicPr>
          <p:cNvPr id="10" name="Image 0" descr="/home/claude/icons/check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01168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537960" y="1956816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Alice's order is seeded through the real API (createCart → addItem → placeOrder), not a fixture</a:t>
            </a:r>
            <a:endParaRPr lang="en-US" sz="1150" dirty="0"/>
          </a:p>
        </p:txBody>
      </p:sp>
      <p:pic>
        <p:nvPicPr>
          <p:cNvPr id="12" name="Image 1" descr="/home/claude/icons/check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633472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537960" y="2578608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authenticates as himself, with his own token — the test proves authorization, not just a missing header</a:t>
            </a:r>
            <a:endParaRPr lang="en-US" sz="1150" dirty="0"/>
          </a:p>
        </p:txBody>
      </p:sp>
      <p:pic>
        <p:nvPicPr>
          <p:cNvPr id="14" name="Image 2" descr="/home/claude/icons/check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3255264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537960" y="320040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assertion is a single, explicit status-code check: 403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57200" y="3794760"/>
            <a:ext cx="11247120" cy="1920240"/>
          </a:xfrm>
          <a:prstGeom prst="roundRect">
            <a:avLst>
              <a:gd name="adj" fmla="val 2857"/>
            </a:avLst>
          </a:prstGeom>
          <a:solidFill>
            <a:srgbClr val="EAF0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3" descr="/home/claude/icons/alert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02336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25880" y="39776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Note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325880" y="4343400"/>
            <a:ext cx="9966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OrderAccessSteps currently exercises Bob's 403 through the cancel-order endpoint rather than a plain GET on the order. It proves the same object-level authorization boundary, but a literal GET /orders/{id} check would match the reference scenario more exactly.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github.com/Premchand-302/Premchand-Week6-Assessment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6692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Credentials Actually 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7043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&amp; config — off-repo, end to end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237744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Env.java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834640" y="1691640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0" y="1691640"/>
            <a:ext cx="237744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200400" y="169164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Secrets.java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77840" y="1691640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943600" y="1691640"/>
            <a:ext cx="237744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943600" y="169164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AppConfig.java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21040" y="1691640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686800" y="1691640"/>
            <a:ext cx="2377440" cy="777240"/>
          </a:xfrm>
          <a:prstGeom prst="roundRect">
            <a:avLst>
              <a:gd name="adj" fmla="val 7059"/>
            </a:avLst>
          </a:prstGeom>
          <a:solidFill>
            <a:srgbClr val="4A6FA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686800" y="169164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AuthClient /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DatabaseConfig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26060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Env.get(key) resolves: system env var  →  system property  →  .env file (dotenv-java) — throws if still missing.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6309360" cy="3063240"/>
          </a:xfrm>
          <a:prstGeom prst="roundRect">
            <a:avLst>
              <a:gd name="adj" fmla="val 209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21792" y="3246120"/>
            <a:ext cx="82296" cy="82296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04672" y="3246120"/>
            <a:ext cx="82296" cy="82296"/>
          </a:xfrm>
          <a:prstGeom prst="ellipse">
            <a:avLst/>
          </a:prstGeom>
          <a:solidFill>
            <a:srgbClr val="E5A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987552" y="3246120"/>
            <a:ext cx="82296" cy="82296"/>
          </a:xfrm>
          <a:prstGeom prst="ellipse">
            <a:avLst/>
          </a:prstGeom>
          <a:solidFill>
            <a:srgbClr val="3FA7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58368" y="3474720"/>
            <a:ext cx="5907024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8CA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AppConfig.java — everything sourced off-repo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B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static final String BASE_URL =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B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Secrets.get("SHOPKART_BASE_URL");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B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static final String API_BASE_URL =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B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Secrets.get("SHOPKART_API_BASE_URL");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B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AuthClient.java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B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LoginResponse loginAsAlice() {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B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login(TestUsers.ALICE_EMAIL,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3FA7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Secrets.get("SHOPKART_ALICE_PASSWORD"));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BD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995160" y="3108960"/>
            <a:ext cx="4736592" cy="3063240"/>
          </a:xfrm>
          <a:prstGeom prst="roundRect">
            <a:avLst>
              <a:gd name="adj" fmla="val 1791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223760" y="327355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Hygiene Check</a:t>
            </a:r>
            <a:endParaRPr lang="en-US" sz="1300" dirty="0"/>
          </a:p>
        </p:txBody>
      </p:sp>
      <p:pic>
        <p:nvPicPr>
          <p:cNvPr id="23" name="Image 0" descr="/home/claude/icons/check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3675888"/>
            <a:ext cx="292608" cy="292608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7607808" y="363016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is git-ignored</a:t>
            </a:r>
            <a:endParaRPr lang="en-US" sz="1150" dirty="0"/>
          </a:p>
        </p:txBody>
      </p:sp>
      <p:pic>
        <p:nvPicPr>
          <p:cNvPr id="25" name="Image 1" descr="/home/claude/icons/check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4242816"/>
            <a:ext cx="292608" cy="29260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7607808" y="419709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password literals in feature files</a:t>
            </a:r>
            <a:endParaRPr lang="en-US" sz="1150" dirty="0"/>
          </a:p>
        </p:txBody>
      </p:sp>
      <p:pic>
        <p:nvPicPr>
          <p:cNvPr id="27" name="Image 2" descr="/home/claude/icons/check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4809744"/>
            <a:ext cx="292608" cy="29260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7607808" y="4764024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customer emails only — not secrets</a:t>
            </a:r>
            <a:endParaRPr lang="en-US" sz="1150" dirty="0"/>
          </a:p>
        </p:txBody>
      </p:sp>
      <p:pic>
        <p:nvPicPr>
          <p:cNvPr id="29" name="Image 3" descr="/home/claude/icons/check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5376672"/>
            <a:ext cx="292608" cy="29260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607808" y="533095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never logged in step defs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github.com/Premchand-302/Premchand-Week6-Assessment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6692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Execution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7043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Tag-scoped Gradle tasks — running the suite on a developer machine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/home/claude/icons/play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87452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645920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tests using Gradle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989320" y="1645920"/>
            <a:ext cx="5715000" cy="868680"/>
          </a:xfrm>
          <a:prstGeom prst="roundRect">
            <a:avLst>
              <a:gd name="adj" fmla="val 6316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1" descr="/home/claude/icons/tag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87452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12280" y="164592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execution using tags / groups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26974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build.gradle.kts registers one task per tag, so any slice of the suite runs on its own: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57200" y="3108960"/>
            <a:ext cx="1336167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457200" y="3104388"/>
            <a:ext cx="133616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./</a:t>
            </a:r>
            <a:r>
              <a:rPr lang="en-US" sz="10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gradlew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test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1939671" y="3108960"/>
            <a:ext cx="1192149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/>
          <p:nvPr/>
        </p:nvSpPr>
        <p:spPr>
          <a:xfrm>
            <a:off x="1939671" y="3104388"/>
            <a:ext cx="119214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./gradlew api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3278124" y="3108960"/>
            <a:ext cx="1120140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2"/>
          <p:cNvSpPr/>
          <p:nvPr/>
        </p:nvSpPr>
        <p:spPr>
          <a:xfrm>
            <a:off x="3278124" y="3104388"/>
            <a:ext cx="11201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./gradlew ui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544568" y="3108960"/>
            <a:ext cx="1120140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4"/>
          <p:cNvSpPr/>
          <p:nvPr/>
        </p:nvSpPr>
        <p:spPr>
          <a:xfrm>
            <a:off x="4544568" y="3104388"/>
            <a:ext cx="11201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./gradlew db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457200" y="3511296"/>
            <a:ext cx="1552194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6"/>
          <p:cNvSpPr/>
          <p:nvPr/>
        </p:nvSpPr>
        <p:spPr>
          <a:xfrm>
            <a:off x="457200" y="3506724"/>
            <a:ext cx="155219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./gradlew negative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2155698" y="3511296"/>
            <a:ext cx="1552194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8"/>
          <p:cNvSpPr/>
          <p:nvPr/>
        </p:nvSpPr>
        <p:spPr>
          <a:xfrm>
            <a:off x="2155698" y="3506724"/>
            <a:ext cx="155219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./gradlew security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3854196" y="3511296"/>
            <a:ext cx="1192149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0"/>
          <p:cNvSpPr/>
          <p:nvPr/>
        </p:nvSpPr>
        <p:spPr>
          <a:xfrm>
            <a:off x="3854196" y="3506724"/>
            <a:ext cx="119214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./gradlew e2e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5192649" y="3511296"/>
            <a:ext cx="1624203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2"/>
          <p:cNvSpPr/>
          <p:nvPr/>
        </p:nvSpPr>
        <p:spPr>
          <a:xfrm>
            <a:off x="5192649" y="3506724"/>
            <a:ext cx="162420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./gradlew reporting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457200" y="4160520"/>
            <a:ext cx="5440680" cy="2103120"/>
          </a:xfrm>
          <a:prstGeom prst="roundRect">
            <a:avLst>
              <a:gd name="adj" fmla="val 2609"/>
            </a:avLst>
          </a:prstGeom>
          <a:solidFill>
            <a:srgbClr val="EAF0FA"/>
          </a:solidFill>
          <a:ln w="19050">
            <a:solidFill>
              <a:srgbClr val="4A6FA5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pic>
        <p:nvPicPr>
          <p:cNvPr id="28" name="Image 2" descr="/home/claude/icons/image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6080" y="4709160"/>
            <a:ext cx="502920" cy="50292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40080" y="5266944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Execution Screenshot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640080" y="5559552"/>
            <a:ext cx="5074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 here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6080760" y="4160520"/>
            <a:ext cx="5623560" cy="2103120"/>
          </a:xfrm>
          <a:prstGeom prst="roundRect">
            <a:avLst>
              <a:gd name="adj" fmla="val 2609"/>
            </a:avLst>
          </a:prstGeom>
          <a:solidFill>
            <a:srgbClr val="EAF0FA"/>
          </a:solidFill>
          <a:ln w="19050">
            <a:solidFill>
              <a:srgbClr val="4A6FA5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pic>
        <p:nvPicPr>
          <p:cNvPr id="32" name="Image 3" descr="/home/claude/icons/image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1080" y="4709160"/>
            <a:ext cx="502920" cy="50292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6263640" y="5266944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Application Screenshot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6263640" y="5559552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 here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github.com/Premchand-302/Premchand-Week6-Assessment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E47F8252-2703-7A08-33A1-3061D289C0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922" y="4017542"/>
            <a:ext cx="11419838" cy="227353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6692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 Pipeline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7043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push triggers a fully automated cycle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965960" cy="1691640"/>
          </a:xfrm>
          <a:prstGeom prst="roundRect">
            <a:avLst>
              <a:gd name="adj" fmla="val 3243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/home/claude/icons/gitcommit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4148" y="1874520"/>
            <a:ext cx="512064" cy="5120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0352" y="2514600"/>
            <a:ext cx="1819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Push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30352" y="2880360"/>
            <a:ext cx="181965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main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2423160" y="2331720"/>
            <a:ext cx="301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724912" y="1691640"/>
            <a:ext cx="1965960" cy="1691640"/>
          </a:xfrm>
          <a:prstGeom prst="roundRect">
            <a:avLst>
              <a:gd name="adj" fmla="val 3243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/home/claude/icons/github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1860" y="1874520"/>
            <a:ext cx="512064" cy="5120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798064" y="2514600"/>
            <a:ext cx="1819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Trigger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2798064" y="2880360"/>
            <a:ext cx="181965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actions/checkout, temurin JDK 22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4690872" y="2331720"/>
            <a:ext cx="301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4992624" y="1691640"/>
            <a:ext cx="1965960" cy="1691640"/>
          </a:xfrm>
          <a:prstGeom prst="roundRect">
            <a:avLst>
              <a:gd name="adj" fmla="val 3243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/home/claude/icons/play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9572" y="1874520"/>
            <a:ext cx="512064" cy="51206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065776" y="2514600"/>
            <a:ext cx="1819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Tests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5065776" y="2880360"/>
            <a:ext cx="181965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gradle reporting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6958584" y="2331720"/>
            <a:ext cx="301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7260336" y="1691640"/>
            <a:ext cx="1965960" cy="1691640"/>
          </a:xfrm>
          <a:prstGeom prst="roundRect">
            <a:avLst>
              <a:gd name="adj" fmla="val 3243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3" descr="/home/claude/icons/barchart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7284" y="1874520"/>
            <a:ext cx="512064" cy="51206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333488" y="2514600"/>
            <a:ext cx="1819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Report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7333488" y="2880360"/>
            <a:ext cx="181965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→ build/allure-results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9226296" y="2331720"/>
            <a:ext cx="301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18"/>
          <p:cNvSpPr/>
          <p:nvPr/>
        </p:nvSpPr>
        <p:spPr>
          <a:xfrm>
            <a:off x="9528048" y="1691640"/>
            <a:ext cx="1965960" cy="1691640"/>
          </a:xfrm>
          <a:prstGeom prst="roundRect">
            <a:avLst>
              <a:gd name="adj" fmla="val 3243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4" descr="/home/claude/icons/cloud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54996" y="1874520"/>
            <a:ext cx="512064" cy="51206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601200" y="2514600"/>
            <a:ext cx="1819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Report</a:t>
            </a:r>
            <a:endParaRPr lang="en-US" sz="1150" dirty="0"/>
          </a:p>
        </p:txBody>
      </p:sp>
      <p:sp>
        <p:nvSpPr>
          <p:cNvPr id="27" name="Text 20"/>
          <p:cNvSpPr/>
          <p:nvPr/>
        </p:nvSpPr>
        <p:spPr>
          <a:xfrm>
            <a:off x="9601200" y="2880360"/>
            <a:ext cx="181965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gh-pages</a:t>
            </a:r>
            <a:endParaRPr lang="en-US" sz="900" dirty="0"/>
          </a:p>
        </p:txBody>
      </p:sp>
      <p:sp>
        <p:nvSpPr>
          <p:cNvPr id="28" name="Shape 21"/>
          <p:cNvSpPr/>
          <p:nvPr/>
        </p:nvSpPr>
        <p:spPr>
          <a:xfrm>
            <a:off x="457200" y="3703320"/>
            <a:ext cx="11247120" cy="1965960"/>
          </a:xfrm>
          <a:prstGeom prst="roundRect">
            <a:avLst>
              <a:gd name="adj" fmla="val 2791"/>
            </a:avLst>
          </a:prstGeom>
          <a:solidFill>
            <a:srgbClr val="EAF0FA"/>
          </a:solidFill>
          <a:ln w="19050">
            <a:solidFill>
              <a:srgbClr val="4A6FA5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pic>
        <p:nvPicPr>
          <p:cNvPr id="29" name="Image 5" descr="/home/claude/icons/image_blu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29300" y="4183380"/>
            <a:ext cx="502920" cy="50292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640080" y="4741164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Pipeline Screenshot</a:t>
            </a:r>
            <a:endParaRPr lang="en-US" sz="1200" dirty="0"/>
          </a:p>
        </p:txBody>
      </p:sp>
      <p:sp>
        <p:nvSpPr>
          <p:cNvPr id="31" name="Text 23"/>
          <p:cNvSpPr/>
          <p:nvPr/>
        </p:nvSpPr>
        <p:spPr>
          <a:xfrm>
            <a:off x="640080" y="5033772"/>
            <a:ext cx="10881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 here</a:t>
            </a:r>
            <a:endParaRPr lang="en-US" sz="1000" dirty="0"/>
          </a:p>
        </p:txBody>
      </p:sp>
      <p:sp>
        <p:nvSpPr>
          <p:cNvPr id="32" name="Shape 24"/>
          <p:cNvSpPr/>
          <p:nvPr/>
        </p:nvSpPr>
        <p:spPr>
          <a:xfrm>
            <a:off x="457200" y="5806440"/>
            <a:ext cx="11247120" cy="54864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25"/>
          <p:cNvSpPr/>
          <p:nvPr/>
        </p:nvSpPr>
        <p:spPr>
          <a:xfrm>
            <a:off x="685800" y="58064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an always-current, history-tracked Allure report on gh-pages — no manual report generation required.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github.com/Premchand-302/Premchand-Week6-Assessment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62577A9D-5BC0-025A-102B-C3B7BCB8369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5600" y="3547872"/>
            <a:ext cx="11348720" cy="212715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6692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7043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Allure dashboard, four views</a:t>
            </a:r>
            <a:endParaRPr lang="en-US" sz="1250" dirty="0"/>
          </a:p>
        </p:txBody>
      </p:sp>
      <p:pic>
        <p:nvPicPr>
          <p:cNvPr id="4" name="Image 0" descr="/home/claude/icons/barchart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9164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636776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reporting</a:t>
            </a:r>
            <a:endParaRPr lang="en-US" sz="1300" dirty="0"/>
          </a:p>
        </p:txBody>
      </p:sp>
      <p:pic>
        <p:nvPicPr>
          <p:cNvPr id="7" name="Image 1" descr="/home/claude/icons/image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0" y="2514600"/>
            <a:ext cx="502920" cy="502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0080" y="3072384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Screenshot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40080" y="3364992"/>
            <a:ext cx="5074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 here</a:t>
            </a:r>
            <a:endParaRPr lang="en-US" sz="1000" dirty="0"/>
          </a:p>
        </p:txBody>
      </p:sp>
      <p:pic>
        <p:nvPicPr>
          <p:cNvPr id="10" name="Image 2" descr="/home/claude/icons/layers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169164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720840" y="1636776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categorization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5234940" y="2370328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Tests Failed</a:t>
            </a:r>
            <a:endParaRPr lang="en-US" sz="1200" dirty="0"/>
          </a:p>
        </p:txBody>
      </p:sp>
      <p:pic>
        <p:nvPicPr>
          <p:cNvPr id="16" name="Image 4" descr="/home/claude/icons/clock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160520"/>
            <a:ext cx="365760" cy="36576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14400" y="4105656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trends</a:t>
            </a:r>
            <a:endParaRPr lang="en-US" sz="1300" dirty="0"/>
          </a:p>
        </p:txBody>
      </p:sp>
      <p:pic>
        <p:nvPicPr>
          <p:cNvPr id="19" name="Image 5" descr="/home/claude/icons/image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0" y="4983480"/>
            <a:ext cx="502920" cy="50292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40080" y="5541264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/ Trend Screenshot</a:t>
            </a:r>
            <a:endParaRPr lang="en-US" sz="1200" dirty="0"/>
          </a:p>
        </p:txBody>
      </p:sp>
      <p:sp>
        <p:nvSpPr>
          <p:cNvPr id="21" name="Text 13"/>
          <p:cNvSpPr/>
          <p:nvPr/>
        </p:nvSpPr>
        <p:spPr>
          <a:xfrm>
            <a:off x="640080" y="5833872"/>
            <a:ext cx="5074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 here</a:t>
            </a:r>
            <a:endParaRPr lang="en-US" sz="1000" dirty="0"/>
          </a:p>
        </p:txBody>
      </p:sp>
      <p:pic>
        <p:nvPicPr>
          <p:cNvPr id="22" name="Image 6" descr="/home/claude/icons/globe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3640" y="4160520"/>
            <a:ext cx="365760" cy="36576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6720840" y="4105656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details</a:t>
            </a:r>
            <a:endParaRPr lang="en-US" sz="1300" dirty="0"/>
          </a:p>
        </p:txBody>
      </p:sp>
      <p:pic>
        <p:nvPicPr>
          <p:cNvPr id="25" name="Image 7" descr="/home/claude/icons/image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20" y="4983480"/>
            <a:ext cx="502920" cy="502920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6446520" y="5541264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Screenshot</a:t>
            </a:r>
            <a:endParaRPr lang="en-US" sz="1200" dirty="0"/>
          </a:p>
        </p:txBody>
      </p:sp>
      <p:sp>
        <p:nvSpPr>
          <p:cNvPr id="27" name="Text 17"/>
          <p:cNvSpPr/>
          <p:nvPr/>
        </p:nvSpPr>
        <p:spPr>
          <a:xfrm>
            <a:off x="6446520" y="5833872"/>
            <a:ext cx="5074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 here</a:t>
            </a:r>
            <a:endParaRPr lang="en-US" sz="1000" dirty="0"/>
          </a:p>
        </p:txBody>
      </p:sp>
      <p:sp>
        <p:nvSpPr>
          <p:cNvPr id="28" name="Text 1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github.com/Premchand-302/Premchand-Week6-Assessment</a:t>
            </a:r>
            <a:endParaRPr lang="en-US" sz="1000" dirty="0"/>
          </a:p>
        </p:txBody>
      </p:sp>
      <p:sp>
        <p:nvSpPr>
          <p:cNvPr id="29" name="Text 19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596CF31-9FEF-1217-0BF9-CE43AE0659B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5038" y="2049116"/>
            <a:ext cx="4080055" cy="191938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7F6FAF71-EC6F-837E-638F-CFA671D45DB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6440" y="4581144"/>
            <a:ext cx="3313663" cy="1901952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5A84F88-A34C-141D-4A42-E16F65400A3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0" y="4526280"/>
            <a:ext cx="4466031" cy="212843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6692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Self-Assessment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7043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solid, what I'd tighten next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440680" cy="4526280"/>
          </a:xfrm>
          <a:prstGeom prst="roundRect">
            <a:avLst>
              <a:gd name="adj" fmla="val 1212"/>
            </a:avLst>
          </a:prstGeom>
          <a:solidFill>
            <a:srgbClr val="EAF0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/home/claude/icons/check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810512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783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Solid</a:t>
            </a:r>
            <a:endParaRPr lang="en-US" sz="1700" dirty="0"/>
          </a:p>
        </p:txBody>
      </p:sp>
      <p:pic>
        <p:nvPicPr>
          <p:cNvPr id="7" name="Image 1" descr="/home/claude/icons/check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423160"/>
            <a:ext cx="219456" cy="2194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51560" y="233172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three-layer proof on the flagship E2E — UI, API, and a direct SQL check all in one run</a:t>
            </a:r>
            <a:endParaRPr lang="en-US" sz="1100" dirty="0"/>
          </a:p>
        </p:txBody>
      </p:sp>
      <p:pic>
        <p:nvPicPr>
          <p:cNvPr id="9" name="Image 2" descr="/home/claude/icons/check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383280"/>
            <a:ext cx="219456" cy="2194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51560" y="329184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and secrets never hardcoded — one Env / Secrets / AppConfig chain, .env git-ignored</a:t>
            </a:r>
            <a:endParaRPr lang="en-US" sz="1100" dirty="0"/>
          </a:p>
        </p:txBody>
      </p:sp>
      <p:pic>
        <p:nvPicPr>
          <p:cNvPr id="11" name="Image 3" descr="/home/claude/icons/check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343400"/>
            <a:ext cx="219456" cy="21945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51560" y="425196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locator is relative, attribute- or text-anchored, and parameterized where reused</a:t>
            </a:r>
            <a:endParaRPr lang="en-US" sz="1100" dirty="0"/>
          </a:p>
        </p:txBody>
      </p:sp>
      <p:pic>
        <p:nvPicPr>
          <p:cNvPr id="13" name="Image 4" descr="/home/claude/icons/check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303520"/>
            <a:ext cx="219456" cy="21945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51560" y="521208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already deploys a history-tracked Allure report automatically — most cohorts do this by hand</a:t>
            </a:r>
            <a:endParaRPr lang="en-US" sz="1100" dirty="0"/>
          </a:p>
        </p:txBody>
      </p:sp>
      <p:sp>
        <p:nvSpPr>
          <p:cNvPr id="15" name="Shape 8"/>
          <p:cNvSpPr/>
          <p:nvPr/>
        </p:nvSpPr>
        <p:spPr>
          <a:xfrm>
            <a:off x="6172200" y="1600200"/>
            <a:ext cx="5440680" cy="4526280"/>
          </a:xfrm>
          <a:prstGeom prst="roundRect">
            <a:avLst>
              <a:gd name="adj" fmla="val 1212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5" descr="/home/claude/icons/alert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1810512"/>
            <a:ext cx="457200" cy="4572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7040880" y="17830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Tighten</a:t>
            </a:r>
            <a:endParaRPr lang="en-US" sz="1700" dirty="0"/>
          </a:p>
        </p:txBody>
      </p:sp>
      <p:pic>
        <p:nvPicPr>
          <p:cNvPr id="18" name="Image 6" descr="/home/claude/icons/alert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2423160"/>
            <a:ext cx="219456" cy="219456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6766560" y="233172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Testcontainers — DB tests share a real MySQL instance, so isolation depends on cleanup discipline</a:t>
            </a:r>
            <a:endParaRPr lang="en-US" sz="1100" dirty="0"/>
          </a:p>
        </p:txBody>
      </p:sp>
      <p:pic>
        <p:nvPicPr>
          <p:cNvPr id="20" name="Image 7" descr="/home/claude/icons/alert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3383280"/>
            <a:ext cx="219456" cy="219456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6766560" y="329184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order_access.feature proves 403 via the cancel endpoint, not a literal GET /orders/{id}</a:t>
            </a:r>
            <a:endParaRPr lang="en-US" sz="1100" dirty="0"/>
          </a:p>
        </p:txBody>
      </p:sp>
      <p:pic>
        <p:nvPicPr>
          <p:cNvPr id="22" name="Image 8" descr="/home/claude/icons/alert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4343400"/>
            <a:ext cx="219456" cy="219456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6766560" y="425196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allure-results show a 'broken / no tests discovered' run — worth cleaning before the next push</a:t>
            </a:r>
            <a:endParaRPr lang="en-US" sz="1100" dirty="0"/>
          </a:p>
        </p:txBody>
      </p:sp>
      <p:pic>
        <p:nvPicPr>
          <p:cNvPr id="24" name="Image 9" descr="/home/claude/icons/alert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5303520"/>
            <a:ext cx="219456" cy="219456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6766560" y="521208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drifts slightly from the reference brief (Java 22 vs 21, MySQL vs Postgres) — worth calling out explicitly</a:t>
            </a:r>
            <a:endParaRPr lang="en-US" sz="1100" dirty="0"/>
          </a:p>
        </p:txBody>
      </p:sp>
      <p:sp>
        <p:nvSpPr>
          <p:cNvPr id="26" name="Text 1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github.com/Premchand-302/Premchand-Week6-Assessment</a:t>
            </a:r>
            <a:endParaRPr lang="en-US" sz="1000" dirty="0"/>
          </a:p>
        </p:txBody>
      </p:sp>
      <p:sp>
        <p:nvSpPr>
          <p:cNvPr id="27" name="Text 15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6692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7043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framework demonstrates</a:t>
            </a:r>
            <a:endParaRPr lang="en-US" sz="1250" dirty="0"/>
          </a:p>
        </p:txBody>
      </p:sp>
      <p:pic>
        <p:nvPicPr>
          <p:cNvPr id="4" name="Image 0" descr="/home/claude/icons/check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91640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164592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Automation</a:t>
            </a:r>
            <a:endParaRPr lang="en-US" sz="1300" dirty="0"/>
          </a:p>
        </p:txBody>
      </p:sp>
      <p:pic>
        <p:nvPicPr>
          <p:cNvPr id="6" name="Image 1" descr="/home/claude/icons/check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40280"/>
            <a:ext cx="292608" cy="2926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68680" y="219456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Automation</a:t>
            </a:r>
            <a:endParaRPr lang="en-US" sz="1300" dirty="0"/>
          </a:p>
        </p:txBody>
      </p:sp>
      <p:pic>
        <p:nvPicPr>
          <p:cNvPr id="8" name="Image 2" descr="/home/claude/icons/check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88920"/>
            <a:ext cx="292608" cy="2926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68680" y="274320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Validation</a:t>
            </a:r>
            <a:endParaRPr lang="en-US" sz="1300" dirty="0"/>
          </a:p>
        </p:txBody>
      </p:sp>
      <p:pic>
        <p:nvPicPr>
          <p:cNvPr id="10" name="Image 3" descr="/home/claude/icons/check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337560"/>
            <a:ext cx="292608" cy="29260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68680" y="329184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Validation</a:t>
            </a:r>
            <a:endParaRPr lang="en-US" sz="1300" dirty="0"/>
          </a:p>
        </p:txBody>
      </p:sp>
      <p:pic>
        <p:nvPicPr>
          <p:cNvPr id="12" name="Image 4" descr="/home/claude/icons/check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86200"/>
            <a:ext cx="292608" cy="29260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868680" y="384048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Integration</a:t>
            </a:r>
            <a:endParaRPr lang="en-US" sz="1300" dirty="0"/>
          </a:p>
        </p:txBody>
      </p:sp>
      <p:pic>
        <p:nvPicPr>
          <p:cNvPr id="14" name="Image 5" descr="/home/claude/icons/check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434840"/>
            <a:ext cx="292608" cy="29260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868680" y="438912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Reporting</a:t>
            </a:r>
            <a:endParaRPr lang="en-US" sz="1300" dirty="0"/>
          </a:p>
        </p:txBody>
      </p:sp>
      <p:sp>
        <p:nvSpPr>
          <p:cNvPr id="16" name="Shape 8"/>
          <p:cNvSpPr/>
          <p:nvPr/>
        </p:nvSpPr>
        <p:spPr>
          <a:xfrm>
            <a:off x="5852160" y="1691640"/>
            <a:ext cx="5852160" cy="3383280"/>
          </a:xfrm>
          <a:prstGeom prst="roundRect">
            <a:avLst>
              <a:gd name="adj" fmla="val 1622"/>
            </a:avLst>
          </a:prstGeom>
          <a:solidFill>
            <a:srgbClr val="EAF0FA"/>
          </a:solidFill>
          <a:ln w="19050">
            <a:solidFill>
              <a:srgbClr val="4A6FA5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6" descr="/home/claude/icons/image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6780" y="2880360"/>
            <a:ext cx="502920" cy="50292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6035040" y="343814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 Screenshot</a:t>
            </a:r>
            <a:endParaRPr lang="en-US" sz="1200" dirty="0"/>
          </a:p>
        </p:txBody>
      </p:sp>
      <p:sp>
        <p:nvSpPr>
          <p:cNvPr id="19" name="Text 10"/>
          <p:cNvSpPr/>
          <p:nvPr/>
        </p:nvSpPr>
        <p:spPr>
          <a:xfrm>
            <a:off x="6035040" y="373075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 here</a:t>
            </a:r>
            <a:endParaRPr lang="en-US" sz="1000" dirty="0"/>
          </a:p>
        </p:txBody>
      </p:sp>
      <p:sp>
        <p:nvSpPr>
          <p:cNvPr id="20" name="Shape 11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2"/>
          <p:cNvSpPr/>
          <p:nvPr/>
        </p:nvSpPr>
        <p:spPr>
          <a:xfrm>
            <a:off x="731520" y="548640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working, CI-integrated automation framework covering UI, API, database and security for ShopKart's checkout flow.</a:t>
            </a:r>
            <a:endParaRPr lang="en-US" sz="1300" dirty="0"/>
          </a:p>
        </p:txBody>
      </p:sp>
      <p:sp>
        <p:nvSpPr>
          <p:cNvPr id="22" name="Text 13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github.com/Premchand-302/Premchand-Week6-Assessment</a:t>
            </a:r>
            <a:endParaRPr lang="en-US" sz="1000" dirty="0"/>
          </a:p>
        </p:txBody>
      </p:sp>
      <p:sp>
        <p:nvSpPr>
          <p:cNvPr id="23" name="Text 14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AF34F66-92C3-11A3-86A5-A7C8A0728E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3070" y="728578"/>
            <a:ext cx="8171730" cy="449975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1765</Words>
  <Application>Microsoft Office PowerPoint</Application>
  <PresentationFormat>Widescreen</PresentationFormat>
  <Paragraphs>313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Premchand Chellisseril Pramod(UST,IN)</cp:lastModifiedBy>
  <cp:revision>2</cp:revision>
  <dcterms:created xsi:type="dcterms:W3CDTF">2026-07-12T12:08:19Z</dcterms:created>
  <dcterms:modified xsi:type="dcterms:W3CDTF">2026-07-12T12:18:29Z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5ffddfa-74ad-4c1f-9757-a38a11902f1c_Enabled">
    <vt:lpwstr>true</vt:lpwstr>
  </property>
  <property fmtid="{D5CDD505-2E9C-101B-9397-08002B2CF9AE}" pid="3" name="MSIP_Label_15ffddfa-74ad-4c1f-9757-a38a11902f1c_SetDate">
    <vt:lpwstr>2026-07-12T12:18:29Z</vt:lpwstr>
  </property>
  <property fmtid="{D5CDD505-2E9C-101B-9397-08002B2CF9AE}" pid="4" name="MSIP_Label_15ffddfa-74ad-4c1f-9757-a38a11902f1c_Method">
    <vt:lpwstr>Standard</vt:lpwstr>
  </property>
  <property fmtid="{D5CDD505-2E9C-101B-9397-08002B2CF9AE}" pid="5" name="MSIP_Label_15ffddfa-74ad-4c1f-9757-a38a11902f1c_Name">
    <vt:lpwstr>UST Internal</vt:lpwstr>
  </property>
  <property fmtid="{D5CDD505-2E9C-101B-9397-08002B2CF9AE}" pid="6" name="MSIP_Label_15ffddfa-74ad-4c1f-9757-a38a11902f1c_SiteId">
    <vt:lpwstr>a4431f4b-c207-4733-9530-34c08a9b2b8d</vt:lpwstr>
  </property>
  <property fmtid="{D5CDD505-2E9C-101B-9397-08002B2CF9AE}" pid="7" name="MSIP_Label_15ffddfa-74ad-4c1f-9757-a38a11902f1c_ActionId">
    <vt:lpwstr>cb4d19f9-432a-4beb-8980-ceefb77ab93e</vt:lpwstr>
  </property>
  <property fmtid="{D5CDD505-2E9C-101B-9397-08002B2CF9AE}" pid="8" name="MSIP_Label_15ffddfa-74ad-4c1f-9757-a38a11902f1c_ContentBits">
    <vt:lpwstr>0</vt:lpwstr>
  </property>
  <property fmtid="{D5CDD505-2E9C-101B-9397-08002B2CF9AE}" pid="9" name="MSIP_Label_15ffddfa-74ad-4c1f-9757-a38a11902f1c_Tag">
    <vt:lpwstr>10, 3, 0, 1</vt:lpwstr>
  </property>
</Properties>
</file>