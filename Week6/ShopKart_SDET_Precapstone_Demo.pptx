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95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FFD93-D4F7-CF74-96A1-5B922D842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31D94-25A5-8FB7-9117-2451090C7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83E79-E09D-7AC4-7006-874E6BA4A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E3B5-07E2-A518-DB56-0C5ABE36FA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3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harigandla/UI_API_DB_Testing_ShopKar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869680" y="-219456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6858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6858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6 · BENCHMARK 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Pre-Capstone Automation Review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Framework — Structure, Dynamic XPath &amp; Secret-Safe Test Data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" y="3977640"/>
            <a:ext cx="2926080" cy="0"/>
          </a:xfrm>
          <a:prstGeom prst="line">
            <a:avLst/>
          </a:prstGeom>
          <a:noFill/>
          <a:ln w="12700">
            <a:solidFill>
              <a:srgbClr val="3A43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Cucumber 7 / JUnit 5 · REST Assured · Selenide · Testcontainers · PostgreSQL · Gradle · Allure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 Singh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309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Day 6 · Project-Team Reference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I'll Walk Through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demonstration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9808" y="18379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231343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6791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— API + Web UI + PostgreSQL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90288" y="18379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90288" y="231343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Structure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90288" y="26791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reviewed first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30768" y="18379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30768" y="231343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XPath Locators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30768" y="26791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templated locator class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9808" y="35753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9808" y="40507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Scenarios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" y="441655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API, DB &amp; security layers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4290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90288" y="35753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90288" y="40507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Data Handling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90288" y="441655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repo, logs, or on screen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4290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430768" y="35753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430768" y="40507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Reporting &amp; Live Demo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30768" y="441655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categories, redaction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Under Test — “ShopKart”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e-commerce checkout service — REST API + Web UI, backed by PostgreSQL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9077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1729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pages, driven via dynamic XPath ($x())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70832" y="1691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26864" y="194767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26864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26864" y="25603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26864" y="29077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http://localhost:8080/api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26864" y="31729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responses, Bearer-token auth on cart/order routes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93024" y="1691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449056" y="194767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4905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49056" y="256032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49056" y="29077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postgres://localhost:5432/shopkart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49056" y="31729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never touch this directly — Testcontainers gives each class its own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products · carts · cart_items · orders  —  money stored in paise (₹499.00 = 49900)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logins &amp; products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10789920" cy="1234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SKUs (price → stock)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alice@shopkart.test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SKU-BAG → ₹499 · 10   |   SKU-PEN → ₹99 ·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bob@shopkart.test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SKU-MUG → ₹249 · 3   |   SKU-CAP → ₹399 · 0 (out of stock)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carol@shopkart.test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SKU-TEE → ₹599 · 25   |   SKU-KEY → ₹149 · 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Stack — Week 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automation stack carries into the Week-7 capstone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530352"/>
          </a:xfrm>
          <a:prstGeom prst="rect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runtime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40480" y="1691640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21 (LTS)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95144"/>
            <a:ext cx="10607040" cy="5303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29514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/ runner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0" y="2295144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Cucumber 7 · JUnit 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10607040" cy="530352"/>
          </a:xfrm>
          <a:prstGeom prst="rect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89864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0" y="2898648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Assured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02152"/>
            <a:ext cx="10607040" cy="5303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350215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0480" y="3502152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Selenide (dynamic XPath via $x())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10607040" cy="530352"/>
          </a:xfrm>
          <a:prstGeom prst="rect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4105656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isolation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40480" y="4105656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Testcontainers 2 · PostgreSQL · Flyway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0607040" cy="5303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470916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0" y="4709160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Gradle (primary) · Maven (variant)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12664"/>
            <a:ext cx="10607040" cy="530352"/>
          </a:xfrm>
          <a:prstGeom prst="rect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531266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40480" y="5312664"/>
            <a:ext cx="7086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Allure — history, categories, exec view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Structure — Scored First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layering, as implemented in com.shopkart — matches the reviewer's first checkpoint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39112"/>
            <a:ext cx="2084832" cy="4178808"/>
          </a:xfrm>
          <a:prstGeom prst="roundRect">
            <a:avLst>
              <a:gd name="adj" fmla="val 2632"/>
            </a:avLst>
          </a:prstGeom>
          <a:solidFill>
            <a:srgbClr val="F4F6FC"/>
          </a:solidFill>
          <a:ln w="9525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76656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AuthClient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BaseApi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" y="3401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CartClient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" y="4005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OrderAssertions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" y="46085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OrderClient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" y="5212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ProductClient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79776" y="15087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79776" y="15087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79776" y="2039112"/>
            <a:ext cx="2084832" cy="4178808"/>
          </a:xfrm>
          <a:prstGeom prst="roundRect">
            <a:avLst>
              <a:gd name="adj" fmla="val 2632"/>
            </a:avLst>
          </a:prstGeom>
          <a:solidFill>
            <a:srgbClr val="F4F6FC"/>
          </a:solidFill>
          <a:ln w="9525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907792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AppConfig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07792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10912" y="15087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10912" y="15087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10912" y="2039112"/>
            <a:ext cx="2084832" cy="4178808"/>
          </a:xfrm>
          <a:prstGeom prst="roundRect">
            <a:avLst>
              <a:gd name="adj" fmla="val 2632"/>
            </a:avLst>
          </a:prstGeom>
          <a:solidFill>
            <a:srgbClr val="F4F6FC"/>
          </a:solidFill>
          <a:ln w="9525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138928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builders/ CartBuilder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38928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builders/ CustomerBuilder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38928" y="3401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builders/ OrderBuilder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38928" y="4005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db/ DatabaseHelper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38928" y="46085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db/ FlywaySupport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38928" y="5212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db/ MySqlSupport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38928" y="58155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secret/ Secrets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42048" y="15087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242048" y="15087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42048" y="2039112"/>
            <a:ext cx="2084832" cy="4178808"/>
          </a:xfrm>
          <a:prstGeom prst="roundRect">
            <a:avLst>
              <a:gd name="adj" fmla="val 2632"/>
            </a:avLst>
          </a:prstGeom>
          <a:solidFill>
            <a:srgbClr val="F4F6FC"/>
          </a:solidFill>
          <a:ln w="9525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370064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components/ Header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70064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components/ ProductCard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70064" y="3401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locators/ Xp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70064" y="4005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pages/ CartPage · CheckoutPage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70064" y="46085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pages/ HomePage · LoginPage · OrderPage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473184" y="15087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473184" y="15087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· runner · stepdefs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473184" y="2039112"/>
            <a:ext cx="2084832" cy="4178808"/>
          </a:xfrm>
          <a:prstGeom prst="roundRect">
            <a:avLst>
              <a:gd name="adj" fmla="val 2632"/>
            </a:avLst>
          </a:prstGeom>
          <a:solidFill>
            <a:srgbClr val="F4F6FC"/>
          </a:solidFill>
          <a:ln w="9525">
            <a:solidFill>
              <a:srgbClr val="E0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60120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BaseApiTest · BaseUiTest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01200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DriverFactory · Hooks · WorldContext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01200" y="3401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runner/ TestRunner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01200" y="4005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stepdefs/ 9 step classes (thin glue)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XPath — The Locator Standard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Relative, attribute/text-anchored, parameterized — one class, no absolute or index paths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9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class Xp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final String PRODUCT =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"//div[contains(@class,'product')][.//*[normalize-space()='%s']]";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final String ADD_TO_CART = PRODUCT + "//button[normalize-space()='Add to cart']";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SelenideElement product(String name)   { return $x(String.format(PRODUCT, name));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SelenideElement addToCart(String name) { return $x(String.format(ADD_TO_CART, name));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89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1097280" y="4133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&amp; anchored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stable attributes or visible text — never brittle absolute paths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873752"/>
            <a:ext cx="365760" cy="365760"/>
          </a:xfrm>
          <a:prstGeom prst="ellipse">
            <a:avLst/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166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expression (%s) reused across every product/cart row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58698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5586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1097280" y="5559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to avoid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58795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or index-based paths (//div[3]/span[2]) — the project's explicit anti-pattern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Scenarios Across Every Layer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API, database and a security negative — what the gate checks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returns matching products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totals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= Σ(qty × price), paise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E2E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Login→search→add→cart→checkout→PLACED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200; another customer 403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rules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PLACED→CANCELLED; again→409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stock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qty &gt; stock → 409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push everything through the UI — automate on the layer that proves the fact.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Flagship E2E — One Fact, Three Layers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checkout_e2e.feature — secret-free; password resolved inside the step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3977640"/>
          </a:xfrm>
          <a:prstGeom prst="roundRect">
            <a:avLst>
              <a:gd name="adj" fmla="val 1839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@e2e @smoke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889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Checkout places an order and the backend agrees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A logged-in customer checks out a two-item cart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"alice" is logged in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she adds 2 x "SKU-BAG" (49900 paise each) to her cart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she checks out with a valid address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the order confirmation shows status "PLACED"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GET /api/orders/{id} returns PLACED and totalPaise 99800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the orders table has exactly one PLACED row for alice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6092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609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8046720" y="1618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confirmation shows PLACED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60920" y="24231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609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8046720" y="2441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/api/orders/{id} confirms the same order &amp; total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60920" y="32461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609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8046720" y="3264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PLACED row exists for alice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60920" y="4160520"/>
            <a:ext cx="4251960" cy="0"/>
          </a:xfrm>
          <a:prstGeom prst="line">
            <a:avLst/>
          </a:prstGeom>
          <a:noFill/>
          <a:ln w="12700">
            <a:solidFill>
              <a:srgbClr val="3A43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60920" y="434340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feature names “alice” — never her password.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Negative — Do Not Skip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Object-level authorization: orders are visible only to their owner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228600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@api @negative @security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89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Orders are visible only to their owner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Another customer cannot read someone else's order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"alice" has a PLACED order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"bob" requests GET /api/orders/{that id}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the response status is 403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52360" y="1600200"/>
            <a:ext cx="4160520" cy="2286000"/>
          </a:xfrm>
          <a:prstGeom prst="roundRect">
            <a:avLst>
              <a:gd name="adj" fmla="val 3200"/>
            </a:avLst>
          </a:prstGeom>
          <a:solidFill>
            <a:srgbClr val="FDEDEE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26680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26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8366760" y="18105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403, never 200, never the body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26680" y="251460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token on another customer's object must be rejected — this is the object-level authorization case the gate specifically checks.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model recap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/ invalid 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Unauthorized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token, wrong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Forbidden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token, correct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Test-Data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the baseline, build per test, isolate every run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public 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V1__schema.sql + V2__seed.sql create tables &amp; insert products / customers. Runs on every container start — identical baseline everywhere.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1188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118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per-test data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3291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CustomerBuilder · CartBuilder · OrderBuilder — never shared fixtures. A test states only what it cares about.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Testcontainers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3291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class gets its own throwaway Postgres — kills the “3 orders / now 5” flake.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2560" y="16916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28116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2811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8116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idempotent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8116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container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1160" y="3291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from a clean container always gives the same result.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983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SKU-CAP has stock 0 — reserved for the out-of-stock negative (Scenario 6)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Data — Never in the Repo, Logs, or Demo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tokens, payment/UPI details, PII — sourced off-repo and resolved only where consumed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23560" cy="2880360"/>
          </a:xfrm>
          <a:prstGeom prst="roundRect">
            <a:avLst>
              <a:gd name="adj" fmla="val 254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5257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89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class Secrets {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env var -&gt; CI secret store -&gt; secrets.local.properties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String get(String key) { ... }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callers MUST NOT log the return value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7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E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auth.login("alice@shopkart.test",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E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Secrets.get("alice.password"));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46520" y="170078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720840" y="15727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Git — secrets.local.properties is git-ignored; commits scanned with gitleaks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46520" y="2414016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72084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everywhere — logs, console, Allure attachments &amp; screenshots show ****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46520" y="312724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720840" y="29992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Dedicated, rotated test accounts — never a real user's credentials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384048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720840" y="371246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stay secret-free — reference the persona; the step resolves it at runtime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— Allure, With Redaction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categories, executive overview — never a leaked secret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2585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categories.json buckets failures: Product defect (assertion), Test defect (broken locator / 500), Flaky (passed on retry).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19088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1908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2585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previous report's history/ in CI so trend and retry widgets populate across runs.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9808" y="35387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90448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glance: pass-rate trend, flaky rate, risk by area.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3375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19088" y="35387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1908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attachments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390448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 replaces Authorization headers, tokens &amp; passwords with **** before any attachment is written.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never attach a raw network log carrying a bearer token.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10-Minute Demo — Rehearsed Sequence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clean container — the gate scores what is shown and explained live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417320" y="1874520"/>
            <a:ext cx="0" cy="4050792"/>
          </a:xfrm>
          <a:prstGeom prst="line">
            <a:avLst/>
          </a:prstGeom>
          <a:noFill/>
          <a:ln w="19050">
            <a:solidFill>
              <a:srgbClr val="3A43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207008" y="182880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0700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0–2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7373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tour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06440" y="173736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Layers, Xp locators, builders, base classes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207008" y="254203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07008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450592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2–4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4505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suite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06440" y="2450592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test — Testcontainers spins Postgres, all green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07008" y="3255264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207008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163824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4–6 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16382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E2E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06440" y="3163824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3, UI→API→DB — one order proven three ways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207008" y="396849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207008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3877056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6–8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87705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06440" y="3877056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categories, a triaged flaky, executive overview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207008" y="4681728"/>
            <a:ext cx="420624" cy="420624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207008" y="4681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20240" y="459028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8–9 min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459028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06440" y="4590288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 — another customer gets 403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207008" y="539496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207008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20240" y="5303520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9–10 min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17520" y="53035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06440" y="530352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sentence: what's solid, biggest capstone risk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Evidence Checklist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bringing to Gate 6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6002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suite run from a cold start (Testcontainers, no local DB)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1792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16002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structure matching the standard, Xp locator class, thin steps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1671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with history (≥3 runs), categories, environment — no secrets in attachments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21284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1671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test matrix across all six scenarios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7977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7340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Data-isolation proof — run twice, identical results, no leftover rows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77977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1792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27340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handling proof — nothing in repo/features, Secrets resolver in use, clean gitleaks scan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3009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negative (403) passing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FA9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1792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33009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rehearsed demo, recording verified secret-free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SDET Automation · Week 6 Pre-Capstone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3840480"/>
            <a:ext cx="5029200" cy="5029200"/>
          </a:xfrm>
          <a:prstGeom prst="ellipse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Solid — and the Biggest Capstone Risk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locators, and secret handling are gate-ready. Watching Allure history continuity and DB-isolation timing heading into Week 7.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3977640"/>
            <a:ext cx="2926080" cy="0"/>
          </a:xfrm>
          <a:prstGeom prst="line">
            <a:avLst/>
          </a:prstGeom>
          <a:noFill/>
          <a:ln w="12700">
            <a:solidFill>
              <a:srgbClr val="3A43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 Singh · Week 6 Day 6 Pre-Capstone · Project-Team Reference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1A985-B5B5-611F-D904-433CD2EF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E010AA40-B567-3FAB-DBB0-406ECFB8EBA9}"/>
              </a:ext>
            </a:extLst>
          </p:cNvPr>
          <p:cNvSpPr txBox="1"/>
          <p:nvPr/>
        </p:nvSpPr>
        <p:spPr>
          <a:xfrm>
            <a:off x="2844800" y="1168400"/>
            <a:ext cx="6891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Github</a:t>
            </a:r>
            <a:r>
              <a:rPr lang="en-IN" dirty="0"/>
              <a:t> link : </a:t>
            </a:r>
            <a:r>
              <a:rPr lang="en-IN" dirty="0" err="1">
                <a:hlinkClick r:id="rId3"/>
              </a:rPr>
              <a:t>Laharigandla</a:t>
            </a:r>
            <a:r>
              <a:rPr lang="en-IN" dirty="0">
                <a:hlinkClick r:id="rId3"/>
              </a:rPr>
              <a:t>/</a:t>
            </a:r>
            <a:r>
              <a:rPr lang="en-IN" dirty="0" err="1">
                <a:hlinkClick r:id="rId3"/>
              </a:rPr>
              <a:t>UI_API_DB_Testing_ShopKart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481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1879</Words>
  <Application>Microsoft Office PowerPoint</Application>
  <PresentationFormat>Widescreen</PresentationFormat>
  <Paragraphs>356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Lahari Gandla(UST,IN)</cp:lastModifiedBy>
  <cp:revision>2</cp:revision>
  <dcterms:created xsi:type="dcterms:W3CDTF">2026-07-12T12:12:30Z</dcterms:created>
  <dcterms:modified xsi:type="dcterms:W3CDTF">2026-07-12T12:28:05Z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2026-07-12T12:28:05Z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c00500f5-7d56-43df-a512-e816dca11e0d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