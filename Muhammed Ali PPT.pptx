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7" r:id="rId4"/>
    <p:sldId id="259" r:id="rId5"/>
    <p:sldId id="260" r:id="rId6"/>
    <p:sldId id="261" r:id="rId7"/>
    <p:sldId id="268" r:id="rId8"/>
    <p:sldId id="262" r:id="rId9"/>
    <p:sldId id="263" r:id="rId10"/>
    <p:sldId id="264" r:id="rId11"/>
    <p:sldId id="265" r:id="rId12"/>
    <p:sldId id="266" r:id="rId13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5930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B98B9-12F8-EB79-A30A-A0DC11E66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58AE35-15EC-8E7B-086F-200E1B9479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427960-052A-DA96-777D-7919A47BD0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A32377-AACD-5BD4-D2BC-3A1304D9D5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9758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9BD10-A2F5-13A2-1285-DC50AEF0C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17D88E-0BA8-2160-FDA6-CE367156DB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F26EFD-FE74-661A-EE04-7421068B40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1FA8E2-5238-CD14-A8B7-4D338F2067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1728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uhammedalima-ust/week6Assessmen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320000">
            <a:off x="877824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 rot="-1320000">
            <a:off x="928116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 rot="-1320000">
            <a:off x="978408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 rot="-1320000">
            <a:off x="1028700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 rot="-1320000">
            <a:off x="1078992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366760" y="0"/>
            <a:ext cx="3822192" cy="6858000"/>
          </a:xfrm>
          <a:prstGeom prst="rect">
            <a:avLst/>
          </a:prstGeom>
          <a:solidFill>
            <a:srgbClr val="2B2A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054755" y="960120"/>
            <a:ext cx="2446203" cy="2446203"/>
          </a:xfrm>
          <a:prstGeom prst="ellipse">
            <a:avLst/>
          </a:prstGeom>
          <a:solidFill>
            <a:srgbClr val="F4E3A1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366760" y="6400800"/>
            <a:ext cx="3822192" cy="457200"/>
          </a:xfrm>
          <a:prstGeom prst="rect">
            <a:avLst/>
          </a:prstGeom>
          <a:solidFill>
            <a:srgbClr val="111111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595360" y="6446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822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6· GATE 6 ASSESSMENT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1234440"/>
            <a:ext cx="7498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ShopKart</a:t>
            </a:r>
            <a:endParaRPr lang="en-US" sz="7800" dirty="0"/>
          </a:p>
        </p:txBody>
      </p:sp>
      <p:sp>
        <p:nvSpPr>
          <p:cNvPr id="13" name="Text 11"/>
          <p:cNvSpPr/>
          <p:nvPr/>
        </p:nvSpPr>
        <p:spPr>
          <a:xfrm>
            <a:off x="777240" y="2514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B2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Automation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04672" y="33375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77240" y="4160520"/>
            <a:ext cx="411480" cy="54864"/>
          </a:xfrm>
          <a:prstGeom prst="rect">
            <a:avLst/>
          </a:prstGeom>
          <a:solidFill>
            <a:srgbClr val="E8CE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04672" y="5029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" y="5248656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 Ali M A</a:t>
            </a:r>
            <a:endParaRPr lang="en-US" sz="1300" dirty="0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6909F133-269D-9EB4-95B7-EF029770D457}"/>
              </a:ext>
            </a:extLst>
          </p:cNvPr>
          <p:cNvSpPr/>
          <p:nvPr/>
        </p:nvSpPr>
        <p:spPr>
          <a:xfrm>
            <a:off x="804672" y="56651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GitHub link</a:t>
            </a:r>
            <a:endParaRPr lang="en-US" sz="1000" dirty="0"/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05778971-AD5D-4C2F-D1C9-381FFD08F0A7}"/>
              </a:ext>
            </a:extLst>
          </p:cNvPr>
          <p:cNvSpPr/>
          <p:nvPr/>
        </p:nvSpPr>
        <p:spPr>
          <a:xfrm>
            <a:off x="804672" y="588460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 err="1">
                <a:hlinkClick r:id="rId3"/>
              </a:rPr>
              <a:t>muhammedalima-ust</a:t>
            </a:r>
            <a:r>
              <a:rPr lang="en-IN" sz="1400" dirty="0">
                <a:hlinkClick r:id="rId3"/>
              </a:rPr>
              <a:t>/week6Assessment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334023" y="336623"/>
            <a:ext cx="3578169" cy="6261796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 rot="1320000">
            <a:off x="8847006" y="333208"/>
            <a:ext cx="3550538" cy="6213442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 rot="1320000">
            <a:off x="9357527" y="330628"/>
            <a:ext cx="3529668" cy="6176919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 rot="1320000">
            <a:off x="9816226" y="345635"/>
            <a:ext cx="3651090" cy="6389407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 rot="1320000">
            <a:off x="10583187" y="256032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685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05156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FC9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920240" y="239572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20240" y="281635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structure — config, API, UI, data, steps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3318079"/>
            <a:ext cx="5943600" cy="0"/>
          </a:xfrm>
          <a:prstGeom prst="line">
            <a:avLst/>
          </a:prstGeom>
          <a:noFill/>
          <a:ln w="9525">
            <a:solidFill>
              <a:srgbClr val="D8D3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77240" y="340156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FC9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920240" y="341985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Scenarios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920240" y="3840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cart, checkout, access, cancel, stock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4334256"/>
            <a:ext cx="5943600" cy="0"/>
          </a:xfrm>
          <a:prstGeom prst="line">
            <a:avLst/>
          </a:prstGeom>
          <a:noFill/>
          <a:ln w="9525">
            <a:solidFill>
              <a:srgbClr val="D8D3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77240" y="4425696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FC9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920240" y="444398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Report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920240" y="486460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Report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77240" y="5358384"/>
            <a:ext cx="5943600" cy="0"/>
          </a:xfrm>
          <a:prstGeom prst="line">
            <a:avLst/>
          </a:prstGeom>
          <a:noFill/>
          <a:ln w="9525">
            <a:solidFill>
              <a:srgbClr val="D8D3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77240" y="544982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FC9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1920240" y="546811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920240" y="588873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Improvement the framework provide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046720" y="5989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147572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61F319-93A6-4A39-F1A7-EF37C4B89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1EF279B-6941-4749-3B48-47721364CDAD}"/>
              </a:ext>
            </a:extLst>
          </p:cNvPr>
          <p:cNvSpPr/>
          <p:nvPr/>
        </p:nvSpPr>
        <p:spPr>
          <a:xfrm rot="-1320000">
            <a:off x="877824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2DC96D6-E6A5-E1AC-4A15-D5698A893112}"/>
              </a:ext>
            </a:extLst>
          </p:cNvPr>
          <p:cNvSpPr/>
          <p:nvPr/>
        </p:nvSpPr>
        <p:spPr>
          <a:xfrm rot="-1320000">
            <a:off x="928116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AE4C1A1-981F-C75D-1681-AE334D64746C}"/>
              </a:ext>
            </a:extLst>
          </p:cNvPr>
          <p:cNvSpPr/>
          <p:nvPr/>
        </p:nvSpPr>
        <p:spPr>
          <a:xfrm rot="-1320000">
            <a:off x="978408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CC2EC59-58EF-972B-5628-4FE3C4BDD541}"/>
              </a:ext>
            </a:extLst>
          </p:cNvPr>
          <p:cNvSpPr/>
          <p:nvPr/>
        </p:nvSpPr>
        <p:spPr>
          <a:xfrm rot="-1320000">
            <a:off x="1028700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453CC3B-450E-C2FA-C778-BD977A90FF1D}"/>
              </a:ext>
            </a:extLst>
          </p:cNvPr>
          <p:cNvSpPr/>
          <p:nvPr/>
        </p:nvSpPr>
        <p:spPr>
          <a:xfrm rot="-1320000">
            <a:off x="1078992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57DCF08-7AD9-97C4-22A5-DDFD4CDEE880}"/>
              </a:ext>
            </a:extLst>
          </p:cNvPr>
          <p:cNvSpPr/>
          <p:nvPr/>
        </p:nvSpPr>
        <p:spPr>
          <a:xfrm>
            <a:off x="8778240" y="4572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ECE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C7A5CD0-9F00-69C6-BABC-7D7ADCA526B8}"/>
              </a:ext>
            </a:extLst>
          </p:cNvPr>
          <p:cNvSpPr/>
          <p:nvPr/>
        </p:nvSpPr>
        <p:spPr>
          <a:xfrm>
            <a:off x="777240" y="685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5ECA804-697C-1BDA-B9B6-4EE9A0B31FF6}"/>
              </a:ext>
            </a:extLst>
          </p:cNvPr>
          <p:cNvSpPr/>
          <p:nvPr/>
        </p:nvSpPr>
        <p:spPr>
          <a:xfrm>
            <a:off x="731520" y="10515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</a:t>
            </a:r>
            <a:endParaRPr lang="en-US" sz="5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B8F5035-19DB-C277-4880-FDBD994685E9}"/>
              </a:ext>
            </a:extLst>
          </p:cNvPr>
          <p:cNvSpPr/>
          <p:nvPr/>
        </p:nvSpPr>
        <p:spPr>
          <a:xfrm>
            <a:off x="804672" y="1828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2F2C23C-BF64-132C-C238-E809E08AFA6D}"/>
              </a:ext>
            </a:extLst>
          </p:cNvPr>
          <p:cNvSpPr/>
          <p:nvPr/>
        </p:nvSpPr>
        <p:spPr>
          <a:xfrm>
            <a:off x="777240" y="25146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</a:t>
            </a:r>
            <a:endParaRPr lang="en-US" sz="16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D1E1060-EA54-C4E4-BE82-40E12CE80A8E}"/>
              </a:ext>
            </a:extLst>
          </p:cNvPr>
          <p:cNvSpPr/>
          <p:nvPr/>
        </p:nvSpPr>
        <p:spPr>
          <a:xfrm>
            <a:off x="777240" y="2898648"/>
            <a:ext cx="292608" cy="41148"/>
          </a:xfrm>
          <a:prstGeom prst="rect">
            <a:avLst/>
          </a:prstGeom>
          <a:solidFill>
            <a:srgbClr val="E8CE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3A700F0-DE4D-01BF-42EA-EB83C46D1EA0}"/>
              </a:ext>
            </a:extLst>
          </p:cNvPr>
          <p:cNvSpPr/>
          <p:nvPr/>
        </p:nvSpPr>
        <p:spPr>
          <a:xfrm>
            <a:off x="777240" y="2990088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Hardcoded Data – Everything is getting from ci or local secrets or env</a:t>
            </a:r>
            <a:endParaRPr lang="en-US" sz="1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65D900C-53E6-EECB-0BE0-E3FE3CBD00ED}"/>
              </a:ext>
            </a:extLst>
          </p:cNvPr>
          <p:cNvSpPr/>
          <p:nvPr/>
        </p:nvSpPr>
        <p:spPr>
          <a:xfrm>
            <a:off x="6492240" y="25146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6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CD94C77-F6B8-BCC9-C224-BEA9FF46053F}"/>
              </a:ext>
            </a:extLst>
          </p:cNvPr>
          <p:cNvSpPr/>
          <p:nvPr/>
        </p:nvSpPr>
        <p:spPr>
          <a:xfrm>
            <a:off x="6492240" y="2898648"/>
            <a:ext cx="292608" cy="41148"/>
          </a:xfrm>
          <a:prstGeom prst="rect">
            <a:avLst/>
          </a:prstGeom>
          <a:solidFill>
            <a:srgbClr val="E8CE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A35CCA0-193A-8E7F-C337-9FC057DCAFB8}"/>
              </a:ext>
            </a:extLst>
          </p:cNvPr>
          <p:cNvSpPr/>
          <p:nvPr/>
        </p:nvSpPr>
        <p:spPr>
          <a:xfrm>
            <a:off x="6492240" y="2990088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Rest Client for Each Api : Order, Product, Cart, Auth</a:t>
            </a:r>
            <a:endParaRPr lang="en-US" sz="1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01E80A1-6F71-8FCD-6D50-9BE2959C6143}"/>
              </a:ext>
            </a:extLst>
          </p:cNvPr>
          <p:cNvSpPr/>
          <p:nvPr/>
        </p:nvSpPr>
        <p:spPr>
          <a:xfrm>
            <a:off x="777240" y="37490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16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A16FAC9-9CC6-2B5E-E322-F307E08532D2}"/>
              </a:ext>
            </a:extLst>
          </p:cNvPr>
          <p:cNvSpPr/>
          <p:nvPr/>
        </p:nvSpPr>
        <p:spPr>
          <a:xfrm>
            <a:off x="777240" y="4133088"/>
            <a:ext cx="292608" cy="41148"/>
          </a:xfrm>
          <a:prstGeom prst="rect">
            <a:avLst/>
          </a:prstGeom>
          <a:solidFill>
            <a:srgbClr val="E8CE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04F15F7-73C6-00C8-6197-1B34C5523757}"/>
              </a:ext>
            </a:extLst>
          </p:cNvPr>
          <p:cNvSpPr/>
          <p:nvPr/>
        </p:nvSpPr>
        <p:spPr>
          <a:xfrm>
            <a:off x="777240" y="4224528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 + </a:t>
            </a:r>
            <a:r>
              <a:rPr lang="en-US" sz="1200" dirty="0" err="1">
                <a:solidFill>
                  <a:srgbClr val="5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Xpath</a:t>
            </a:r>
            <a:r>
              <a:rPr lang="en-US" sz="1200" dirty="0">
                <a:solidFill>
                  <a:srgbClr val="5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Locators</a:t>
            </a:r>
            <a:endParaRPr lang="en-US" sz="12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F4FFB68-2CC1-1A82-3281-0B9C693D4123}"/>
              </a:ext>
            </a:extLst>
          </p:cNvPr>
          <p:cNvSpPr/>
          <p:nvPr/>
        </p:nvSpPr>
        <p:spPr>
          <a:xfrm>
            <a:off x="6492240" y="37490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6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3A617FB6-C47A-80C6-DD22-1248CCF8A96C}"/>
              </a:ext>
            </a:extLst>
          </p:cNvPr>
          <p:cNvSpPr/>
          <p:nvPr/>
        </p:nvSpPr>
        <p:spPr>
          <a:xfrm>
            <a:off x="6492240" y="4133088"/>
            <a:ext cx="292608" cy="41148"/>
          </a:xfrm>
          <a:prstGeom prst="rect">
            <a:avLst/>
          </a:prstGeom>
          <a:solidFill>
            <a:srgbClr val="E8CE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69D2F2E-AD9F-2ABB-69E3-67D6B979E262}"/>
              </a:ext>
            </a:extLst>
          </p:cNvPr>
          <p:cNvSpPr/>
          <p:nvPr/>
        </p:nvSpPr>
        <p:spPr>
          <a:xfrm>
            <a:off x="6492240" y="4224528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Builders for Test Data and Records models to support builders</a:t>
            </a:r>
            <a:endParaRPr lang="en-US" sz="12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ED2D879-8FD5-395E-93B6-0897D9785D73}"/>
              </a:ext>
            </a:extLst>
          </p:cNvPr>
          <p:cNvSpPr/>
          <p:nvPr/>
        </p:nvSpPr>
        <p:spPr>
          <a:xfrm>
            <a:off x="777240" y="49834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</a:t>
            </a:r>
            <a:endParaRPr lang="en-US" sz="16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E3436755-00E5-3810-DF1F-3DC054F9C5A2}"/>
              </a:ext>
            </a:extLst>
          </p:cNvPr>
          <p:cNvSpPr/>
          <p:nvPr/>
        </p:nvSpPr>
        <p:spPr>
          <a:xfrm>
            <a:off x="777240" y="5367528"/>
            <a:ext cx="292608" cy="41148"/>
          </a:xfrm>
          <a:prstGeom prst="rect">
            <a:avLst/>
          </a:prstGeom>
          <a:solidFill>
            <a:srgbClr val="E8CE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1703B92-250E-57ED-DAB8-AC73FD47679D}"/>
              </a:ext>
            </a:extLst>
          </p:cNvPr>
          <p:cNvSpPr/>
          <p:nvPr/>
        </p:nvSpPr>
        <p:spPr>
          <a:xfrm>
            <a:off x="777240" y="5458968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Steps  file for each flows</a:t>
            </a:r>
            <a:endParaRPr lang="en-US" sz="12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C341E2F-33EC-B494-A96A-0F2FBE041915}"/>
              </a:ext>
            </a:extLst>
          </p:cNvPr>
          <p:cNvSpPr/>
          <p:nvPr/>
        </p:nvSpPr>
        <p:spPr>
          <a:xfrm>
            <a:off x="6492240" y="49834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16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4D7E5C13-169B-B5B8-B478-375C8F259F1A}"/>
              </a:ext>
            </a:extLst>
          </p:cNvPr>
          <p:cNvSpPr/>
          <p:nvPr/>
        </p:nvSpPr>
        <p:spPr>
          <a:xfrm>
            <a:off x="6492240" y="5367528"/>
            <a:ext cx="292608" cy="41148"/>
          </a:xfrm>
          <a:prstGeom prst="rect">
            <a:avLst/>
          </a:prstGeom>
          <a:solidFill>
            <a:srgbClr val="E8CE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8E3035DD-C613-183E-5674-642682EF8392}"/>
              </a:ext>
            </a:extLst>
          </p:cNvPr>
          <p:cNvSpPr/>
          <p:nvPr/>
        </p:nvSpPr>
        <p:spPr>
          <a:xfrm>
            <a:off x="6492240" y="5458968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World Class , Common Hooks with screenshot on failure and Allure Steps and Log for tracing</a:t>
            </a:r>
            <a:endParaRPr lang="en-US" sz="12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31B41FFE-981B-1200-E2AB-D8EBEB2CA224}"/>
              </a:ext>
            </a:extLst>
          </p:cNvPr>
          <p:cNvSpPr/>
          <p:nvPr/>
        </p:nvSpPr>
        <p:spPr>
          <a:xfrm>
            <a:off x="1147572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8800B450-22A8-3038-C582-39FA3C74373D}"/>
              </a:ext>
            </a:extLst>
          </p:cNvPr>
          <p:cNvSpPr/>
          <p:nvPr/>
        </p:nvSpPr>
        <p:spPr>
          <a:xfrm>
            <a:off x="640080" y="6510528"/>
            <a:ext cx="320040" cy="0"/>
          </a:xfrm>
          <a:prstGeom prst="line">
            <a:avLst/>
          </a:prstGeom>
          <a:noFill/>
          <a:ln w="9525">
            <a:solidFill>
              <a:srgbClr val="D8D3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8D16DC83-0AE8-6D7B-BE62-6615DA1D5451}"/>
              </a:ext>
            </a:extLst>
          </p:cNvPr>
          <p:cNvSpPr/>
          <p:nvPr/>
        </p:nvSpPr>
        <p:spPr>
          <a:xfrm>
            <a:off x="1051560" y="6382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87195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320000">
            <a:off x="877824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 rot="-1320000">
            <a:off x="928116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 rot="-1320000">
            <a:off x="978408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 rot="-1320000">
            <a:off x="1028700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 rot="-1320000">
            <a:off x="1078992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805672" y="0"/>
            <a:ext cx="3383280" cy="6858000"/>
          </a:xfrm>
          <a:prstGeom prst="rect">
            <a:avLst/>
          </a:prstGeom>
          <a:solidFill>
            <a:srgbClr val="2B2A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414662" y="960120"/>
            <a:ext cx="2165299" cy="2165299"/>
          </a:xfrm>
          <a:prstGeom prst="ellipse">
            <a:avLst/>
          </a:prstGeom>
          <a:solidFill>
            <a:srgbClr val="F4E3A1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805672" y="6400800"/>
            <a:ext cx="3383280" cy="457200"/>
          </a:xfrm>
          <a:prstGeom prst="rect">
            <a:avLst/>
          </a:prstGeom>
          <a:solidFill>
            <a:srgbClr val="111111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7240" y="5029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CFC9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02.1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795528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@SMOKE @UI @API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178308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Search</a:t>
            </a:r>
            <a:endParaRPr lang="en-US" sz="3800" dirty="0"/>
          </a:p>
        </p:txBody>
      </p:sp>
      <p:sp>
        <p:nvSpPr>
          <p:cNvPr id="13" name="Shape 11"/>
          <p:cNvSpPr/>
          <p:nvPr/>
        </p:nvSpPr>
        <p:spPr>
          <a:xfrm>
            <a:off x="804672" y="2606040"/>
            <a:ext cx="457200" cy="54864"/>
          </a:xfrm>
          <a:prstGeom prst="rect">
            <a:avLst/>
          </a:prstGeom>
          <a:solidFill>
            <a:srgbClr val="E8CE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77240" y="2880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154680"/>
            <a:ext cx="361514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returns matching products, verified in both the UI and the API response.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7240" y="4434840"/>
            <a:ext cx="39754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types a partial name; the results grid and the /api/products response are checked against the same expectation, so a UI-only bug and an API-only bug are both caught.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7572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082B446-6580-4346-CD28-B7F02FE77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435085"/>
            <a:ext cx="12188825" cy="44229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-109728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 rot="1320000">
            <a:off x="-59436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 rot="1320000">
            <a:off x="-9144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 rot="1320000">
            <a:off x="41148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 rot="1320000">
            <a:off x="91440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2B2A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08990" y="960120"/>
            <a:ext cx="2165299" cy="2165299"/>
          </a:xfrm>
          <a:prstGeom prst="ellipse">
            <a:avLst/>
          </a:prstGeom>
          <a:solidFill>
            <a:srgbClr val="F4E3A1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0" y="6400800"/>
            <a:ext cx="3383280" cy="457200"/>
          </a:xfrm>
          <a:prstGeom prst="rect">
            <a:avLst/>
          </a:prstGeom>
          <a:solidFill>
            <a:srgbClr val="111111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794760" y="5029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CFC9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02.2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3813048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@API @DB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94760" y="178308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 Totals</a:t>
            </a:r>
            <a:endParaRPr lang="en-US" sz="3800" dirty="0"/>
          </a:p>
        </p:txBody>
      </p:sp>
      <p:sp>
        <p:nvSpPr>
          <p:cNvPr id="13" name="Shape 11"/>
          <p:cNvSpPr/>
          <p:nvPr/>
        </p:nvSpPr>
        <p:spPr>
          <a:xfrm>
            <a:off x="3822192" y="2606040"/>
            <a:ext cx="457200" cy="54864"/>
          </a:xfrm>
          <a:prstGeom prst="rect">
            <a:avLst/>
          </a:prstGeom>
          <a:solidFill>
            <a:srgbClr val="E8CE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639890" y="2880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39890" y="315468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equals the sum of quantity × price, in paise, and the database agrees.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794760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RUNS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39890" y="4434840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are added through the cart API; the returned total is checked against a computed expectation, then the database is queried directly to confirm the same figure — one fact, two sources.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7572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6510528"/>
            <a:ext cx="320040" cy="0"/>
          </a:xfrm>
          <a:prstGeom prst="line">
            <a:avLst/>
          </a:prstGeom>
          <a:noFill/>
          <a:ln w="9525">
            <a:solidFill>
              <a:srgbClr val="D8D3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051560" y="6382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B35D4CE-4F05-C8F8-0445-635ACDBFE8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78" t="6821" r="4098" b="1595"/>
          <a:stretch>
            <a:fillRect/>
          </a:stretch>
        </p:blipFill>
        <p:spPr>
          <a:xfrm>
            <a:off x="9913" y="3308299"/>
            <a:ext cx="5576207" cy="35954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320000">
            <a:off x="877824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 rot="-1320000">
            <a:off x="928116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 rot="-1320000">
            <a:off x="978408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 rot="-1320000">
            <a:off x="1028700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 rot="-1320000">
            <a:off x="1078992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805672" y="0"/>
            <a:ext cx="3383280" cy="6858000"/>
          </a:xfrm>
          <a:prstGeom prst="rect">
            <a:avLst/>
          </a:prstGeom>
          <a:solidFill>
            <a:srgbClr val="F4E3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414662" y="960120"/>
            <a:ext cx="2165299" cy="2165299"/>
          </a:xfrm>
          <a:prstGeom prst="ellipse">
            <a:avLst/>
          </a:prstGeom>
          <a:solidFill>
            <a:srgbClr val="2B2A28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805672" y="6400800"/>
            <a:ext cx="3383280" cy="457200"/>
          </a:xfrm>
          <a:prstGeom prst="rect">
            <a:avLst/>
          </a:prstGeom>
          <a:solidFill>
            <a:srgbClr val="111111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7240" y="5029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CFC9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02.3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795528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@E2E @SMOKE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178308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— Flagship E2E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777240" y="2880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15468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→ search → add → cart → checkout ends in a PLACED order, proven three ways.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77240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RUNS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4434840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UI shows the confirmation, the API returns the same order and total, and the orders table holds exactly one PLACED row. The password is never in the feature file — it's resolved at run time.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7572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83EE2D-F356-19F5-2DDA-7CCC9DE3D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C051C6B-6E34-68CC-F1BF-49476AA8CA40}"/>
              </a:ext>
            </a:extLst>
          </p:cNvPr>
          <p:cNvSpPr/>
          <p:nvPr/>
        </p:nvSpPr>
        <p:spPr>
          <a:xfrm rot="-1320000">
            <a:off x="877824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0CFA507-EF5E-FA83-3AEB-DF3112450FBB}"/>
              </a:ext>
            </a:extLst>
          </p:cNvPr>
          <p:cNvSpPr/>
          <p:nvPr/>
        </p:nvSpPr>
        <p:spPr>
          <a:xfrm rot="-1320000">
            <a:off x="928116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673DE45-B9B1-2803-5474-9E2C177B8A27}"/>
              </a:ext>
            </a:extLst>
          </p:cNvPr>
          <p:cNvSpPr/>
          <p:nvPr/>
        </p:nvSpPr>
        <p:spPr>
          <a:xfrm rot="-1320000">
            <a:off x="978408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4B994DD-53C4-4836-432B-242196F08084}"/>
              </a:ext>
            </a:extLst>
          </p:cNvPr>
          <p:cNvSpPr/>
          <p:nvPr/>
        </p:nvSpPr>
        <p:spPr>
          <a:xfrm rot="-1320000">
            <a:off x="1028700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40E294A-4D3A-0FC9-F7DD-0EF0AB3423EC}"/>
              </a:ext>
            </a:extLst>
          </p:cNvPr>
          <p:cNvSpPr/>
          <p:nvPr/>
        </p:nvSpPr>
        <p:spPr>
          <a:xfrm rot="-1320000">
            <a:off x="1078992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176D31D-D2E5-F6C2-0054-94B107EFB940}"/>
              </a:ext>
            </a:extLst>
          </p:cNvPr>
          <p:cNvSpPr/>
          <p:nvPr/>
        </p:nvSpPr>
        <p:spPr>
          <a:xfrm>
            <a:off x="8805672" y="0"/>
            <a:ext cx="3383280" cy="6858000"/>
          </a:xfrm>
          <a:prstGeom prst="rect">
            <a:avLst/>
          </a:prstGeom>
          <a:solidFill>
            <a:srgbClr val="F4E3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C7D3D26-99AC-CBB4-E97D-389ACEB14850}"/>
              </a:ext>
            </a:extLst>
          </p:cNvPr>
          <p:cNvSpPr/>
          <p:nvPr/>
        </p:nvSpPr>
        <p:spPr>
          <a:xfrm>
            <a:off x="9414662" y="960120"/>
            <a:ext cx="2165299" cy="2165299"/>
          </a:xfrm>
          <a:prstGeom prst="ellipse">
            <a:avLst/>
          </a:prstGeom>
          <a:solidFill>
            <a:srgbClr val="2B2A28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B10BC8A-A117-58F9-1EED-5D68DA048C5D}"/>
              </a:ext>
            </a:extLst>
          </p:cNvPr>
          <p:cNvSpPr/>
          <p:nvPr/>
        </p:nvSpPr>
        <p:spPr>
          <a:xfrm>
            <a:off x="8805672" y="6400800"/>
            <a:ext cx="3383280" cy="457200"/>
          </a:xfrm>
          <a:prstGeom prst="rect">
            <a:avLst/>
          </a:prstGeom>
          <a:solidFill>
            <a:srgbClr val="111111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BA4ACD8-387C-8FB4-4F61-47FBDFEAA4B9}"/>
              </a:ext>
            </a:extLst>
          </p:cNvPr>
          <p:cNvSpPr/>
          <p:nvPr/>
        </p:nvSpPr>
        <p:spPr>
          <a:xfrm>
            <a:off x="777240" y="5029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CFC9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02.3</a:t>
            </a:r>
            <a:endParaRPr lang="en-US" sz="4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E2EB5D5-16B4-1F13-707A-F933C369ECD6}"/>
              </a:ext>
            </a:extLst>
          </p:cNvPr>
          <p:cNvSpPr/>
          <p:nvPr/>
        </p:nvSpPr>
        <p:spPr>
          <a:xfrm>
            <a:off x="795528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@E2E @SMOKE</a:t>
            </a:r>
            <a:endParaRPr lang="en-US" sz="11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E74B63E-80CB-84EA-CA8E-7E9925A6FCAC}"/>
              </a:ext>
            </a:extLst>
          </p:cNvPr>
          <p:cNvSpPr/>
          <p:nvPr/>
        </p:nvSpPr>
        <p:spPr>
          <a:xfrm>
            <a:off x="777240" y="178308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— Flagship E2E</a:t>
            </a:r>
            <a:endParaRPr lang="en-US" sz="38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EA3851B-3D22-7F07-880E-DE207FCB7F1E}"/>
              </a:ext>
            </a:extLst>
          </p:cNvPr>
          <p:cNvSpPr/>
          <p:nvPr/>
        </p:nvSpPr>
        <p:spPr>
          <a:xfrm>
            <a:off x="804672" y="2606040"/>
            <a:ext cx="457200" cy="54864"/>
          </a:xfrm>
          <a:prstGeom prst="rect">
            <a:avLst/>
          </a:prstGeom>
          <a:solidFill>
            <a:srgbClr val="E8CE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C5F5BD0-DA0A-9FCF-8BCB-9A81B8F45D6B}"/>
              </a:ext>
            </a:extLst>
          </p:cNvPr>
          <p:cNvSpPr/>
          <p:nvPr/>
        </p:nvSpPr>
        <p:spPr>
          <a:xfrm>
            <a:off x="777240" y="2880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</a:t>
            </a:r>
            <a:endParaRPr lang="en-US" sz="10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B27EE11-3F88-7B3C-8493-5D921BBAC3E7}"/>
              </a:ext>
            </a:extLst>
          </p:cNvPr>
          <p:cNvSpPr/>
          <p:nvPr/>
        </p:nvSpPr>
        <p:spPr>
          <a:xfrm>
            <a:off x="777240" y="315468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→ search → add → cart → checkout ends in a PLACED order, proven three ways.</a:t>
            </a:r>
            <a:endParaRPr lang="en-US" sz="17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19FF65E-A5FF-E49F-2D24-F5B34BE87E01}"/>
              </a:ext>
            </a:extLst>
          </p:cNvPr>
          <p:cNvSpPr/>
          <p:nvPr/>
        </p:nvSpPr>
        <p:spPr>
          <a:xfrm>
            <a:off x="777240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RUNS</a:t>
            </a:r>
            <a:endParaRPr lang="en-US" sz="1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07ED0F5-A84F-FAFA-A18A-E2E10C111720}"/>
              </a:ext>
            </a:extLst>
          </p:cNvPr>
          <p:cNvSpPr/>
          <p:nvPr/>
        </p:nvSpPr>
        <p:spPr>
          <a:xfrm>
            <a:off x="777240" y="4434840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UI shows the confirmation, the API returns the same order and total, and the orders table holds exactly one PLACED row. The password is never in the feature file — it's resolved at run time.</a:t>
            </a:r>
            <a:endParaRPr lang="en-US" sz="13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09BBCC5-A671-F9FA-21D6-57221EBA6A1D}"/>
              </a:ext>
            </a:extLst>
          </p:cNvPr>
          <p:cNvSpPr/>
          <p:nvPr/>
        </p:nvSpPr>
        <p:spPr>
          <a:xfrm>
            <a:off x="777240" y="5806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1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C47A0AA-D48E-717D-7669-6CC830FC6BE0}"/>
              </a:ext>
            </a:extLst>
          </p:cNvPr>
          <p:cNvSpPr/>
          <p:nvPr/>
        </p:nvSpPr>
        <p:spPr>
          <a:xfrm>
            <a:off x="1691640" y="5806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→ API → DB</a:t>
            </a:r>
            <a:endParaRPr lang="en-US" sz="12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3621B8D-2E37-265F-1196-ADC0BA5CCD7E}"/>
              </a:ext>
            </a:extLst>
          </p:cNvPr>
          <p:cNvSpPr/>
          <p:nvPr/>
        </p:nvSpPr>
        <p:spPr>
          <a:xfrm>
            <a:off x="1147572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C8A45743-510D-549F-A749-7AF9F4197C84}"/>
              </a:ext>
            </a:extLst>
          </p:cNvPr>
          <p:cNvSpPr/>
          <p:nvPr/>
        </p:nvSpPr>
        <p:spPr>
          <a:xfrm>
            <a:off x="640080" y="6510528"/>
            <a:ext cx="320040" cy="0"/>
          </a:xfrm>
          <a:prstGeom prst="line">
            <a:avLst/>
          </a:prstGeom>
          <a:noFill/>
          <a:ln w="9525">
            <a:solidFill>
              <a:srgbClr val="D8D3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71975ED4-5D2B-ADF3-684C-AC37D7BCB6DE}"/>
              </a:ext>
            </a:extLst>
          </p:cNvPr>
          <p:cNvSpPr/>
          <p:nvPr/>
        </p:nvSpPr>
        <p:spPr>
          <a:xfrm>
            <a:off x="1051560" y="6382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/ SDET Capstone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1A09513-9117-CA87-62A7-3EA17B8FA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02" y="62048"/>
            <a:ext cx="5295533" cy="6858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F929E2C-9FCB-E824-BC17-755FD3F66B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315" t="538" r="10848" b="-538"/>
          <a:stretch>
            <a:fillRect/>
          </a:stretch>
        </p:blipFill>
        <p:spPr>
          <a:xfrm>
            <a:off x="5349240" y="1710897"/>
            <a:ext cx="6877570" cy="5232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335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-109728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 rot="1320000">
            <a:off x="-59436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 rot="1320000">
            <a:off x="-9144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 rot="1320000">
            <a:off x="41148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 rot="1320000">
            <a:off x="91440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F4E3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08990" y="960120"/>
            <a:ext cx="2165299" cy="2165299"/>
          </a:xfrm>
          <a:prstGeom prst="ellipse">
            <a:avLst/>
          </a:prstGeom>
          <a:solidFill>
            <a:srgbClr val="2B2A28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0" y="6400800"/>
            <a:ext cx="3383280" cy="457200"/>
          </a:xfrm>
          <a:prstGeom prst="rect">
            <a:avLst/>
          </a:prstGeom>
          <a:solidFill>
            <a:srgbClr val="111111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794760" y="5029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CFC9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02.4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3813048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@API @NEGATIVE @SECURITY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94760" y="178308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Access</a:t>
            </a:r>
            <a:endParaRPr lang="en-US" sz="3800" dirty="0"/>
          </a:p>
        </p:txBody>
      </p:sp>
      <p:sp>
        <p:nvSpPr>
          <p:cNvPr id="13" name="Shape 11"/>
          <p:cNvSpPr/>
          <p:nvPr/>
        </p:nvSpPr>
        <p:spPr>
          <a:xfrm>
            <a:off x="3822192" y="2606040"/>
            <a:ext cx="457200" cy="54864"/>
          </a:xfrm>
          <a:prstGeom prst="rect">
            <a:avLst/>
          </a:prstGeom>
          <a:solidFill>
            <a:srgbClr val="E8CE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94760" y="2880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37961" y="3154680"/>
            <a:ext cx="5229971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Object-level authorization: another customer gets 403.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794760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RUNS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37961" y="4434840"/>
            <a:ext cx="5229971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second, unrelated customer requests someone else's order by ID. The suite asserts a clean 403 and confirms no order data leaks into the response.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94760" y="5806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5806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· Negative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7572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6510528"/>
            <a:ext cx="320040" cy="0"/>
          </a:xfrm>
          <a:prstGeom prst="line">
            <a:avLst/>
          </a:prstGeom>
          <a:noFill/>
          <a:ln w="9525">
            <a:solidFill>
              <a:srgbClr val="D8D3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051560" y="6382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/ SDET Capstone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449BC0B-1B9A-CEF9-99E3-E0FF03CE0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3522" y="3609892"/>
            <a:ext cx="6558207" cy="32403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320000">
            <a:off x="877824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 rot="-1320000">
            <a:off x="928116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 rot="-1320000">
            <a:off x="978408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 rot="-1320000">
            <a:off x="1028700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 rot="-1320000">
            <a:off x="1078992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805672" y="0"/>
            <a:ext cx="3383280" cy="6858000"/>
          </a:xfrm>
          <a:prstGeom prst="rect">
            <a:avLst/>
          </a:prstGeom>
          <a:solidFill>
            <a:srgbClr val="2B2A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414662" y="960120"/>
            <a:ext cx="2165299" cy="2165299"/>
          </a:xfrm>
          <a:prstGeom prst="ellipse">
            <a:avLst/>
          </a:prstGeom>
          <a:solidFill>
            <a:srgbClr val="F4E3A1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805672" y="6400800"/>
            <a:ext cx="3383280" cy="457200"/>
          </a:xfrm>
          <a:prstGeom prst="rect">
            <a:avLst/>
          </a:prstGeom>
          <a:solidFill>
            <a:srgbClr val="111111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7240" y="5029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CFC9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02.5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795528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@API @NEGATIVE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178308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Rules</a:t>
            </a:r>
            <a:endParaRPr lang="en-US" sz="3800" dirty="0"/>
          </a:p>
        </p:txBody>
      </p:sp>
      <p:sp>
        <p:nvSpPr>
          <p:cNvPr id="13" name="Shape 11"/>
          <p:cNvSpPr/>
          <p:nvPr/>
        </p:nvSpPr>
        <p:spPr>
          <a:xfrm>
            <a:off x="804672" y="2606040"/>
            <a:ext cx="457200" cy="54864"/>
          </a:xfrm>
          <a:prstGeom prst="rect">
            <a:avLst/>
          </a:prstGeom>
          <a:solidFill>
            <a:srgbClr val="E8CE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77240" y="2880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154680"/>
            <a:ext cx="4178481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PLACED order can be cancelled once; a second attempt correctly fails.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77240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RUNS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4434840"/>
            <a:ext cx="4178481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the order again will return 409.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5806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91640" y="5806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· DB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7572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6510528"/>
            <a:ext cx="320040" cy="0"/>
          </a:xfrm>
          <a:prstGeom prst="line">
            <a:avLst/>
          </a:prstGeom>
          <a:noFill/>
          <a:ln w="9525">
            <a:solidFill>
              <a:srgbClr val="D8D3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051560" y="6382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/ SDET Capstone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0A8732A-EFDB-8815-2140-205A1251C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531" y="2743200"/>
            <a:ext cx="6960299" cy="41136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-109728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 rot="1320000">
            <a:off x="-59436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 rot="1320000">
            <a:off x="-9144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 rot="1320000">
            <a:off x="41148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 rot="1320000">
            <a:off x="91440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2B2A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08990" y="960120"/>
            <a:ext cx="2165299" cy="2165299"/>
          </a:xfrm>
          <a:prstGeom prst="ellipse">
            <a:avLst/>
          </a:prstGeom>
          <a:solidFill>
            <a:srgbClr val="F4E3A1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0" y="6400800"/>
            <a:ext cx="3383280" cy="457200"/>
          </a:xfrm>
          <a:prstGeom prst="rect">
            <a:avLst/>
          </a:prstGeom>
          <a:solidFill>
            <a:srgbClr val="111111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794760" y="5029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CFC9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02.6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3813048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@API @NEGATIVE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94760" y="178308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Stock</a:t>
            </a:r>
            <a:endParaRPr lang="en-US" sz="3800" dirty="0"/>
          </a:p>
        </p:txBody>
      </p:sp>
      <p:sp>
        <p:nvSpPr>
          <p:cNvPr id="13" name="Shape 11"/>
          <p:cNvSpPr/>
          <p:nvPr/>
        </p:nvSpPr>
        <p:spPr>
          <a:xfrm>
            <a:off x="3822192" y="2606040"/>
            <a:ext cx="457200" cy="54864"/>
          </a:xfrm>
          <a:prstGeom prst="rect">
            <a:avLst/>
          </a:prstGeom>
          <a:solidFill>
            <a:srgbClr val="E8CE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94760" y="2880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42599" y="3474720"/>
            <a:ext cx="570642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Requesting more units than are in stock is rejected with 409, never a partial fulfilment.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794760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RUNS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42599" y="4754880"/>
            <a:ext cx="570642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seeded zero-stock SKU, the suite adds a quantity above availability and confirms the API refuses cleanly, protecting inventory integrity.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94760" y="5806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5806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· Negative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7572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6510528"/>
            <a:ext cx="320040" cy="0"/>
          </a:xfrm>
          <a:prstGeom prst="line">
            <a:avLst/>
          </a:prstGeom>
          <a:noFill/>
          <a:ln w="9525">
            <a:solidFill>
              <a:srgbClr val="D8D3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051560" y="6382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/ SDET Capstone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A1FEAEE-246E-A088-E012-4E3BBA741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93" y="3548270"/>
            <a:ext cx="5800925" cy="33097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2A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320000">
            <a:off x="8778240" y="-365760"/>
            <a:ext cx="2926080" cy="512064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 rot="-1320000">
            <a:off x="9281160" y="-365760"/>
            <a:ext cx="2926080" cy="512064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 rot="-1320000">
            <a:off x="9784080" y="-365760"/>
            <a:ext cx="2926080" cy="512064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 rot="-1320000">
            <a:off x="10287000" y="-365760"/>
            <a:ext cx="2926080" cy="512064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 rot="-1320000">
            <a:off x="10789920" y="-365760"/>
            <a:ext cx="2926080" cy="512064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778240" y="4572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3A3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777240" y="685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0515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AF8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Report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804672" y="1828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4E3A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evidence, not opinion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77240" y="2514600"/>
            <a:ext cx="5349240" cy="1691640"/>
          </a:xfrm>
          <a:prstGeom prst="rect">
            <a:avLst/>
          </a:prstGeom>
          <a:solidFill>
            <a:srgbClr val="35333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2" name="Shape 10"/>
          <p:cNvSpPr/>
          <p:nvPr/>
        </p:nvSpPr>
        <p:spPr>
          <a:xfrm>
            <a:off x="777240" y="2514600"/>
            <a:ext cx="54864" cy="1691640"/>
          </a:xfrm>
          <a:prstGeom prst="rect">
            <a:avLst/>
          </a:prstGeom>
          <a:solidFill>
            <a:srgbClr val="E8CE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51560" y="26974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AF8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51560" y="310896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C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code run in CI it will store the history in the branch </a:t>
            </a:r>
            <a:r>
              <a:rPr lang="en-US" sz="1200" dirty="0" err="1">
                <a:solidFill>
                  <a:srgbClr val="C9C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</a:t>
            </a:r>
            <a:r>
              <a:rPr lang="en-US" sz="1200" dirty="0">
                <a:solidFill>
                  <a:srgbClr val="C9C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-page and also added to the allure using </a:t>
            </a:r>
            <a:r>
              <a:rPr lang="en-US" sz="1200" dirty="0" err="1">
                <a:solidFill>
                  <a:srgbClr val="C9C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1200" dirty="0">
                <a:solidFill>
                  <a:srgbClr val="C9C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action we can upload the history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46520" y="2514600"/>
            <a:ext cx="5349240" cy="1691640"/>
          </a:xfrm>
          <a:prstGeom prst="rect">
            <a:avLst/>
          </a:prstGeom>
          <a:solidFill>
            <a:srgbClr val="3533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446520" y="2514600"/>
            <a:ext cx="54864" cy="1691640"/>
          </a:xfrm>
          <a:prstGeom prst="rect">
            <a:avLst/>
          </a:prstGeom>
          <a:solidFill>
            <a:srgbClr val="E8CE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720840" y="26974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AF8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720840" y="310896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C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bucket automatically into product defect, test defect, or flaky.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4526280"/>
            <a:ext cx="5349240" cy="1691640"/>
          </a:xfrm>
          <a:prstGeom prst="rect">
            <a:avLst/>
          </a:prstGeom>
          <a:solidFill>
            <a:srgbClr val="3533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77240" y="4526280"/>
            <a:ext cx="54864" cy="1691640"/>
          </a:xfrm>
          <a:prstGeom prst="rect">
            <a:avLst/>
          </a:prstGeom>
          <a:solidFill>
            <a:srgbClr val="E8CE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051560" y="470916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AF8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view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51560" y="512064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C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 failed every test gives a green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7572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-109728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 rot="1320000">
            <a:off x="-59436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 rot="1320000">
            <a:off x="-9144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 rot="1320000">
            <a:off x="41148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 rot="1320000">
            <a:off x="914400" y="-365760"/>
            <a:ext cx="2926080" cy="5120640"/>
          </a:xfrm>
          <a:prstGeom prst="line">
            <a:avLst/>
          </a:prstGeom>
          <a:noFill/>
          <a:ln w="12700">
            <a:solidFill>
              <a:srgbClr val="2B2A2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366760" y="0"/>
            <a:ext cx="3822192" cy="6858000"/>
          </a:xfrm>
          <a:prstGeom prst="rect">
            <a:avLst/>
          </a:prstGeom>
          <a:solidFill>
            <a:srgbClr val="F4E3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054755" y="960120"/>
            <a:ext cx="2446203" cy="2446203"/>
          </a:xfrm>
          <a:prstGeom prst="ellipse">
            <a:avLst/>
          </a:prstGeom>
          <a:solidFill>
            <a:srgbClr val="2B2A28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366760" y="6400800"/>
            <a:ext cx="3822192" cy="457200"/>
          </a:xfrm>
          <a:prstGeom prst="rect">
            <a:avLst/>
          </a:prstGeom>
          <a:solidFill>
            <a:srgbClr val="111111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595360" y="6446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685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FOUR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10515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804672" y="18745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04672" y="2660904"/>
            <a:ext cx="128016" cy="128016"/>
          </a:xfrm>
          <a:prstGeom prst="rect">
            <a:avLst/>
          </a:prstGeom>
          <a:solidFill>
            <a:srgbClr val="E8CE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097280" y="260604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holds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04672" y="3502152"/>
            <a:ext cx="128016" cy="128016"/>
          </a:xfrm>
          <a:prstGeom prst="rect">
            <a:avLst/>
          </a:prstGeom>
          <a:solidFill>
            <a:srgbClr val="E8CE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097280" y="3447288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layer is proven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04672" y="4343400"/>
            <a:ext cx="128016" cy="128016"/>
          </a:xfrm>
          <a:prstGeom prst="rect">
            <a:avLst/>
          </a:prstGeom>
          <a:solidFill>
            <a:srgbClr val="E8CE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097280" y="4288536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is tested, not assumed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04672" y="5184648"/>
            <a:ext cx="128016" cy="128016"/>
          </a:xfrm>
          <a:prstGeom prst="rect">
            <a:avLst/>
          </a:prstGeom>
          <a:solidFill>
            <a:srgbClr val="E8CE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097280" y="5129784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tells the truth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04672" y="5806440"/>
            <a:ext cx="7040880" cy="0"/>
          </a:xfrm>
          <a:prstGeom prst="line">
            <a:avLst/>
          </a:prstGeom>
          <a:noFill/>
          <a:ln w="9525">
            <a:solidFill>
              <a:srgbClr val="D8D3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04672" y="594360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 …!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147572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686</Words>
  <Application>Microsoft Office PowerPoint</Application>
  <PresentationFormat>Custom</PresentationFormat>
  <Paragraphs>135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Muhammed Ali Moolamcode Ali Ahamed(UST,IN)</cp:lastModifiedBy>
  <cp:revision>3</cp:revision>
  <dcterms:created xsi:type="dcterms:W3CDTF">2026-07-12T12:03:48Z</dcterms:created>
  <dcterms:modified xsi:type="dcterms:W3CDTF">2026-07-12T12:55:29Z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4611190-2d31-4c92-b354-5182a5f7c128_Enabled">
    <vt:lpwstr>true</vt:lpwstr>
  </property>
  <property fmtid="{D5CDD505-2E9C-101B-9397-08002B2CF9AE}" pid="3" name="MSIP_Label_a4611190-2d31-4c92-b354-5182a5f7c128_SetDate">
    <vt:lpwstr>2026-07-12T12:53:44Z</vt:lpwstr>
  </property>
  <property fmtid="{D5CDD505-2E9C-101B-9397-08002B2CF9AE}" pid="4" name="MSIP_Label_a4611190-2d31-4c92-b354-5182a5f7c128_Method">
    <vt:lpwstr>Privileged</vt:lpwstr>
  </property>
  <property fmtid="{D5CDD505-2E9C-101B-9397-08002B2CF9AE}" pid="5" name="MSIP_Label_a4611190-2d31-4c92-b354-5182a5f7c128_Name">
    <vt:lpwstr>a4611190-2d31-4c92-b354-5182a5f7c128</vt:lpwstr>
  </property>
  <property fmtid="{D5CDD505-2E9C-101B-9397-08002B2CF9AE}" pid="6" name="MSIP_Label_a4611190-2d31-4c92-b354-5182a5f7c128_SiteId">
    <vt:lpwstr>a4431f4b-c207-4733-9530-34c08a9b2b8d</vt:lpwstr>
  </property>
  <property fmtid="{D5CDD505-2E9C-101B-9397-08002B2CF9AE}" pid="7" name="MSIP_Label_a4611190-2d31-4c92-b354-5182a5f7c128_ActionId">
    <vt:lpwstr>40a07815-c87d-4b43-98f2-f721332ca54b</vt:lpwstr>
  </property>
  <property fmtid="{D5CDD505-2E9C-101B-9397-08002B2CF9AE}" pid="8" name="MSIP_Label_a4611190-2d31-4c92-b354-5182a5f7c128_ContentBits">
    <vt:lpwstr>0</vt:lpwstr>
  </property>
  <property fmtid="{D5CDD505-2E9C-101B-9397-08002B2CF9AE}" pid="9" name="MSIP_Label_a4611190-2d31-4c92-b354-5182a5f7c128_Tag">
    <vt:lpwstr>10, 0, 1, 1</vt:lpwstr>
  </property>
</Properties>
</file>