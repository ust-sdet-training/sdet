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2" r:id="rId17"/>
    <p:sldId id="273" r:id="rId18"/>
    <p:sldId id="274" r:id="rId19"/>
    <p:sldId id="270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1705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9D662-B52B-0BEC-2359-FDD6427EC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7BF956-725E-50AA-368F-43D218452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AD7018-600E-B5C9-E4C4-BF60C8C59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AE7CB-EECB-F64C-6A63-74C08E7475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365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CF172-8C77-017B-3806-888E552FE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A15426-63AA-1E6F-3E5B-F40271A95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184DB2-76D1-679A-4E85-9474CA2AA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55AA2-4D18-55F0-4A0B-19DF348AA5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4942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0DFA3-7D8B-BACE-C7BC-3D74BF6FB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43B947-78FD-AFD1-6DA9-A4C01A745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C5D86A-8A68-FD8A-61AE-F813B4FBA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5D5CB-3D78-58DE-144D-132657DE78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8427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CDD23-B08C-F399-B5B8-18F67101B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A2665B-C6AF-C6AB-A28A-ED500D7EF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4A62B1-82D8-A614-D1E1-8DC9EF028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EF2FF-4799-F93C-102A-32DAFF2C52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5427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869680" y="-2194560"/>
            <a:ext cx="5943600" cy="59436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232C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68580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6858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6 · BENCHMARK 4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Pre-Capstone Automation Review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94360" y="306324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Framework — Structure, Dynamic XPath &amp; Secret-Safe Test Data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1792" y="3977640"/>
            <a:ext cx="2926080" cy="0"/>
          </a:xfrm>
          <a:prstGeom prst="line">
            <a:avLst/>
          </a:prstGeom>
          <a:noFill/>
          <a:ln w="12700">
            <a:solidFill>
              <a:srgbClr val="3A43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4160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· Cucumber 7 / JUnit 5 · REST Assured · Selenide · Testcontainers · PostgreSQL · Gradle · Allure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 Singh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309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Day 6 · Project-Team Reference</a:t>
            </a:r>
            <a:endParaRPr lang="en-US" sz="1100" dirty="0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320040"/>
          </a:xfrm>
          <a:prstGeom prst="rect">
            <a:avLst/>
          </a:prstGeom>
          <a:solidFill>
            <a:srgbClr val="1B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I'll Walk Through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demonstration structure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4F6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49808" y="183794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808" y="231343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Under Test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67919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— API + Web UI + PostgreSQL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4F6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90288" y="183794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90288" y="231343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Structure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90288" y="267919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reviewed first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16916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4F6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430768" y="183794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430768" y="231343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XPath Locators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30768" y="267919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templated locator class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4F6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9808" y="357530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49808" y="405079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Scenarios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9808" y="441655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API, DB &amp; security layers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0" y="342900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4F6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90288" y="357530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90288" y="405079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Data Handling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90288" y="441655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 repo, logs, or on screen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0" y="342900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4F6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430768" y="357530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430768" y="405079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Reporting &amp; Live Demo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430768" y="441655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categories, redaction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Automation · Week 6 Pre-Capstone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2000" cy="320040"/>
          </a:xfrm>
          <a:prstGeom prst="rect">
            <a:avLst/>
          </a:prstGeom>
          <a:solidFill>
            <a:srgbClr val="1B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Under Test — “ShopKart”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e-commerce checkout service — REST API + Web UI, backed by PostgreSQL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317296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pages, driven via dynamic XPath ($x())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70832" y="169164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26864" y="194767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26864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26864" y="256032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26864" y="290779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http://localhost:8080/api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26864" y="317296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responses, Bearer-token auth on cart/order routes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93024" y="169164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449056" y="194767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449056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49056" y="256032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49056" y="290779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postgres://localhost:5432/shopkart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49056" y="317296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never touch this directly — Testcontainers gives each class its own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1605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· products · carts · cart_items · orders  —  money stored in paise (₹499.00 = 49900)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logins &amp; products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074920"/>
          <a:ext cx="10789920" cy="12344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SKUs (price → stock)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alice@shopkart.test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SKU-BAG → ₹499 · 10   |   SKU-PEN → ₹99 · 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bob@shopkart.test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SKU-MUG → ₹249 · 3   |   SKU-CAP → ₹399 · 0 (out of stock)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carol@shopkart.test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SKU-TEE → ₹599 · 25   |   SKU-KEY → ₹149 · 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Automation · Week 6 Pre-Capstone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2000" cy="320040"/>
          </a:xfrm>
          <a:prstGeom prst="rect">
            <a:avLst/>
          </a:prstGeom>
          <a:solidFill>
            <a:srgbClr val="1B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 Stack — Week 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automation stack carries into the Week-7 capstone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607040" cy="530352"/>
          </a:xfrm>
          <a:prstGeom prst="rect">
            <a:avLst/>
          </a:prstGeom>
          <a:solidFill>
            <a:srgbClr val="232C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/ runtime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840480" y="1691640"/>
            <a:ext cx="7086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21 (LTS)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95144"/>
            <a:ext cx="10607040" cy="5303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229514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/ runner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0" y="2295144"/>
            <a:ext cx="7086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Cucumber 7 · JUnit Platform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10607040" cy="530352"/>
          </a:xfrm>
          <a:prstGeom prst="rect">
            <a:avLst/>
          </a:prstGeom>
          <a:solidFill>
            <a:srgbClr val="232C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" y="2898648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840480" y="2898648"/>
            <a:ext cx="7086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 Assured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02152"/>
            <a:ext cx="10607040" cy="5303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3502152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testing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840480" y="3502152"/>
            <a:ext cx="7086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Selenide (dynamic XPath via $x())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05656"/>
            <a:ext cx="10607040" cy="530352"/>
          </a:xfrm>
          <a:prstGeom prst="rect">
            <a:avLst/>
          </a:prstGeom>
          <a:solidFill>
            <a:srgbClr val="232C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4105656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isolation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840480" y="4105656"/>
            <a:ext cx="7086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Testcontainers 2 · PostgreSQL · Flyway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0607040" cy="5303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77240" y="470916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0" y="4709160"/>
            <a:ext cx="7086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Gradle (primary) · Maven (variant)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312664"/>
            <a:ext cx="10607040" cy="530352"/>
          </a:xfrm>
          <a:prstGeom prst="rect">
            <a:avLst/>
          </a:prstGeom>
          <a:solidFill>
            <a:srgbClr val="232C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77240" y="531266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840480" y="5312664"/>
            <a:ext cx="7086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Allure — history, categories, exec view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Automation · Week 6 Pre-Capstone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2000" cy="320040"/>
          </a:xfrm>
          <a:prstGeom prst="rect">
            <a:avLst/>
          </a:prstGeom>
          <a:solidFill>
            <a:srgbClr val="1B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Structure — Scored First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layering, as implemented in com.shopkart — matches the reviewer's first checkpoint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39112"/>
            <a:ext cx="2084832" cy="4178808"/>
          </a:xfrm>
          <a:prstGeom prst="roundRect">
            <a:avLst>
              <a:gd name="adj" fmla="val 2632"/>
            </a:avLst>
          </a:prstGeom>
          <a:solidFill>
            <a:srgbClr val="F4F6FC"/>
          </a:solidFill>
          <a:ln w="9525">
            <a:solidFill>
              <a:srgbClr val="E0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76656" y="2194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AuthClient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" y="27980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BaseApi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6656" y="34015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CartClient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6656" y="40050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OrderAssertions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76656" y="460857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OrderClient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6656" y="52120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ProductClient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79776" y="150876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79776" y="15087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79776" y="2039112"/>
            <a:ext cx="2084832" cy="4178808"/>
          </a:xfrm>
          <a:prstGeom prst="roundRect">
            <a:avLst>
              <a:gd name="adj" fmla="val 2632"/>
            </a:avLst>
          </a:prstGeom>
          <a:solidFill>
            <a:srgbClr val="F4F6FC"/>
          </a:solidFill>
          <a:ln w="9525">
            <a:solidFill>
              <a:srgbClr val="E0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907792" y="2194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AppConfig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07792" y="27980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10912" y="150876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10912" y="15087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10912" y="2039112"/>
            <a:ext cx="2084832" cy="4178808"/>
          </a:xfrm>
          <a:prstGeom prst="roundRect">
            <a:avLst>
              <a:gd name="adj" fmla="val 2632"/>
            </a:avLst>
          </a:prstGeom>
          <a:solidFill>
            <a:srgbClr val="F4F6FC"/>
          </a:solidFill>
          <a:ln w="9525">
            <a:solidFill>
              <a:srgbClr val="E0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138928" y="2194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builders/ CartBuilder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38928" y="27980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builders/ CustomerBuilder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38928" y="34015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builders/ OrderBuilder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38928" y="40050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db/ DatabaseHelper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38928" y="460857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db/ FlywaySupport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38928" y="52120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db/ MySqlSupport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38928" y="581558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secret/ Secrets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42048" y="150876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242048" y="15087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242048" y="2039112"/>
            <a:ext cx="2084832" cy="4178808"/>
          </a:xfrm>
          <a:prstGeom prst="roundRect">
            <a:avLst>
              <a:gd name="adj" fmla="val 2632"/>
            </a:avLst>
          </a:prstGeom>
          <a:solidFill>
            <a:srgbClr val="F4F6FC"/>
          </a:solidFill>
          <a:ln w="9525">
            <a:solidFill>
              <a:srgbClr val="E0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370064" y="2194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components/ Header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70064" y="27980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components/ ProductCard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70064" y="34015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locators/ Xp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70064" y="40050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pages/ CartPage · CheckoutPage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70064" y="460857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pages/ HomePage · LoginPage · OrderPage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473184" y="150876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9473184" y="15087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· runner · stepdefs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473184" y="2039112"/>
            <a:ext cx="2084832" cy="4178808"/>
          </a:xfrm>
          <a:prstGeom prst="roundRect">
            <a:avLst>
              <a:gd name="adj" fmla="val 2632"/>
            </a:avLst>
          </a:prstGeom>
          <a:solidFill>
            <a:srgbClr val="F4F6FC"/>
          </a:solidFill>
          <a:ln w="9525">
            <a:solidFill>
              <a:srgbClr val="E0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9601200" y="2194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BaseApiTest · BaseUiTest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601200" y="27980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DriverFactory · Hooks · WorldContext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601200" y="34015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runner/ TestRunner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601200" y="40050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stepdefs/ 9 step classes (thin glue)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Automation · Week 6 Pre-Capstone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2000" cy="320040"/>
          </a:xfrm>
          <a:prstGeom prst="rect">
            <a:avLst/>
          </a:prstGeom>
          <a:solidFill>
            <a:srgbClr val="1B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4572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XPath — The Locator Standard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Relative, attribute/text-anchored, parameterized — one class, no absolute or index paths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89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final class Xp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final String PRODUCT =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"//div[contains(@class,'product')][.//*[normalize-space()='%s']]";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final String ADD_TO_CART = PRODUCT + "//button[normalize-space()='Add to cart']";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SelenideElement product(String name)   { return $x(String.format(PRODUCT, name)); 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SelenideElement addToCart(String name) { return $x(String.format(ADD_TO_CART, name)); 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89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365760" cy="365760"/>
          </a:xfrm>
          <a:prstGeom prst="ellipse">
            <a:avLst/>
          </a:prstGeom>
          <a:solidFill>
            <a:srgbClr val="1FA9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1097280" y="4133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&amp; anchored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44531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stable attributes or visible text — never brittle absolute paths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873752"/>
            <a:ext cx="365760" cy="365760"/>
          </a:xfrm>
          <a:prstGeom prst="ellipse">
            <a:avLst/>
          </a:prstGeom>
          <a:solidFill>
            <a:srgbClr val="1FA9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4873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1097280" y="4846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51663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expression (%s) reused across every product/cart row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586984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5586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1097280" y="5559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 to avoid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587959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or index-based paths (//div[3]/span[2]) — the project's explicit anti-pattern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Automation · Week 6 Pre-Capstone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2000" cy="320040"/>
          </a:xfrm>
          <a:prstGeom prst="rect">
            <a:avLst/>
          </a:prstGeom>
          <a:solidFill>
            <a:srgbClr val="1B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55B8F6-3026-DB12-D2AE-CEB5A2661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2D9282-B7A6-7BF1-727B-885B9F4063DA}"/>
              </a:ext>
            </a:extLst>
          </p:cNvPr>
          <p:cNvSpPr/>
          <p:nvPr/>
        </p:nvSpPr>
        <p:spPr>
          <a:xfrm>
            <a:off x="548640" y="4572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70C0"/>
                </a:solidFill>
              </a:rPr>
              <a:t>Folder Structure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924C910-6541-8A6B-BFD2-0DAD9A03CFEF}"/>
              </a:ext>
            </a:extLst>
          </p:cNvPr>
          <p:cNvSpPr/>
          <p:nvPr/>
        </p:nvSpPr>
        <p:spPr>
          <a:xfrm>
            <a:off x="548640" y="1033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</a:t>
            </a:r>
            <a:endParaRPr lang="en-US" sz="12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567DEDC-8513-032B-C6C9-DB3E7BA4963A}"/>
              </a:ext>
            </a:extLst>
          </p:cNvPr>
          <p:cNvSpPr/>
          <p:nvPr/>
        </p:nvSpPr>
        <p:spPr>
          <a:xfrm>
            <a:off x="822960" y="17830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8645D63-EEC8-31F8-5C4A-BE1D72751519}"/>
              </a:ext>
            </a:extLst>
          </p:cNvPr>
          <p:cNvSpPr/>
          <p:nvPr/>
        </p:nvSpPr>
        <p:spPr>
          <a:xfrm>
            <a:off x="54864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5D3050F-2A8F-8D87-FD9A-DBE2577E434F}"/>
              </a:ext>
            </a:extLst>
          </p:cNvPr>
          <p:cNvSpPr/>
          <p:nvPr/>
        </p:nvSpPr>
        <p:spPr>
          <a:xfrm>
            <a:off x="1097280" y="4133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B6B50C8-7FC3-CF88-A440-29A3524F3F8E}"/>
              </a:ext>
            </a:extLst>
          </p:cNvPr>
          <p:cNvSpPr/>
          <p:nvPr/>
        </p:nvSpPr>
        <p:spPr>
          <a:xfrm>
            <a:off x="1097280" y="44531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66A8B27-F2A2-8191-0016-4C70A8DAD631}"/>
              </a:ext>
            </a:extLst>
          </p:cNvPr>
          <p:cNvSpPr/>
          <p:nvPr/>
        </p:nvSpPr>
        <p:spPr>
          <a:xfrm>
            <a:off x="548640" y="4873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BD51430-89FF-7231-22EF-7C9AEB794FD5}"/>
              </a:ext>
            </a:extLst>
          </p:cNvPr>
          <p:cNvSpPr/>
          <p:nvPr/>
        </p:nvSpPr>
        <p:spPr>
          <a:xfrm>
            <a:off x="1097280" y="4846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58F0C3F-3BB4-1D61-442D-D829FE501889}"/>
              </a:ext>
            </a:extLst>
          </p:cNvPr>
          <p:cNvSpPr/>
          <p:nvPr/>
        </p:nvSpPr>
        <p:spPr>
          <a:xfrm>
            <a:off x="1097280" y="51663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DFA3917-B752-4230-3317-868CA8E96448}"/>
              </a:ext>
            </a:extLst>
          </p:cNvPr>
          <p:cNvSpPr/>
          <p:nvPr/>
        </p:nvSpPr>
        <p:spPr>
          <a:xfrm>
            <a:off x="548640" y="5586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4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6F9A4F9-491B-CB04-EEC1-5CB61B010D97}"/>
              </a:ext>
            </a:extLst>
          </p:cNvPr>
          <p:cNvSpPr/>
          <p:nvPr/>
        </p:nvSpPr>
        <p:spPr>
          <a:xfrm>
            <a:off x="1097280" y="5559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4D6C1CD-7188-206F-0012-811CF1E5A6A0}"/>
              </a:ext>
            </a:extLst>
          </p:cNvPr>
          <p:cNvSpPr/>
          <p:nvPr/>
        </p:nvSpPr>
        <p:spPr>
          <a:xfrm>
            <a:off x="1097280" y="587959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4A11281-690A-1E1E-7554-6D7F333DC58B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Automation · Week 6 Pre-Capstone</a:t>
            </a:r>
            <a:endParaRPr lang="en-US" sz="9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4627076-F33B-7C40-A221-530DA0BDFF7A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EC13C2-63BC-302F-9E0A-B21038D31D28}"/>
              </a:ext>
            </a:extLst>
          </p:cNvPr>
          <p:cNvSpPr/>
          <p:nvPr/>
        </p:nvSpPr>
        <p:spPr>
          <a:xfrm>
            <a:off x="0" y="0"/>
            <a:ext cx="12192000" cy="320040"/>
          </a:xfrm>
          <a:prstGeom prst="rect">
            <a:avLst/>
          </a:prstGeom>
          <a:solidFill>
            <a:srgbClr val="1B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5579073-A9CD-1B3B-D2AE-D811BEB43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004" y="1280160"/>
            <a:ext cx="5875439" cy="5136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3823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Scenarios Across Every Layer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API, database and a security negative — what the gate checks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0881360" cy="3712464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returns matching products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totals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= Σ(qty × price), paise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 E2E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Login→search→add→cart→checkout→PLACED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access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200; another customer 403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 rules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PLACED→CANCELLED; again→409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of stock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qty &gt; stock → 409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push everything through the UI — automate on the layer that proves the fact.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Automation · Week 6 Pre-Capstone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320040"/>
          </a:xfrm>
          <a:prstGeom prst="rect">
            <a:avLst/>
          </a:prstGeom>
          <a:solidFill>
            <a:srgbClr val="1B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4572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Flagship E2E — One Fact, Three Layers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checkout_e2e.feature — secret-free; password resolved inside the step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92240" cy="3977640"/>
          </a:xfrm>
          <a:prstGeom prst="roundRect">
            <a:avLst>
              <a:gd name="adj" fmla="val 1839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@e2e @smoke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889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 Checkout places an order and the backend agrees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A logged-in customer checks out a two-item cart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"alice" is logged in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she adds 2 x "SKU-BAG" (49900 paise each) to her cart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she checks out with a valid address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the order confirmation shows status "PLACED"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GET /api/orders/{id} returns PLACED and totalPaise 99800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the orders table has exactly one PLACED row for alice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60920" y="16002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609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8046720" y="16184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confirmation shows PLACED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60920" y="24231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609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8046720" y="24414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/api/orders/{id} confirms the same order &amp; total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60920" y="32461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36092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8046720" y="32644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PLACED row exists for alice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60920" y="4160520"/>
            <a:ext cx="4251960" cy="0"/>
          </a:xfrm>
          <a:prstGeom prst="line">
            <a:avLst/>
          </a:prstGeom>
          <a:noFill/>
          <a:ln w="12700">
            <a:solidFill>
              <a:srgbClr val="3A43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60920" y="434340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feature names “alice” — never her password.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Automation · Week 6 Pre-Capstone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2000" cy="320040"/>
          </a:xfrm>
          <a:prstGeom prst="rect">
            <a:avLst/>
          </a:prstGeom>
          <a:solidFill>
            <a:srgbClr val="1B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4572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Security Negative — Do Not Skip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Object-level authorization: orders are visible only to their owner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675120" cy="2286000"/>
          </a:xfrm>
          <a:prstGeom prst="roundRect">
            <a:avLst>
              <a:gd name="adj" fmla="val 3200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810512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@api @negative @security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889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 Orders are visible only to their owner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Another customer cannot read someone else's order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"alice" has a PLACED order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"bob" requests GET /api/orders/{that id}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the response status is 403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52360" y="1600200"/>
            <a:ext cx="4160520" cy="2286000"/>
          </a:xfrm>
          <a:prstGeom prst="roundRect">
            <a:avLst>
              <a:gd name="adj" fmla="val 3200"/>
            </a:avLst>
          </a:prstGeom>
          <a:solidFill>
            <a:srgbClr val="FDEDEE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26680" y="1828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266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8366760" y="1810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403, never 200, never the body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26680" y="251460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 token on another customer's object must be rejected — this is the object-level authorization case the gate specifically checks.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model recap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11064240" cy="914400"/>
        </p:xfrm>
        <a:graphic>
          <a:graphicData uri="http://schemas.openxmlformats.org/drawingml/2006/table">
            <a:tbl>
              <a:tblPr/>
              <a:tblGrid>
                <a:gridCol w="59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/ invalid token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 Unauthorized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token, wrong 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 Forbidden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token, correct 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Automation · Week 6 Pre-Capstone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2000" cy="320040"/>
          </a:xfrm>
          <a:prstGeom prst="rect">
            <a:avLst/>
          </a:prstGeom>
          <a:solidFill>
            <a:srgbClr val="1B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Test-Data Strategy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the baseline, build per test, isolate every run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public data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953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Flyway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V1__schema.sql + V2__seed.sql create tables &amp; insert products / customers. Runs on every container start — identical baseline everywhere.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1188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118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per-test data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11880" y="2953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3291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CustomerBuilder · CartBuilder · OrderBuilder — never shared fixtures. A test states only what it cares about.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44652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46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46520" y="2953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Testcontainers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46520" y="3291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class gets its own throwaway Postgres — kills the “3 orders / now 5” flake.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52560" y="169164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28116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2811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81160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idempotent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281160" y="2953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container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81160" y="3291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from a clean container always gives the same result.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983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SKU-CAP has stock 0 — reserved for the out-of-stock negative (Scenario 6)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Automation · Week 6 Pre-Capstone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12192000" cy="320040"/>
          </a:xfrm>
          <a:prstGeom prst="rect">
            <a:avLst/>
          </a:prstGeom>
          <a:solidFill>
            <a:srgbClr val="1B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457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 Data — Never in the Repo, Logs, or Demo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Passwords, tokens, payment/UPI details, PII — sourced off-repo and resolved only where consumed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23560" cy="2880360"/>
          </a:xfrm>
          <a:prstGeom prst="roundRect">
            <a:avLst>
              <a:gd name="adj" fmla="val 2540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810512"/>
            <a:ext cx="5257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89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final class Secrets {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env var -&gt; CI secret store -&gt; secrets.local.properties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String get(String key) { ... }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callers MUST NOT log the return value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E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auth.login("alice@shopkart.test",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E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Secrets.get("alice.password"));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46520" y="170078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720840" y="157276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 Git — secrets.local.properties is git-ignored; commits scanned with gitleaks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46520" y="2414016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720840" y="22860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everywhere — logs, console, Allure attachments &amp; screenshots show ****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46520" y="3127248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720840" y="29992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Dedicated, rotated test accounts — never a real user's credentials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46520" y="384048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720840" y="371246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files stay secret-free — reference the persona; the step resolves it at runtime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Automation · Week 6 Pre-Capstone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2000" cy="320040"/>
          </a:xfrm>
          <a:prstGeom prst="rect">
            <a:avLst/>
          </a:prstGeom>
          <a:solidFill>
            <a:srgbClr val="1B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4572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— Allure, With Redaction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Trend, categories, executive overview — never a leaked secret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980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25856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categories.json buckets failures: Product defect (assertion), Test defect (broken locator / 500), Flaky (passed on retry).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19088" y="18928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1908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1874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225856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the previous report's history/ in CI so trend and retry widgets populate across runs.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49808" y="35387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49808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520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view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90448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glance: pass-rate trend, flaky rate, risk by area.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333756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19088" y="35387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19088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0" y="3520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Redacted attachments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390448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filter replaces Authorization headers, tokens &amp; passwords with **** before any attachment is written.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never attach a raw network log carrying a bearer token.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Automation · Week 6 Pre-Capstone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2000" cy="320040"/>
          </a:xfrm>
          <a:prstGeom prst="rect">
            <a:avLst/>
          </a:prstGeom>
          <a:solidFill>
            <a:srgbClr val="1B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ext 0"/>
          <p:cNvSpPr/>
          <p:nvPr/>
        </p:nvSpPr>
        <p:spPr>
          <a:xfrm>
            <a:off x="548640" y="411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The 10-Minute Demo — Rehearsed Sequence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Against a clean container — the gate scores what is shown and explained live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417320" y="1874520"/>
            <a:ext cx="0" cy="4050792"/>
          </a:xfrm>
          <a:prstGeom prst="line">
            <a:avLst/>
          </a:prstGeom>
          <a:noFill/>
          <a:ln w="19050">
            <a:solidFill>
              <a:srgbClr val="3A43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207008" y="1828800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207008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1737360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0–2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173736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Framework tour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06440" y="1737360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Layers, Xp locators, builders, base classes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207008" y="254203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207008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2450592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2–4 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245059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Run the suite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806440" y="2450592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./gradlew test — Testcontainers spins Postgres, all green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207008" y="3255264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207008" y="3255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3163824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4–6 min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316382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E2E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806440" y="3163824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3, UI→API→DB — one order proven three ways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207008" y="3968496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207008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20240" y="3877056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6–8 min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17520" y="387705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806440" y="3877056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Trend, categories, a triaged flaky, executive overview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207008" y="4681728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207008" y="4681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920240" y="4590288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8–9 min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17520" y="459028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negative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806440" y="4590288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4 — another customer gets 403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207008" y="5394960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207008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920240" y="5303520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9–10 min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17520" y="530352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806440" y="5303520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honest sentence: what's solid, biggest capstone risk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Automation · Week 6 Pre-Capstone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12192000" cy="320040"/>
          </a:xfrm>
          <a:prstGeom prst="rect">
            <a:avLst/>
          </a:prstGeom>
          <a:solidFill>
            <a:srgbClr val="1B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Evidence Checklist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I'm bringing to Gate 6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FA9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6002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suite run from a cold start (Testcontainers, no local DB)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FA9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17920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16002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structure matching the standard, Xp locator class, thin steps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FA9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1671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 with history (≥3 runs), categories, environment — no secrets in attachments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21284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FA9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17920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21671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test matrix across all six scenarios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7977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FA9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73405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Data-isolation proof — run twice, identical results, no leftover rows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77977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FA9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1792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273405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handling proof — nothing in repo/features, Secrets resolver in use, clean gitleaks scan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FA9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3346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30098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negative (403) passing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FA9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17920" y="3346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29400" y="330098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rehearsed demo, recording verified secret-free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Automation · Week 6 Pre-Capstone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2000" cy="320040"/>
          </a:xfrm>
          <a:prstGeom prst="rect">
            <a:avLst/>
          </a:prstGeom>
          <a:solidFill>
            <a:srgbClr val="1B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9BEC9F-B357-6C78-3D32-89E597470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691096B0-FEBA-8F0B-B09A-040A05035EBD}"/>
              </a:ext>
            </a:extLst>
          </p:cNvPr>
          <p:cNvSpPr/>
          <p:nvPr/>
        </p:nvSpPr>
        <p:spPr>
          <a:xfrm>
            <a:off x="548640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310E5D8-26BE-F358-F1BC-C8EC6F6B6F15}"/>
              </a:ext>
            </a:extLst>
          </p:cNvPr>
          <p:cNvSpPr/>
          <p:nvPr/>
        </p:nvSpPr>
        <p:spPr>
          <a:xfrm>
            <a:off x="6217920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1C59D64-EFAD-1CC2-4DB2-5E50FCA43F81}"/>
              </a:ext>
            </a:extLst>
          </p:cNvPr>
          <p:cNvSpPr/>
          <p:nvPr/>
        </p:nvSpPr>
        <p:spPr>
          <a:xfrm>
            <a:off x="6629400" y="16002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81060E9-3F55-640B-6C5F-9D5EB1319E66}"/>
              </a:ext>
            </a:extLst>
          </p:cNvPr>
          <p:cNvSpPr/>
          <p:nvPr/>
        </p:nvSpPr>
        <p:spPr>
          <a:xfrm>
            <a:off x="548640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011B2A1-0382-2775-9614-E9F33C77397C}"/>
              </a:ext>
            </a:extLst>
          </p:cNvPr>
          <p:cNvSpPr/>
          <p:nvPr/>
        </p:nvSpPr>
        <p:spPr>
          <a:xfrm>
            <a:off x="960120" y="21671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D5CCF1E-A313-1300-D5E8-CCBB7909AAEA}"/>
              </a:ext>
            </a:extLst>
          </p:cNvPr>
          <p:cNvSpPr/>
          <p:nvPr/>
        </p:nvSpPr>
        <p:spPr>
          <a:xfrm>
            <a:off x="6217920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410B93F-48CD-DC11-3AD8-AAE73A0F6847}"/>
              </a:ext>
            </a:extLst>
          </p:cNvPr>
          <p:cNvSpPr/>
          <p:nvPr/>
        </p:nvSpPr>
        <p:spPr>
          <a:xfrm>
            <a:off x="6629400" y="21671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EDD6836-7754-FEA9-1379-CF1296D12C4D}"/>
              </a:ext>
            </a:extLst>
          </p:cNvPr>
          <p:cNvSpPr/>
          <p:nvPr/>
        </p:nvSpPr>
        <p:spPr>
          <a:xfrm>
            <a:off x="54864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3A013AF-08B3-8425-A976-8E5A727FDB68}"/>
              </a:ext>
            </a:extLst>
          </p:cNvPr>
          <p:cNvSpPr/>
          <p:nvPr/>
        </p:nvSpPr>
        <p:spPr>
          <a:xfrm>
            <a:off x="960120" y="273405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D1C1005-C88A-FEBD-2F53-DC620E3FB8CF}"/>
              </a:ext>
            </a:extLst>
          </p:cNvPr>
          <p:cNvSpPr/>
          <p:nvPr/>
        </p:nvSpPr>
        <p:spPr>
          <a:xfrm>
            <a:off x="621792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1759A18-BD63-069C-FCE3-8363CAA82DA0}"/>
              </a:ext>
            </a:extLst>
          </p:cNvPr>
          <p:cNvSpPr/>
          <p:nvPr/>
        </p:nvSpPr>
        <p:spPr>
          <a:xfrm>
            <a:off x="6629400" y="273405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CA1F406-DC86-6E9D-5649-11BED59BA5E8}"/>
              </a:ext>
            </a:extLst>
          </p:cNvPr>
          <p:cNvSpPr/>
          <p:nvPr/>
        </p:nvSpPr>
        <p:spPr>
          <a:xfrm>
            <a:off x="548640" y="3346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392A98C-B498-7B1A-607C-3FF3DCF77A39}"/>
              </a:ext>
            </a:extLst>
          </p:cNvPr>
          <p:cNvSpPr/>
          <p:nvPr/>
        </p:nvSpPr>
        <p:spPr>
          <a:xfrm>
            <a:off x="960120" y="330098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BCE7B5B-2D68-A92F-16E4-D0D8B349E1D7}"/>
              </a:ext>
            </a:extLst>
          </p:cNvPr>
          <p:cNvSpPr/>
          <p:nvPr/>
        </p:nvSpPr>
        <p:spPr>
          <a:xfrm>
            <a:off x="6217920" y="3346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AB90056-7B6D-997C-5583-EB4ABDEA5585}"/>
              </a:ext>
            </a:extLst>
          </p:cNvPr>
          <p:cNvSpPr/>
          <p:nvPr/>
        </p:nvSpPr>
        <p:spPr>
          <a:xfrm>
            <a:off x="6629400" y="330098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F43AF6A-12E1-DBFC-C198-C728976643DC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9BD81CE-24C5-D23C-F6BB-73AF29EFEED6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2F91F61-366F-EE50-78D3-361A78365706}"/>
              </a:ext>
            </a:extLst>
          </p:cNvPr>
          <p:cNvSpPr/>
          <p:nvPr/>
        </p:nvSpPr>
        <p:spPr>
          <a:xfrm>
            <a:off x="0" y="0"/>
            <a:ext cx="12192000" cy="320040"/>
          </a:xfrm>
          <a:prstGeom prst="rect">
            <a:avLst/>
          </a:prstGeom>
          <a:solidFill>
            <a:srgbClr val="1B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0EC540D-E381-6A92-3279-F4972B8A2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9750"/>
            <a:ext cx="12192000" cy="577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4850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CAE94F-0E76-909E-E845-C52E1F6A1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ECD611A2-72F8-175D-C69A-68AC6DC1F20C}"/>
              </a:ext>
            </a:extLst>
          </p:cNvPr>
          <p:cNvSpPr/>
          <p:nvPr/>
        </p:nvSpPr>
        <p:spPr>
          <a:xfrm>
            <a:off x="548640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9113548-D30E-ECCA-B1D4-FC451211BEA2}"/>
              </a:ext>
            </a:extLst>
          </p:cNvPr>
          <p:cNvSpPr/>
          <p:nvPr/>
        </p:nvSpPr>
        <p:spPr>
          <a:xfrm>
            <a:off x="6217920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37AF21F-6642-EFE0-A8E2-FB879A608EE2}"/>
              </a:ext>
            </a:extLst>
          </p:cNvPr>
          <p:cNvSpPr/>
          <p:nvPr/>
        </p:nvSpPr>
        <p:spPr>
          <a:xfrm>
            <a:off x="6629400" y="16002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9CE0A4C-87BF-6B2C-4F8D-3E6412363952}"/>
              </a:ext>
            </a:extLst>
          </p:cNvPr>
          <p:cNvSpPr/>
          <p:nvPr/>
        </p:nvSpPr>
        <p:spPr>
          <a:xfrm>
            <a:off x="548640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EB01C6E-B25C-B1D8-C2B3-3ED71C49837B}"/>
              </a:ext>
            </a:extLst>
          </p:cNvPr>
          <p:cNvSpPr/>
          <p:nvPr/>
        </p:nvSpPr>
        <p:spPr>
          <a:xfrm>
            <a:off x="960120" y="21671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8067A07-1CC6-12AE-1868-F096E4D7E0EB}"/>
              </a:ext>
            </a:extLst>
          </p:cNvPr>
          <p:cNvSpPr/>
          <p:nvPr/>
        </p:nvSpPr>
        <p:spPr>
          <a:xfrm>
            <a:off x="6217920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6707465-08E5-FFCB-6DDB-CC22CCD27E41}"/>
              </a:ext>
            </a:extLst>
          </p:cNvPr>
          <p:cNvSpPr/>
          <p:nvPr/>
        </p:nvSpPr>
        <p:spPr>
          <a:xfrm>
            <a:off x="6629400" y="21671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921F751-BE05-01FE-E4F5-0081A715CCBE}"/>
              </a:ext>
            </a:extLst>
          </p:cNvPr>
          <p:cNvSpPr/>
          <p:nvPr/>
        </p:nvSpPr>
        <p:spPr>
          <a:xfrm>
            <a:off x="54864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ACB4659-34CE-5466-2D6A-56BFF34235E6}"/>
              </a:ext>
            </a:extLst>
          </p:cNvPr>
          <p:cNvSpPr/>
          <p:nvPr/>
        </p:nvSpPr>
        <p:spPr>
          <a:xfrm>
            <a:off x="960120" y="273405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0E80667-99EB-E635-1FAD-66DD25F6349D}"/>
              </a:ext>
            </a:extLst>
          </p:cNvPr>
          <p:cNvSpPr/>
          <p:nvPr/>
        </p:nvSpPr>
        <p:spPr>
          <a:xfrm>
            <a:off x="621792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63DE74E-E238-0D08-AA81-3BA2117A68B9}"/>
              </a:ext>
            </a:extLst>
          </p:cNvPr>
          <p:cNvSpPr/>
          <p:nvPr/>
        </p:nvSpPr>
        <p:spPr>
          <a:xfrm>
            <a:off x="6629400" y="273405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4D1E79B-6384-A913-5265-68C040B1B546}"/>
              </a:ext>
            </a:extLst>
          </p:cNvPr>
          <p:cNvSpPr/>
          <p:nvPr/>
        </p:nvSpPr>
        <p:spPr>
          <a:xfrm>
            <a:off x="548640" y="3346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F3BBB9D-F17A-A333-6900-244C4ED43CB5}"/>
              </a:ext>
            </a:extLst>
          </p:cNvPr>
          <p:cNvSpPr/>
          <p:nvPr/>
        </p:nvSpPr>
        <p:spPr>
          <a:xfrm>
            <a:off x="960120" y="330098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23715EB-8712-57AE-3816-957B845150A5}"/>
              </a:ext>
            </a:extLst>
          </p:cNvPr>
          <p:cNvSpPr/>
          <p:nvPr/>
        </p:nvSpPr>
        <p:spPr>
          <a:xfrm>
            <a:off x="6217920" y="3346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B813E88-5D67-C4B5-6EEC-0F2E8F683B4E}"/>
              </a:ext>
            </a:extLst>
          </p:cNvPr>
          <p:cNvSpPr/>
          <p:nvPr/>
        </p:nvSpPr>
        <p:spPr>
          <a:xfrm>
            <a:off x="6629400" y="330098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3392BE9-539C-612E-6B21-D44042A886DF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CD00203-56DA-3685-BA2B-579D42140ED4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49EF8E-E80A-8F1C-C905-D4BF5E0C05AD}"/>
              </a:ext>
            </a:extLst>
          </p:cNvPr>
          <p:cNvSpPr/>
          <p:nvPr/>
        </p:nvSpPr>
        <p:spPr>
          <a:xfrm>
            <a:off x="0" y="0"/>
            <a:ext cx="12192000" cy="320040"/>
          </a:xfrm>
          <a:prstGeom prst="rect">
            <a:avLst/>
          </a:prstGeom>
          <a:solidFill>
            <a:srgbClr val="1B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9F15051-E9A1-CE43-6539-66A8A5E09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189" y="715992"/>
            <a:ext cx="11110172" cy="5693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9762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12F824-64C2-06F7-D0CC-7FECC2562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5223FE31-CEA1-4C5B-A16E-1A59855F4DAE}"/>
              </a:ext>
            </a:extLst>
          </p:cNvPr>
          <p:cNvSpPr/>
          <p:nvPr/>
        </p:nvSpPr>
        <p:spPr>
          <a:xfrm>
            <a:off x="548640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E07B825-29C9-320C-015A-B5F5EBF37980}"/>
              </a:ext>
            </a:extLst>
          </p:cNvPr>
          <p:cNvSpPr/>
          <p:nvPr/>
        </p:nvSpPr>
        <p:spPr>
          <a:xfrm>
            <a:off x="6217920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A522736-4FE7-E574-611E-15A083080119}"/>
              </a:ext>
            </a:extLst>
          </p:cNvPr>
          <p:cNvSpPr/>
          <p:nvPr/>
        </p:nvSpPr>
        <p:spPr>
          <a:xfrm>
            <a:off x="6629400" y="16002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7377E9C-BC14-2208-6538-B244A565DB9A}"/>
              </a:ext>
            </a:extLst>
          </p:cNvPr>
          <p:cNvSpPr/>
          <p:nvPr/>
        </p:nvSpPr>
        <p:spPr>
          <a:xfrm>
            <a:off x="548640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20D4BA4-6782-7CE0-AA08-DB41729BB5FD}"/>
              </a:ext>
            </a:extLst>
          </p:cNvPr>
          <p:cNvSpPr/>
          <p:nvPr/>
        </p:nvSpPr>
        <p:spPr>
          <a:xfrm>
            <a:off x="960120" y="21671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AF4C00F-90CE-9A9A-2D7F-598DC25D2194}"/>
              </a:ext>
            </a:extLst>
          </p:cNvPr>
          <p:cNvSpPr/>
          <p:nvPr/>
        </p:nvSpPr>
        <p:spPr>
          <a:xfrm>
            <a:off x="6217920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6BFC125-9FFD-1F5E-0BA0-CC37B2CA3D31}"/>
              </a:ext>
            </a:extLst>
          </p:cNvPr>
          <p:cNvSpPr/>
          <p:nvPr/>
        </p:nvSpPr>
        <p:spPr>
          <a:xfrm>
            <a:off x="6629400" y="21671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B32ACA7-C70A-60BA-D780-D6758E5A91AD}"/>
              </a:ext>
            </a:extLst>
          </p:cNvPr>
          <p:cNvSpPr/>
          <p:nvPr/>
        </p:nvSpPr>
        <p:spPr>
          <a:xfrm>
            <a:off x="54864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C39BED0-43DF-9972-A56D-E211A4D812CA}"/>
              </a:ext>
            </a:extLst>
          </p:cNvPr>
          <p:cNvSpPr/>
          <p:nvPr/>
        </p:nvSpPr>
        <p:spPr>
          <a:xfrm>
            <a:off x="960120" y="273405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A47DECD-E490-1C4E-1729-CCFD32718077}"/>
              </a:ext>
            </a:extLst>
          </p:cNvPr>
          <p:cNvSpPr/>
          <p:nvPr/>
        </p:nvSpPr>
        <p:spPr>
          <a:xfrm>
            <a:off x="621792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3797774-4313-9A9A-038A-2551CC7D5BDC}"/>
              </a:ext>
            </a:extLst>
          </p:cNvPr>
          <p:cNvSpPr/>
          <p:nvPr/>
        </p:nvSpPr>
        <p:spPr>
          <a:xfrm>
            <a:off x="6629400" y="273405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A99B3BC-5E86-E3F3-28ED-A0CE6A2A5B10}"/>
              </a:ext>
            </a:extLst>
          </p:cNvPr>
          <p:cNvSpPr/>
          <p:nvPr/>
        </p:nvSpPr>
        <p:spPr>
          <a:xfrm>
            <a:off x="548640" y="3346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33488C4-C298-69ED-9202-402E7DAEA065}"/>
              </a:ext>
            </a:extLst>
          </p:cNvPr>
          <p:cNvSpPr/>
          <p:nvPr/>
        </p:nvSpPr>
        <p:spPr>
          <a:xfrm>
            <a:off x="960120" y="330098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227F367-1229-40D3-2B97-6464636167F9}"/>
              </a:ext>
            </a:extLst>
          </p:cNvPr>
          <p:cNvSpPr/>
          <p:nvPr/>
        </p:nvSpPr>
        <p:spPr>
          <a:xfrm>
            <a:off x="6217920" y="3346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09CEA82-573B-6F7D-B42C-63AAC1076BAA}"/>
              </a:ext>
            </a:extLst>
          </p:cNvPr>
          <p:cNvSpPr/>
          <p:nvPr/>
        </p:nvSpPr>
        <p:spPr>
          <a:xfrm>
            <a:off x="6629400" y="330098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A87267E-371C-0A77-42C3-F47AB941AF76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F8C3085-339E-7CB8-E85E-0DE592B28E62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02D7F8-6AE3-3BD6-28C4-639B22DD2728}"/>
              </a:ext>
            </a:extLst>
          </p:cNvPr>
          <p:cNvSpPr/>
          <p:nvPr/>
        </p:nvSpPr>
        <p:spPr>
          <a:xfrm>
            <a:off x="0" y="0"/>
            <a:ext cx="12192000" cy="320040"/>
          </a:xfrm>
          <a:prstGeom prst="rect">
            <a:avLst/>
          </a:prstGeom>
          <a:solidFill>
            <a:srgbClr val="1B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A762226-6F3C-D58A-D0D3-A0B3414C1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210" y="785004"/>
            <a:ext cx="11051975" cy="537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9427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3840480"/>
            <a:ext cx="5029200" cy="5029200"/>
          </a:xfrm>
          <a:prstGeom prst="ellipse">
            <a:avLst/>
          </a:prstGeom>
          <a:solidFill>
            <a:srgbClr val="232C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What's Solid — and the Biggest Capstone Risk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locators, and secret handling are gate-ready. Watching Allure history continuity and DB-isolation timing heading into Week 7.</a:t>
            </a:r>
            <a:endParaRPr lang="en-US" sz="1500" b="1" dirty="0"/>
          </a:p>
        </p:txBody>
      </p:sp>
      <p:sp>
        <p:nvSpPr>
          <p:cNvPr id="6" name="Shape 4"/>
          <p:cNvSpPr/>
          <p:nvPr/>
        </p:nvSpPr>
        <p:spPr>
          <a:xfrm>
            <a:off x="658368" y="3977640"/>
            <a:ext cx="2926080" cy="0"/>
          </a:xfrm>
          <a:prstGeom prst="line">
            <a:avLst/>
          </a:prstGeom>
          <a:noFill/>
          <a:ln w="12700">
            <a:solidFill>
              <a:srgbClr val="3A43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320040"/>
          </a:xfrm>
          <a:prstGeom prst="rect">
            <a:avLst/>
          </a:prstGeom>
          <a:solidFill>
            <a:srgbClr val="1B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1874</Words>
  <Application>Microsoft Office PowerPoint</Application>
  <PresentationFormat>Widescreen</PresentationFormat>
  <Paragraphs>367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Yashaswini Chandrashekharaih(UST,IN)</cp:lastModifiedBy>
  <cp:revision>2</cp:revision>
  <dcterms:created xsi:type="dcterms:W3CDTF">2026-07-12T12:12:30Z</dcterms:created>
  <dcterms:modified xsi:type="dcterms:W3CDTF">2026-07-12T13:03:07Z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2026-07-12T12:34:37Z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31eac021-cc43-48c2-8441-99d4ba917c33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