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1"/>
  </p:sldMasterIdLst>
  <p:notesMasterIdLst>
    <p:notesMasterId r:id="rId14"/>
  </p:notesMasterIdLst>
  <p:sldIdLst>
    <p:sldId id="256" r:id="rId2"/>
    <p:sldId id="257" r:id="rId3"/>
    <p:sldId id="268" r:id="rId4"/>
    <p:sldId id="258" r:id="rId5"/>
    <p:sldId id="259" r:id="rId6"/>
    <p:sldId id="266" r:id="rId7"/>
    <p:sldId id="267" r:id="rId8"/>
    <p:sldId id="260" r:id="rId9"/>
    <p:sldId id="261" r:id="rId10"/>
    <p:sldId id="263" r:id="rId11"/>
    <p:sldId id="264" r:id="rId12"/>
    <p:sldId id="265" r:id="rId13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36" y="9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836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ACCDB-5D15-A335-461E-7F495FF8C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E3946-A689-A6D1-FF91-62E863B94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8E46F-C788-E805-8849-D419919B1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6EE87-EBD5-4F12-A48A-63ACA297AC8F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D5C72-0E3B-F56A-0DE6-2CB4E671A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B0D90-3CFB-2DC5-DEC7-5153458E5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76914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4CDFF-A172-F015-627F-2636B50BA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42114-98A5-BB0F-C1C6-2B80CBB09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4211A-27B2-C498-B440-D411B1369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2AFD8-AAB6-392F-2CA3-EAF7BC8CF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83F1-8EE5-0B65-BCCC-84EB80247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56886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D1B70-994E-F82D-0E36-69B83EED2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FE284C-8B98-22EC-3FC7-521405C8D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4EDC95-A49C-74FE-A200-2D3554420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45413-EC54-9845-C465-18A10A986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3B98D-A4D1-8DD8-7473-8CB05CEA0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0200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7109-C862-D3D0-2B88-44C586DC0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0ADE2-0C73-05C5-D754-A4D7A21DC0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F84304-9DEF-91D3-619F-EA38325612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28A868-1D33-29D1-2F55-48D84ED0B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1CF9E0-44E4-13E8-30EE-886C9B6EB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053F3E-9136-E445-98F3-83BD0C6EE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002815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F23A-8972-4EA1-D4C3-2F499A888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C753EA-AF2C-F282-938C-7D74EFB84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2F09B3-EC50-98FE-2C88-A945DAE00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5E2271-07E5-825B-E1A7-A2736E73DE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A7DA2C-3157-69C2-EF25-DF276F7FA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49F9FD-40DF-5DF3-9F82-6687BC74D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EFF657-2220-3FE8-17A0-6AD9DE56B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641648-C6AA-7BFC-4B94-37D0BA74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05956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F6FF-CBC9-56E1-CEB9-8F241EEC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5CD9B-8067-7936-65EB-034EA194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BA6A2B-1FAB-AF06-ECE6-E75E1A6BA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6C531F-C338-BBF8-C61B-1E8837E27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125572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1F2B39-9BCE-2467-1C8D-2A6DA3330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014D0-6063-1CF2-E687-08FBAEE67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2023E-AD25-1620-47C6-8E05DCDB5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378657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F4C51-A97D-C7C8-1F65-86372EE45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E152D-E284-54D6-9FF6-84C4B75FB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0E5E11-D0A9-0C3A-9B56-E08E61BBE5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2FDCDB-549F-6BB0-74C2-00E859E52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1505C-53A6-1F31-0906-E8D61FE16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E18C9-3054-9254-FC92-1608984EA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9672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1A0AD-C75A-49F9-AC86-9F39324FC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7E691-0C69-8CC1-982D-71F48530BB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E78CDB-7D0A-6DA5-6AB2-05074AA735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15E6B9-5555-34E1-63FD-FAEF7CD9C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77BCBD-EA0E-DA45-D530-06B26F3AE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8B2513-C718-0C08-FB98-A881882F5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09108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D996A-AC8D-7DD4-E4F1-ADB19196E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FF729-3F77-04C2-8ADB-964720091D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B8678-D6C7-F66B-A2AC-2BFDDC5E1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A4ED8-2A3B-EE3F-7BE5-58C29556B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081AD-4CD7-E3E7-1411-E613264FC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32106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B3A577-91D6-478F-4760-2DC65DE5FC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1E5059-8B05-587C-BE78-E4AC527A34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65463-CA94-FB8A-C45A-95926203B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smtClean="0"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63813-1A54-5290-9E8D-116D9C5F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7E0A8-2361-D34B-D886-92D42E5D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1807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3742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DA85E-2F77-B2D9-0748-725139F15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797FC-790C-FDC2-CECE-C924B2624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DF1E9-DC7E-8192-287B-DC42423E5C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98CD5-6C1E-4009-B41F-6DF62E31D3BE}" type="datetimeFigureOut">
              <a:rPr lang="en-US" smtClean="0"/>
              <a:pPr/>
              <a:t>7/12/2026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3AC66-1755-135A-6012-4814B7CBAD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2AA5F-7AEA-DCB7-C420-6C9EC4C3AE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633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kram3044/week6-gate6/actions/runs/29190569143" TargetMode="External"/><Relationship Id="rId2" Type="http://schemas.openxmlformats.org/officeDocument/2006/relationships/hyperlink" Target="https://github.com/Vikram3044/week6-gate6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vikram3044.github.io/week6-gate6/4/index.html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10607040" y="4023360"/>
            <a:ext cx="3840480" cy="384048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GATE 6 · SDET TRAINING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Shopkart Test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Framework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BDD + DB verification, wired into Allure &amp; Extent reporting,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through a GitHub Actions CI/CD pipeline.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212080"/>
            <a:ext cx="1298448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22960" y="521208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6000" y="5212080"/>
            <a:ext cx="1298448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286000" y="521208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Cucumber BDD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49040" y="5212080"/>
            <a:ext cx="1298448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749040" y="521208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Verify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12080" y="5212080"/>
            <a:ext cx="1385316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212080" y="5212080"/>
            <a:ext cx="13853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Report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1988" y="5212080"/>
            <a:ext cx="1298448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761988" y="5212080"/>
            <a:ext cx="1298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 Spark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5028" y="5212080"/>
            <a:ext cx="1472184" cy="420624"/>
          </a:xfrm>
          <a:prstGeom prst="roundRect">
            <a:avLst>
              <a:gd name="adj" fmla="val 17391"/>
            </a:avLst>
          </a:prstGeom>
          <a:solidFill>
            <a:srgbClr val="141B4D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225028" y="5212080"/>
            <a:ext cx="1472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WALKTHROUGH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65506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Architecture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2020824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package structure: API clients, builders, config, models, reporting, step defs, support, UI page objects.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48640" y="2624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5877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295351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 API tests, Cucumber BDD features, and a full checkout E2E flow with direct DB verification.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570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3557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3520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Stack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(categories, history, trend) running side-by-side with an ExtentReports Spark HTML report.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89704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8640" y="4489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4453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4818888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MySQL service container, Gradle test run, Allure report build, publish to GitHub Pages.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2239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48640" y="5422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C1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371600" y="538581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71600" y="5751576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 run, watch it go green, open the published Allure report with real history.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035BCC-85ED-6DBF-1EF4-0AAC8BFB6D1E}"/>
              </a:ext>
            </a:extLst>
          </p:cNvPr>
          <p:cNvSpPr txBox="1"/>
          <p:nvPr/>
        </p:nvSpPr>
        <p:spPr>
          <a:xfrm>
            <a:off x="546100" y="782637"/>
            <a:ext cx="62788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GITHUB LINK FOR CI/CD</a:t>
            </a:r>
          </a:p>
          <a:p>
            <a:endParaRPr lang="en-IN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IN" sz="2000" dirty="0">
                <a:hlinkClick r:id="rId2"/>
              </a:rPr>
              <a:t>updated tests · Vikram3044/week6-gate6@9f6052d</a:t>
            </a:r>
            <a:endParaRPr lang="en-IN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22A297-8F68-5163-F188-3306195B15E9}"/>
              </a:ext>
            </a:extLst>
          </p:cNvPr>
          <p:cNvSpPr txBox="1"/>
          <p:nvPr/>
        </p:nvSpPr>
        <p:spPr>
          <a:xfrm>
            <a:off x="723900" y="2474893"/>
            <a:ext cx="6101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GITHUB LINK FOR ACTIONS PAGES</a:t>
            </a:r>
          </a:p>
          <a:p>
            <a:endParaRPr lang="en-IN" dirty="0"/>
          </a:p>
          <a:p>
            <a:r>
              <a:rPr lang="en-IN" dirty="0">
                <a:hlinkClick r:id="rId3"/>
              </a:rPr>
              <a:t>updated tests · Vikram3044/week6-gate6@9f6052d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5A7E9F-F821-D912-5DE8-C37259C84320}"/>
              </a:ext>
            </a:extLst>
          </p:cNvPr>
          <p:cNvSpPr txBox="1"/>
          <p:nvPr/>
        </p:nvSpPr>
        <p:spPr>
          <a:xfrm>
            <a:off x="723900" y="4105593"/>
            <a:ext cx="6101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ALLURE REPORT</a:t>
            </a:r>
          </a:p>
          <a:p>
            <a:endParaRPr lang="en-IN" dirty="0"/>
          </a:p>
          <a:p>
            <a:r>
              <a:rPr lang="en-IN" dirty="0">
                <a:hlinkClick r:id="rId4"/>
              </a:rPr>
              <a:t>Allure Report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1109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Package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94944" y="1837944"/>
            <a:ext cx="310896" cy="914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76656" y="200253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api.client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76656" y="2404872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AuthClient · CartClient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OrderClient · ProductClient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16352" y="169164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962656" y="1837944"/>
            <a:ext cx="310896" cy="914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944368" y="200253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44368" y="2404872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DatabaseConfig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SelenideConfig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84064" y="169164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230368" y="1837944"/>
            <a:ext cx="310896" cy="914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212080" y="200253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/ factory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212080" y="2404872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OrderBuilder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OrderFactory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51776" y="169164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7498080" y="1837944"/>
            <a:ext cx="310896" cy="914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479792" y="200253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79792" y="2404872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· OrderRow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DummyOrderRow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619488" y="169164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765792" y="1837944"/>
            <a:ext cx="310896" cy="9144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9747504" y="200253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747504" y="2404872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OrderRepository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58444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694944" y="3730752"/>
            <a:ext cx="310896" cy="9144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76656" y="3895344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76656" y="4297680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ExtentManager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ExtentTestListener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16352" y="358444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2962656" y="3730752"/>
            <a:ext cx="310896" cy="9144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2944368" y="3895344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2944368" y="4297680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DbSupport · Hooks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TestEnvironment · World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84064" y="358444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5230368" y="3730752"/>
            <a:ext cx="310896" cy="91440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5212080" y="3895344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stepdefs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212080" y="4297680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CheckoutSteps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SearchProductsSteps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51776" y="358444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7498080" y="3730752"/>
            <a:ext cx="310896" cy="91440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7479792" y="3895344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479792" y="4297680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CheckoutE2ETest · CancelOrderApiTest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OrderAccessApiTest · TotalCartApiTest ...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619488" y="358444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/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9765792" y="3730752"/>
            <a:ext cx="310896" cy="91440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9747504" y="3895344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9747504" y="4297680"/>
            <a:ext cx="1847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· locators · pages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(Page Object Model)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We Prove It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04672" y="19293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46304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TotalCartApiTest, ProductApiTest, OutOfStockApiTest, OrderAccessApiTest, CancelOrderApiTest — status codes, payload assertions, ownership rules.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519672" y="19293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17804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Features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78040" y="21945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CUCUMBER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19672" y="260604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checkout.feature and search.feature, glued to CheckoutSteps / SearchProductsSteps under com.ust.shopkart, run via RunCucumberTest.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04672" y="41696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463040" y="41148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4348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CHECKOUTE2ETEST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4672" y="484632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search → cart → place order → fetch order, each phase traced as an Allure @Step with attached evidence.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93192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519672" y="41696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8A4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7178040" y="41148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Verification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78040" y="44348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8A4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DBSUPPORT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19672" y="484632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API-level assertion is cross-checked directly against MySQL — cart quantities, unit prices, order status and totals.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AEAB3F-285C-7596-56B5-E779A2AC2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19" y="892629"/>
            <a:ext cx="3903481" cy="59653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547478-3343-BC5B-C383-DC84294BE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752" y="892629"/>
            <a:ext cx="3258207" cy="59653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E3E158-0996-D450-15A6-A6B851570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584" y="892629"/>
            <a:ext cx="3672096" cy="596537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61A0B0B-B6B9-9626-F452-6B17250A60AF}"/>
              </a:ext>
            </a:extLst>
          </p:cNvPr>
          <p:cNvSpPr txBox="1"/>
          <p:nvPr/>
        </p:nvSpPr>
        <p:spPr>
          <a:xfrm>
            <a:off x="250372" y="381391"/>
            <a:ext cx="6444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FF0000"/>
                </a:solidFill>
              </a:rPr>
              <a:t>Folder Structure(</a:t>
            </a:r>
            <a:r>
              <a:rPr lang="en-IN" b="1" dirty="0" err="1">
                <a:solidFill>
                  <a:srgbClr val="FF0000"/>
                </a:solidFill>
              </a:rPr>
              <a:t>Framwork</a:t>
            </a:r>
            <a:r>
              <a:rPr lang="en-IN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62541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FB1E411-FD58-AF95-FE9A-44ABE6592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5839" y="588720"/>
            <a:ext cx="4489710" cy="38105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D8162E5-D3F8-5202-2FF3-E0074AA16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0063" y="4555996"/>
            <a:ext cx="4123982" cy="21667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DF01A4-077F-90E9-C6CD-3BED07953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588" y="588720"/>
            <a:ext cx="4423585" cy="381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62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CHECKOUTE2ETEST.JAVA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Test, Seven Traced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65960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161489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161489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61489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578809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774338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774338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74338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191658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387188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387188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87188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804508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00037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7000037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00037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17357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612886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F4F7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8612886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12886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030206" y="2084832"/>
            <a:ext cx="1955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10225735" y="210312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5875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10225735" y="21031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225735" y="3182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 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3794760"/>
            <a:ext cx="11091672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914400" y="40233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phase is annotated, evidenced, and categorized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@Epic / @Feature / @Story / @Severity / @Description — rich Allure grouping, not raw method names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@Step("...") on each private helper — renders as an expandable timeline inside the Allure report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@Attachment("{name}") — real API responses and DB rows attached as text evidence per step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REPORTS, ONE SUITE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Allure + Extent, Side by Side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160520"/>
          </a:xfrm>
          <a:prstGeom prst="roundRect">
            <a:avLst>
              <a:gd name="adj" fmla="val 219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14400" y="20299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REPORT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61772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allure-junit5 + allure-cucumber7-jvm — covers both plain JUnit5 tests and Cucumber scenarios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categories.json — auto-buckets failures into Flaky, Test defects (broken), Product defects (failed)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Trend — preserved run-over-run via the gh-pages branch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Suites, Behaviors, Packages, Timeline, Graphs — severity, duration, retries all visualized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349240" cy="4160520"/>
          </a:xfrm>
          <a:prstGeom prst="roundRect">
            <a:avLst>
              <a:gd name="adj" fmla="val 2198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537960" y="20299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 SPARK REPORT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514600"/>
            <a:ext cx="461772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ExtentTestListener — one JUnit5 extension, applied once on AbstractShopkartTest, inherited by every test class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 / Flaky / Skip all classified via TestWatcher callbacks, with a FLAKY_PATTERN regex matching Allure's own categories.json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HTML — SparkReport.html, viewable with zero server setup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events, timeline, and system info (OS, Java version) baked into every run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Push To Published Report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+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JDK 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21992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29195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429195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MySQL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02547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09750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309750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test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(maxParallelForks=1)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83102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90305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190305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Allure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Exist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63657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70860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2FA3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070860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Report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History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44212" y="1764792"/>
            <a:ext cx="22549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951415" y="1783080"/>
            <a:ext cx="1691640" cy="1143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2FA3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9951415" y="17830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to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29184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77240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matters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388620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maxParallelForks = 1 is set globally. With a shared MySQL instance, parallel forks caused real race-condition test failures — fixed once, applies to every future task.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70832" y="329184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599432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persists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9432" y="388620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gh-pages is checked out before the report builds, and simple-elf/allure-report-action merges old + new results so the Trend graph spans runs, not just one.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193024" y="329184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8421624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gotcha we hit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21624" y="388620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simple-elf's report action leaves a root-owned .git folder inside allure-history; peaceiris/actions-gh-pages can't clean it without sudo rm -rf — now handled explicitly.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Checklist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7647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small change to shahbaz-week06-gate6 and open the Actions tab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96312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2478024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MySQL service container spin up, then ./gradlew test run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4864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3191256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Verify Allure Results step passing (results actually generated)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22776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4864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90448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published GitHub Pages Allure report — point out Trend and Categories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636008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864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46177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local ExtentReports Spark HTML report side by side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384048" cy="384048"/>
          </a:xfrm>
          <a:prstGeom prst="roundRect">
            <a:avLst>
              <a:gd name="adj" fmla="val 14286"/>
            </a:avLst>
          </a:prstGeom>
          <a:noFill/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533095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into one failing CategoryDemonstrationTest to show Flaky vs Broken vs Failed classification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Shopkart Test Automation Framework — Week 6, Gate 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  ·  Cucumber  ·  MySQL Verification  ·  Allure  ·  Extent Spark  ·  GitHub Actions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894</Words>
  <Application>Microsoft Office PowerPoint</Application>
  <PresentationFormat>Widescreen</PresentationFormat>
  <Paragraphs>185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Vikram S</cp:lastModifiedBy>
  <cp:revision>3</cp:revision>
  <dcterms:created xsi:type="dcterms:W3CDTF">2026-07-12T10:37:26Z</dcterms:created>
  <dcterms:modified xsi:type="dcterms:W3CDTF">2026-07-12T12:06:29Z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ffddfa-74ad-4c1f-9757-a38a11902f1c_Enabled">
    <vt:lpwstr>true</vt:lpwstr>
  </property>
  <property fmtid="{D5CDD505-2E9C-101B-9397-08002B2CF9AE}" pid="3" name="MSIP_Label_15ffddfa-74ad-4c1f-9757-a38a11902f1c_SetDate">
    <vt:lpwstr>2026-07-12T10:58:34Z</vt:lpwstr>
  </property>
  <property fmtid="{D5CDD505-2E9C-101B-9397-08002B2CF9AE}" pid="4" name="MSIP_Label_15ffddfa-74ad-4c1f-9757-a38a11902f1c_Method">
    <vt:lpwstr>Standard</vt:lpwstr>
  </property>
  <property fmtid="{D5CDD505-2E9C-101B-9397-08002B2CF9AE}" pid="5" name="MSIP_Label_15ffddfa-74ad-4c1f-9757-a38a11902f1c_Name">
    <vt:lpwstr>UST Internal</vt:lpwstr>
  </property>
  <property fmtid="{D5CDD505-2E9C-101B-9397-08002B2CF9AE}" pid="6" name="MSIP_Label_15ffddfa-74ad-4c1f-9757-a38a11902f1c_SiteId">
    <vt:lpwstr>a4431f4b-c207-4733-9530-34c08a9b2b8d</vt:lpwstr>
  </property>
  <property fmtid="{D5CDD505-2E9C-101B-9397-08002B2CF9AE}" pid="7" name="MSIP_Label_15ffddfa-74ad-4c1f-9757-a38a11902f1c_ActionId">
    <vt:lpwstr>4c545f37-9640-465c-b82d-5de708aaf071</vt:lpwstr>
  </property>
  <property fmtid="{D5CDD505-2E9C-101B-9397-08002B2CF9AE}" pid="8" name="MSIP_Label_15ffddfa-74ad-4c1f-9757-a38a11902f1c_ContentBits">
    <vt:lpwstr>0</vt:lpwstr>
  </property>
  <property fmtid="{D5CDD505-2E9C-101B-9397-08002B2CF9AE}" pid="9" name="MSIP_Label_15ffddfa-74ad-4c1f-9757-a38a11902f1c_Tag">
    <vt:lpwstr>10, 3, 0, 1</vt:lpwstr>
  </property>
</Properties>
</file>