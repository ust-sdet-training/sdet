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453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94591-AA39-9EDA-F039-B6A9E060C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2FB87-9C3A-8687-7ED2-366BA9044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F3EA43-00E5-F791-34E1-D95222E56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A5054-DA39-AED1-4EB2-0DDE48A85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75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76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875520" y="-548640"/>
            <a:ext cx="2926080" cy="2926080"/>
          </a:xfrm>
          <a:prstGeom prst="ellipse">
            <a:avLst/>
          </a:prstGeom>
          <a:solidFill>
            <a:srgbClr val="5FD4C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D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GLOBAL  ·  SDET 7-WEEK AUTOMATION ENGINEERING PROGRAMME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Pre-Capstone Build Brief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31775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authoritative system, framework structure, scenarios, data rules and demo participants build against — tuned to the project team's priorities: framework structure first, dynamic-XPath locators, and disciplined secret-data handling.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6263640"/>
            <a:ext cx="844906" cy="329184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6263640"/>
            <a:ext cx="8449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622146" y="6263640"/>
            <a:ext cx="1669694" cy="329184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622146" y="6263640"/>
            <a:ext cx="166969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7 / JUnit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29000" y="6263640"/>
            <a:ext cx="1219810" cy="329184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429000" y="6263640"/>
            <a:ext cx="121981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85970" y="6263640"/>
            <a:ext cx="919886" cy="329184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85970" y="6263640"/>
            <a:ext cx="91988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43016" y="6263640"/>
            <a:ext cx="1369771" cy="329184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843016" y="6263640"/>
            <a:ext cx="136977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49947" y="6263640"/>
            <a:ext cx="769925" cy="329184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349947" y="6263640"/>
            <a:ext cx="76992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57032" y="6263640"/>
            <a:ext cx="769925" cy="329184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257032" y="6263640"/>
            <a:ext cx="76992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WHY THIS BRIEF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gate requires by review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22320" cy="1965960"/>
          </a:xfrm>
          <a:prstGeom prst="roundRect">
            <a:avLst>
              <a:gd name="adj" fmla="val 4186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2810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structure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3017520"/>
            <a:ext cx="2810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first — the required layering must be visible and clean.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19600" y="1691640"/>
            <a:ext cx="3322320" cy="1965960"/>
          </a:xfrm>
          <a:prstGeom prst="roundRect">
            <a:avLst>
              <a:gd name="adj" fmla="val 4186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75632" y="194767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7563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75632" y="2560320"/>
            <a:ext cx="2810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scenarios automated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75632" y="3017520"/>
            <a:ext cx="2810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correct layers, with dynamic XPath throughout.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90560" y="1691640"/>
            <a:ext cx="3322320" cy="1965960"/>
          </a:xfrm>
          <a:prstGeom prst="roundRect">
            <a:avLst>
              <a:gd name="adj" fmla="val 4186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546592" y="194767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5465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46592" y="2560320"/>
            <a:ext cx="2810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Isolated test data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546592" y="3017520"/>
            <a:ext cx="2810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per test, never shared fixtures.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322320" cy="1965960"/>
          </a:xfrm>
          <a:prstGeom prst="roundRect">
            <a:avLst>
              <a:gd name="adj" fmla="val 4186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04672" y="43708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04672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4983480"/>
            <a:ext cx="2810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sourced safely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04672" y="5440680"/>
            <a:ext cx="2810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hardcoded, never exposed in any artifact.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19600" y="4114800"/>
            <a:ext cx="3322320" cy="1965960"/>
          </a:xfrm>
          <a:prstGeom prst="roundRect">
            <a:avLst>
              <a:gd name="adj" fmla="val 4186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675632" y="43708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675632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75632" y="4983480"/>
            <a:ext cx="2810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Allure report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675632" y="5440680"/>
            <a:ext cx="2810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and categories, executive view, secrets redacted.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90560" y="4114800"/>
            <a:ext cx="3322320" cy="1965960"/>
          </a:xfrm>
          <a:prstGeom prst="roundRect">
            <a:avLst>
              <a:gd name="adj" fmla="val 4186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546592" y="43708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546592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46592" y="4983480"/>
            <a:ext cx="2810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rehearsed 10-minute demo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546592" y="5440680"/>
            <a:ext cx="2810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never shows a secret on screen.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868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5FD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under test: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is provided and running — you build the automation, not the app. Different reference app? Keep this structure, swap the endpoint/page tables in §2.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02.1–02.2 · DATA MODEL &amp; 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and REST endpoints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394960" cy="192024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</a:rPr>
                        <a:t>customers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67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 · email (unique) · password_hash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</a:rPr>
                        <a:t>products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67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sku (PK) · name · price_paise · stock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</a:rPr>
                        <a:t>carts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67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 · customer_id · status (OPEN → ORDERED)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</a:rPr>
                        <a:t>cart_items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67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cart_id · sku · qty  (PK: cart_id, sku)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</a:rPr>
                        <a:t>orders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67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 · customer_id · cart_id · status · total_paise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69164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endpoints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011680"/>
          <a:ext cx="5394960" cy="240030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/api/auth/login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675"/>
                          </a:solidFill>
                        </a:rPr>
                        <a:t>200 token · 401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/api/products?q=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675"/>
                          </a:solidFill>
                        </a:rPr>
                        <a:t>200 list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/api/carts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675"/>
                          </a:solidFill>
                        </a:rPr>
                        <a:t>201 OPEN · 401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/api/carts/{id}/items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675"/>
                          </a:solidFill>
                        </a:rPr>
                        <a:t>200 · 404 · 409 stock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/api/orders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675"/>
                          </a:solidFill>
                        </a:rPr>
                        <a:t>201 PLACED · 409 empty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/api/orders/{id}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675"/>
                          </a:solidFill>
                        </a:rPr>
                        <a:t>200 · 403 not owner · 404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/api/orders/{id}/cancel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675"/>
                          </a:solidFill>
                        </a:rPr>
                        <a:t>200 CANCELLED · 403 · 409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5FD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Object-level authorization: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token on another customer's object → 403. The password is a secret — see §6, never hardcode it.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02.3 · LOCATOR STANDARD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Dynamic, parameterized XPath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team's standard: relative, anchored on stable attributes or visible text, and templated so one expression serves many rows. Avoid absolute or index-based paths (§11).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64240" cy="371246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Page / route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Element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Dynamic XPath pattern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</a:rPr>
                        <a:t>/login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675"/>
                          </a:solidFill>
                        </a:rPr>
                        <a:t>email · password · submit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//input[@name='email']  ·  //button[normalize-space()='Sign in']</a:t>
                      </a:r>
                      <a:endParaRPr lang="en-US" sz="8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</a:rPr>
                        <a:t>/ (home)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675"/>
                          </a:solidFill>
                        </a:rPr>
                        <a:t>product card by name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//div[contains(@class,'product')][.//*[normalize-space()='%s']]</a:t>
                      </a:r>
                      <a:endParaRPr lang="en-US" sz="8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</a:rPr>
                        <a:t>/product/{sku}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675"/>
                          </a:solidFill>
                        </a:rPr>
                        <a:t>add to cart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.../button[normalize-space()='Add to cart']</a:t>
                      </a:r>
                      <a:endParaRPr lang="en-US" sz="8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</a:rPr>
                        <a:t>/cart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675"/>
                          </a:solidFill>
                        </a:rPr>
                        <a:t>line · total · checkout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//tr[contains(@class,'cart-line')][td[normalize-space()='%s']]</a:t>
                      </a:r>
                      <a:endParaRPr lang="en-US" sz="8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</a:rPr>
                        <a:t>/checkout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675"/>
                          </a:solidFill>
                        </a:rPr>
                        <a:t>address · place order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//textarea[@name='address']  ·  //button[normalize-space()='Place order']</a:t>
                      </a:r>
                      <a:endParaRPr lang="en-US" sz="8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</a:rPr>
                        <a:t>/orders/{id}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675"/>
                          </a:solidFill>
                        </a:rPr>
                        <a:t>status · total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//*[@data-field='order-status']  ·  //*[@data-field='order-total']</a:t>
                      </a:r>
                      <a:endParaRPr lang="en-US" sz="8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FRAMEWORK YOU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is scored first — layering must be visible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440" y="169164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AppConfig, Env — layered config (local / ci)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2C35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24414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2441448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CartClient, OrderClient, ProductClient, AuthClient (REST Assured)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9125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31912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ui/pages/  ·  ui/locators/  ·  ui/components/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3191256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Selenide pages · Xp — all dynamic XPath in one place · reusable DSL parts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2C35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394106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data/builders/  ·  data/secret/  ·  data/db/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3941064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CustomerBuilder, OrderBuilder · Secrets resolver · Testcontainers/Flyway support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69087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469087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support/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4690872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BaseApiTest, BaseUiTest, Hooks, WorldContext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2C35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240" y="544068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stepdefs/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544068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AuthSteps, CartSteps, OrderSteps — thin glue only, no logic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23620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src/test/resources/  →  features/ (six scenarios, secret-free)  ·  db/migration/ (Flyway)  ·  config/  ·  categories.json  ·  .gitignore secrets.local.properties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scenarios to automate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exercise every layer — UI, API, database and a security negative. Do not push everything through the UI.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384048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Proves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Layers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</a:rPr>
                        <a:t>Product search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675"/>
                          </a:solidFill>
                        </a:rPr>
                        <a:t>Search returns matching products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UI + API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</a:rPr>
                        <a:t>Cart totals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675"/>
                          </a:solidFill>
                        </a:rPr>
                        <a:t>Total = Σ(qty × price), in paise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API + DB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</a:rPr>
                        <a:t>Checkout E2E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675"/>
                          </a:solidFill>
                        </a:rPr>
                        <a:t>Login → search → add → cart → checkout → PLACED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UI → API → DB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</a:rPr>
                        <a:t>Order access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675"/>
                          </a:solidFill>
                        </a:rPr>
                        <a:t>Owner 200; another customer 403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API (security)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</a:rPr>
                        <a:t>Cancel rules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675"/>
                          </a:solidFill>
                        </a:rPr>
                        <a:t>Cancel PLACED → CANCELLED; again → 409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API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</a:rPr>
                        <a:t>Out of stock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675"/>
                          </a:solidFill>
                        </a:rPr>
                        <a:t>Add qty &gt; stock → 409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</a:rPr>
                        <a:t>API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B6675"/>
                          </a:solidFill>
                        </a:rPr>
                        <a:t>P2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E2E: </a:t>
            </a: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"alice" logs in → adds 2× SKU-BAG → checks out → status PLACED confirmed on UI, API and DB (one fact, verified where it lives). Feature files never name a password.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SECRET &amp; SENSITIVE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in the repo, logs, or the demo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583680" cy="27432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</a:rPr>
                        <a:t>Data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D4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</a:rPr>
                        <a:t>Secret?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D4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</a:rPr>
                        <a:t>Where it lives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D4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Product catalogue, SKUs, prices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8FE3D0"/>
                          </a:solidFill>
                        </a:rPr>
                        <a:t>No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4F7F9"/>
                          </a:solidFill>
                        </a:rPr>
                        <a:t>Flyway seed (V2), committed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Login email / customer id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5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8FE3D0"/>
                          </a:solidFill>
                        </a:rPr>
                        <a:t>No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5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4F7F9"/>
                          </a:solidFill>
                        </a:rPr>
                        <a:t>Feature files &amp; seed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5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Passwords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8A80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4F7F9"/>
                          </a:solidFill>
                        </a:rPr>
                        <a:t>Secret store / env — never in Git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API / bearer tokens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5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8A80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5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4F7F9"/>
                          </a:solidFill>
                        </a:rPr>
                        <a:t>Issued at runtime via AuthClient; never printed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5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Payment / UPI test values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8A80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4F7F9"/>
                          </a:solidFill>
                        </a:rPr>
                        <a:t>Secret store; masked in logs &amp; reports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91640"/>
            <a:ext cx="4206240" cy="2743200"/>
          </a:xfrm>
          <a:prstGeom prst="roundRect">
            <a:avLst>
              <a:gd name="adj" fmla="val 2667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635240" y="1828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D4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635240" y="214884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 Git — add secrets.local.properties to .gitignore, scan with gitleaks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everywhere — logs, Allure attachments, screenshots show **** only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Dedicated, rotated test accounts — never a real user's credentials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 stay secret-free — persona name only, resolved at runtime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4617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D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resolver, sourced off-repo: Secrets.get("alice.password") — env var → CI secret store → git-ignored secrets.local.properties. Callers must not log the return value.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07–08 · REPORTING &amp;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Allure reporting and the 10-minute dry-run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Allure — with redaction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categories.json — bucket failures: product defect, test defect, flaky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— restore previous report's history/ in CI for trend &amp; retry widgets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view — pass-rate trend, flaky rate, risk by area at a glance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attachments — strip Authorization/tokens/passwords before writing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63640" y="16459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10-minute demo sequence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3640" y="2011680"/>
            <a:ext cx="777240" cy="347472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0" y="201168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tour — layers, Xp locators, base classes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63640" y="2414016"/>
            <a:ext cx="777240" cy="347472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0" y="2414016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suite — Testcontainers spins Postgres, all 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63640" y="2816352"/>
            <a:ext cx="777240" cy="347472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0" y="2816352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E2E — one order proven three ways (UI→API→DB)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63640" y="3218688"/>
            <a:ext cx="777240" cy="347472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0" y="3218688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 — trend, categories, redacted logs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3621024"/>
            <a:ext cx="777240" cy="347472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320" y="3621024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negative — scenario 4, another customer gets 403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4023360"/>
            <a:ext cx="777240" cy="347472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32320" y="402336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— one honest sentence on capstone risk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6868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FD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safety: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credential entry out of frame, mask console output, redact Allure/API-log attachments before opening on camera, and don't show the network tab with a live bearer token.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GATE EVIDENCE CHECKLIST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bring to the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4F7F9"/>
          </a:solidFill>
          <a:ln w="1587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1682496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suite run from a cold start (Testcontainers, no local DB)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4F7F9"/>
          </a:solidFill>
          <a:ln w="1587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17920" y="1737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56832" y="1682496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structure matching §3, with Xp locators and thin steps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4F7F9"/>
          </a:solidFill>
          <a:ln w="1587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87552" y="2688336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Allure report — history (≥3 runs), categories, environment, no secrets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4F7F9"/>
          </a:solidFill>
          <a:ln w="1587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7920" y="2743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56832" y="2688336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filled test matrix (§4.3) across all six scenarios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4F7F9"/>
          </a:solidFill>
          <a:ln w="1587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87552" y="3694176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data-isolation proof — run twice, identical results, no leftover rows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4F7F9"/>
          </a:solidFill>
          <a:ln w="1587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17920" y="3749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56832" y="3694176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handling proof — no secret in repo/features; clean gitleaks scan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4F7F9"/>
          </a:solidFill>
          <a:ln w="1587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47548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7552" y="4700016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negative (403) passing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47548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4F7F9"/>
          </a:solidFill>
          <a:ln w="1587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17920" y="47548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56832" y="4700016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rehearsed demo (§8) with the recording verified secret-free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80DDD-B213-CC2E-3BD0-D2548D095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DFB87AF-D2EA-2324-AB7E-C5F6022EE555}"/>
              </a:ext>
            </a:extLst>
          </p:cNvPr>
          <p:cNvSpPr/>
          <p:nvPr/>
        </p:nvSpPr>
        <p:spPr>
          <a:xfrm>
            <a:off x="11176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68C9B60-F429-35E8-01FA-4FCCFA26D8AA}"/>
              </a:ext>
            </a:extLst>
          </p:cNvPr>
          <p:cNvSpPr/>
          <p:nvPr/>
        </p:nvSpPr>
        <p:spPr>
          <a:xfrm>
            <a:off x="640080" y="1463040"/>
            <a:ext cx="98755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Thank You</a:t>
            </a:r>
          </a:p>
          <a:p>
            <a:pPr marL="0" indent="0">
              <a:lnSpc>
                <a:spcPts val="4600"/>
              </a:lnSpc>
              <a:buNone/>
            </a:pPr>
            <a:endParaRPr lang="en-US" sz="4200" b="1" dirty="0">
              <a:solidFill>
                <a:srgbClr val="FFFFFF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Any Question?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A093853-91E1-A9EF-B5A5-7B77F9115F53}"/>
              </a:ext>
            </a:extLst>
          </p:cNvPr>
          <p:cNvSpPr/>
          <p:nvPr/>
        </p:nvSpPr>
        <p:spPr>
          <a:xfrm>
            <a:off x="640080" y="6263640"/>
            <a:ext cx="8449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7964B7F-E4AB-4CBB-CFAD-C3A1FF07380B}"/>
              </a:ext>
            </a:extLst>
          </p:cNvPr>
          <p:cNvSpPr/>
          <p:nvPr/>
        </p:nvSpPr>
        <p:spPr>
          <a:xfrm>
            <a:off x="1622146" y="6263640"/>
            <a:ext cx="166969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F3E6748-C1E6-4E69-888D-71AFD194755F}"/>
              </a:ext>
            </a:extLst>
          </p:cNvPr>
          <p:cNvSpPr/>
          <p:nvPr/>
        </p:nvSpPr>
        <p:spPr>
          <a:xfrm>
            <a:off x="3429000" y="6263640"/>
            <a:ext cx="121981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9201B53-6CAB-80E8-A64F-4424A239A6C4}"/>
              </a:ext>
            </a:extLst>
          </p:cNvPr>
          <p:cNvSpPr/>
          <p:nvPr/>
        </p:nvSpPr>
        <p:spPr>
          <a:xfrm>
            <a:off x="4785970" y="6263640"/>
            <a:ext cx="91988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C823DDA-A10C-01C3-5DA3-C108825D7C24}"/>
              </a:ext>
            </a:extLst>
          </p:cNvPr>
          <p:cNvSpPr/>
          <p:nvPr/>
        </p:nvSpPr>
        <p:spPr>
          <a:xfrm>
            <a:off x="5843016" y="6263640"/>
            <a:ext cx="136977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A6E3DE3-37CB-2891-DD8B-8BF4977775AE}"/>
              </a:ext>
            </a:extLst>
          </p:cNvPr>
          <p:cNvSpPr/>
          <p:nvPr/>
        </p:nvSpPr>
        <p:spPr>
          <a:xfrm>
            <a:off x="7349947" y="6263640"/>
            <a:ext cx="76992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86831DA-0029-E57F-0F71-E6B7464CAC18}"/>
              </a:ext>
            </a:extLst>
          </p:cNvPr>
          <p:cNvSpPr/>
          <p:nvPr/>
        </p:nvSpPr>
        <p:spPr>
          <a:xfrm>
            <a:off x="8257032" y="6263640"/>
            <a:ext cx="76992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209262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1371</Words>
  <Application>Microsoft Office PowerPoint</Application>
  <PresentationFormat>Widescreen</PresentationFormat>
  <Paragraphs>224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Mani Prasad Bingi(UST,IN)</cp:lastModifiedBy>
  <cp:revision>2</cp:revision>
  <dcterms:created xsi:type="dcterms:W3CDTF">2026-07-12T11:55:27Z</dcterms:created>
  <dcterms:modified xsi:type="dcterms:W3CDTF">2026-07-12T12:04:13Z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2026-07-12T12:04:13Z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8c3adff4-2713-4930-8c90-54f3c80e77c0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